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 /><Relationship Id="rId24" Type="http://schemas.openxmlformats.org/officeDocument/2006/relationships/tableStyles" Target="tableStyles.xml" /><Relationship Id="rId2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8529337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251816859"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62325286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3680958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15221108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58804383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4341598" name="Slide Image Placeholder 1"/>
          <p:cNvSpPr>
            <a:spLocks noGrp="1"/>
          </p:cNvSpPr>
          <p:nvPr>
            <p:ph type="sldImg" idx="2"/>
          </p:nvPr>
        </p:nvSpPr>
        <p:spPr bwMode="auto"/>
      </p:sp>
      <p:sp>
        <p:nvSpPr>
          <p:cNvPr id="1625894063" name="Notes Placeholder 2"/>
          <p:cNvSpPr>
            <a:spLocks noGrp="1"/>
          </p:cNvSpPr>
          <p:nvPr>
            <p:ph type="body" sz="quarter" idx="3"/>
          </p:nvPr>
        </p:nvSpPr>
        <p:spPr bwMode="auto"/>
        <p:txBody>
          <a:bodyPr/>
          <a:lstStyle/>
          <a:p>
            <a:pPr>
              <a:defRPr/>
            </a:pPr>
            <a:r>
              <a:rPr/>
              <a:t>Bonjour. Nous allons suivre une seule tâche, « Préparer le TP », dans une petite application appelée MiniTodo. La question est simple : où va cette tâche quand on l'ajoute, et pourquoi la retrouve-t-on après avoir fermé l'application ? Nous verrons SQLite, puis la couche Room et quelques décisions d'architecture. Je présente la première partie ; Janna montrera la circulation des données et la démonstration.</a:t>
            </a:r>
            <a:endParaRPr/>
          </a:p>
        </p:txBody>
      </p:sp>
      <p:sp>
        <p:nvSpPr>
          <p:cNvPr id="1053222527"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847865" name="Slide Image Placeholder 1"/>
          <p:cNvSpPr>
            <a:spLocks noGrp="1"/>
          </p:cNvSpPr>
          <p:nvPr>
            <p:ph type="sldImg" idx="2"/>
          </p:nvPr>
        </p:nvSpPr>
        <p:spPr bwMode="auto"/>
      </p:sp>
      <p:sp>
        <p:nvSpPr>
          <p:cNvPr id="895931628" name="Notes Placeholder 2"/>
          <p:cNvSpPr>
            <a:spLocks noGrp="1"/>
          </p:cNvSpPr>
          <p:nvPr>
            <p:ph type="body" sz="quarter" idx="3"/>
          </p:nvPr>
        </p:nvSpPr>
        <p:spPr bwMode="auto"/>
        <p:txBody>
          <a:bodyPr/>
          <a:lstStyle/>
          <a:p>
            <a:pPr>
              <a:defRPr/>
            </a:pPr>
            <a:r>
              <a:rPr/>
              <a:t>Quand la personne ajoute la tâche, elle existe d'abord comme objet Java dans la mémoire du processus. Si le processus meurt, cet objet disparaît. En enregistrant la tâche sur le disque, l'application peut la relire plus tard. Une simple rotation peut recréer l'écran, alors qu'un redémarrage du téléphone fait disparaître toute la mémoire du processus. Notre besoin porte bien sur la tâche elle-même, pas seulement sur l'affichage momentanément à l'écran.</a:t>
            </a:r>
            <a:endParaRPr/>
          </a:p>
        </p:txBody>
      </p:sp>
      <p:sp>
        <p:nvSpPr>
          <p:cNvPr id="1450364940"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1138495" name="Slide Image Placeholder 1"/>
          <p:cNvSpPr>
            <a:spLocks noGrp="1"/>
          </p:cNvSpPr>
          <p:nvPr>
            <p:ph type="sldImg" idx="2"/>
          </p:nvPr>
        </p:nvSpPr>
        <p:spPr bwMode="auto"/>
      </p:sp>
      <p:sp>
        <p:nvSpPr>
          <p:cNvPr id="1216884717" name="Notes Placeholder 2"/>
          <p:cNvSpPr>
            <a:spLocks noGrp="1"/>
          </p:cNvSpPr>
          <p:nvPr>
            <p:ph type="body" sz="quarter" idx="3"/>
          </p:nvPr>
        </p:nvSpPr>
        <p:spPr bwMode="auto"/>
        <p:txBody>
          <a:bodyPr/>
          <a:lstStyle/>
          <a:p>
            <a:pPr>
              <a:defRPr/>
            </a:pPr>
            <a:r>
              <a:rPr/>
              <a:t>Cette matrice compare deux choses : la durée de vie, de gauche à droite, et le rôle de chaque mécanisme, de haut en bas. Une variable locale disparaît quand l'objet qui la porte disparaît. Le ViewModel conserve l'état de l'écran lors d'un changement de configuration, comme une rotation, mais ne survit pas à la mort du processus. SavedStateHandle sert à restaurer un petit état d'interface quand Android peut sauvegarder puis recréer cet état. Il ne faut pas en faire une base de données ; une relance normale ne garantit pas ce mécanisme de restauration. Room, DataStore et les fichiers conservent les données de l'application sur le disque, notamment après un redémarrage du téléphone, tant que les données de l'application restent présentes.</a:t>
            </a:r>
            <a:endParaRPr/>
          </a:p>
        </p:txBody>
      </p:sp>
      <p:sp>
        <p:nvSpPr>
          <p:cNvPr id="177081136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9489734" name="Slide Image Placeholder 1"/>
          <p:cNvSpPr>
            <a:spLocks noGrp="1"/>
          </p:cNvSpPr>
          <p:nvPr>
            <p:ph type="sldImg" idx="2"/>
          </p:nvPr>
        </p:nvSpPr>
        <p:spPr bwMode="auto"/>
      </p:sp>
      <p:sp>
        <p:nvSpPr>
          <p:cNvPr id="387416568" name="Notes Placeholder 2"/>
          <p:cNvSpPr>
            <a:spLocks noGrp="1"/>
          </p:cNvSpPr>
          <p:nvPr>
            <p:ph type="body" sz="quarter" idx="3"/>
          </p:nvPr>
        </p:nvSpPr>
        <p:spPr bwMode="auto"/>
        <p:txBody>
          <a:bodyPr/>
          <a:lstStyle/>
          <a:p>
            <a:pPr>
              <a:defRPr/>
            </a:pPr>
            <a:r>
              <a:rPr/>
              <a:t>Il n'y a pas un seul outil pour toutes les données. Une chaîne de recherche peut rester dans le ViewModel et être restaurée avec SavedStateHandle. Le thème sombre est un réglage indépendant, adapté à Preferences DataStore. Proto DataStore convient à un petit modèle de préférences typé. Les tâches se filtrent, se trient et se modifient individuellement : Room est adapté. Un PDF reste un fichier, même si l'on peut conserver son chemin et ses métadonnées en base. Enfin, pour retrouver les mêmes tâches sur plusieurs appareils, il faut un serveur et une stratégie de synchronisation. DataStore utilise une API asynchrone centrée sur Flow ; nous le situons ici sans l'implémenter en Java dans la démo.</a:t>
            </a:r>
            <a:endParaRPr/>
          </a:p>
        </p:txBody>
      </p:sp>
      <p:sp>
        <p:nvSpPr>
          <p:cNvPr id="114807020"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6814999" name="Slide Image Placeholder 1"/>
          <p:cNvSpPr>
            <a:spLocks noGrp="1"/>
          </p:cNvSpPr>
          <p:nvPr>
            <p:ph type="sldImg" idx="2"/>
          </p:nvPr>
        </p:nvSpPr>
        <p:spPr bwMode="auto"/>
      </p:sp>
      <p:sp>
        <p:nvSpPr>
          <p:cNvPr id="1342610619" name="Notes Placeholder 2"/>
          <p:cNvSpPr>
            <a:spLocks noGrp="1"/>
          </p:cNvSpPr>
          <p:nvPr>
            <p:ph type="body" sz="quarter" idx="3"/>
          </p:nvPr>
        </p:nvSpPr>
        <p:spPr bwMode="auto"/>
        <p:txBody>
          <a:bodyPr/>
          <a:lstStyle/>
          <a:p>
            <a:pPr>
              <a:defRPr/>
            </a:pPr>
            <a:r>
              <a:rPr/>
              <a:t>SQLite est une base relationnelle intégrée à l'application, sans serveur de base de données à démarrer. Ici la clé primaire identifie chaque tâche. La colonne title ne peut pas être NULL. La valeur completed est représentée par zéro ou un dans l'exemple. Le DEFAULT 0 donne une valeur aux nouvelles tâches lorsque rien n'est précisé. La requête SELECT illustre l'intérêt d'une base relationnelle : filtrer les tâches inachevées et les trier. Room utilisera ce même moteur SQLite ; il ne le remplace pas.</a:t>
            </a:r>
            <a:endParaRPr/>
          </a:p>
        </p:txBody>
      </p:sp>
      <p:sp>
        <p:nvSpPr>
          <p:cNvPr id="511825765"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0973965" name="Slide Image Placeholder 1"/>
          <p:cNvSpPr>
            <a:spLocks noGrp="1"/>
          </p:cNvSpPr>
          <p:nvPr>
            <p:ph type="sldImg" idx="2"/>
          </p:nvPr>
        </p:nvSpPr>
        <p:spPr bwMode="auto"/>
      </p:sp>
      <p:sp>
        <p:nvSpPr>
          <p:cNvPr id="1356482293" name="Notes Placeholder 2"/>
          <p:cNvSpPr>
            <a:spLocks noGrp="1"/>
          </p:cNvSpPr>
          <p:nvPr>
            <p:ph type="body" sz="quarter" idx="3"/>
          </p:nvPr>
        </p:nvSpPr>
        <p:spPr bwMode="auto"/>
        <p:txBody>
          <a:bodyPr/>
          <a:lstStyle/>
          <a:p>
            <a:pPr>
              <a:defRPr/>
            </a:pPr>
            <a:r>
              <a:rPr/>
              <a:t>Avec SQLite direct, on lit un Cursor, on extrait chaque colonne et on reconstruit les objets Java. Room permet de déclarer un DAO et génère une partie de ce code. Il vérifie aussi les requêtes SQL contre le schéma pendant la compilation. Room reste une abstraction au-dessus de SQLite. Attention à l'analogie avec JPA : Room ne maintient pas un contexte de persistance de type Hibernate et ne surveille pas automatiquement les modifications d'un objet Java. Il faut appeler explicitement une opération d'écriture.</a:t>
            </a:r>
            <a:endParaRPr/>
          </a:p>
        </p:txBody>
      </p:sp>
      <p:sp>
        <p:nvSpPr>
          <p:cNvPr id="1521610763"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1842208" name="Slide Image Placeholder 1"/>
          <p:cNvSpPr>
            <a:spLocks noGrp="1"/>
          </p:cNvSpPr>
          <p:nvPr>
            <p:ph type="sldImg" idx="2"/>
          </p:nvPr>
        </p:nvSpPr>
        <p:spPr bwMode="auto"/>
      </p:sp>
      <p:sp>
        <p:nvSpPr>
          <p:cNvPr id="1935808649" name="Notes Placeholder 2"/>
          <p:cNvSpPr>
            <a:spLocks noGrp="1"/>
          </p:cNvSpPr>
          <p:nvPr>
            <p:ph type="body" sz="quarter" idx="3"/>
          </p:nvPr>
        </p:nvSpPr>
        <p:spPr bwMode="auto"/>
        <p:txBody>
          <a:bodyPr/>
          <a:lstStyle/>
          <a:p>
            <a:pPr>
              <a:defRPr/>
            </a:pPr>
            <a:r>
              <a:rPr/>
              <a:t>Voici le travail de Room à la compilation. Nous écrivons l'entité Task, le contrat du DAO et la classe AppDb annotée @Database. Le processeur d'annotations contrôle la cohérence du schéma et des requêtes, puis produit l'implémentation du DAO. À l'exécution, le code généré travaille avec SQLite et le fichier tasks.db. Cette séparation explique pourquoi notre interface DAO ne contient pas le code SQL pour une insertion annotée @Insert : Room le génère.</a:t>
            </a:r>
            <a:endParaRPr/>
          </a:p>
        </p:txBody>
      </p:sp>
      <p:sp>
        <p:nvSpPr>
          <p:cNvPr id="970254329"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2708755" name="Slide Image Placeholder 1"/>
          <p:cNvSpPr>
            <a:spLocks noGrp="1"/>
          </p:cNvSpPr>
          <p:nvPr>
            <p:ph type="sldImg" idx="2"/>
          </p:nvPr>
        </p:nvSpPr>
        <p:spPr bwMode="auto"/>
      </p:sp>
      <p:sp>
        <p:nvSpPr>
          <p:cNvPr id="1619393826" name="Notes Placeholder 2"/>
          <p:cNvSpPr>
            <a:spLocks noGrp="1"/>
          </p:cNvSpPr>
          <p:nvPr>
            <p:ph type="body" sz="quarter" idx="3"/>
          </p:nvPr>
        </p:nvSpPr>
        <p:spPr bwMode="auto"/>
        <p:txBody>
          <a:bodyPr/>
          <a:lstStyle/>
          <a:p>
            <a:pPr>
              <a:defRPr/>
            </a:pPr>
            <a:r>
              <a:rPr/>
              <a:t>Une instance de Task correspond à une ligne. @Entity indique le nom de la table. @PrimaryKey(autoGenerate = true) définit l'identifiant. @NonNull pour title correspond à une contrainte SQL qui refuse NULL. Room adapte le booléen Java à une valeur entière dans SQLite. @ColumnInfo(defaultValue = « 0 ») documente la valeur par défaut dans le schéma de Room. Une modification du champ de l'objet en mémoire n'écrit rien à elle seule dans la base : il faut passer par une opération du DAO.</a:t>
            </a:r>
            <a:endParaRPr/>
          </a:p>
        </p:txBody>
      </p:sp>
      <p:sp>
        <p:nvSpPr>
          <p:cNvPr id="842750530"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2683974" name="Slide Image Placeholder 1"/>
          <p:cNvSpPr>
            <a:spLocks noGrp="1"/>
          </p:cNvSpPr>
          <p:nvPr>
            <p:ph type="sldImg" idx="2"/>
          </p:nvPr>
        </p:nvSpPr>
        <p:spPr bwMode="auto"/>
      </p:sp>
      <p:sp>
        <p:nvSpPr>
          <p:cNvPr id="1631348833" name="Notes Placeholder 2"/>
          <p:cNvSpPr>
            <a:spLocks noGrp="1"/>
          </p:cNvSpPr>
          <p:nvPr>
            <p:ph type="body" sz="quarter" idx="3"/>
          </p:nvPr>
        </p:nvSpPr>
        <p:spPr bwMode="auto"/>
        <p:txBody>
          <a:bodyPr/>
          <a:lstStyle/>
          <a:p>
            <a:pPr>
              <a:defRPr/>
            </a:pPr>
            <a:r>
              <a:rPr/>
              <a:t>DAO veut dire Data Access Object. Il rassemble les opérations qui touchent à la base. @Query contient une requête SQL explicite. observeAll renvoie un LiveData de liste, ce qui permet à l'interface de réagir quand Room invalide le résultat de la requête. @Insert génère l'insertion, et le long renvoyé est l'identifiant de la ligne. Pour cocher une tâche, notre démo utilise une requête UPDATE ciblée avec des paramètres liés. En application plus vaste, on peut aussi utiliser @Update et @Delete. Une méthode DAO décrit l'accès aux données, elle ne décide pas à elle seule sur quel thread l'appeler.</a:t>
            </a:r>
            <a:endParaRPr/>
          </a:p>
        </p:txBody>
      </p:sp>
      <p:sp>
        <p:nvSpPr>
          <p:cNvPr id="749821128"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3340057" name="Slide Image Placeholder 1"/>
          <p:cNvSpPr>
            <a:spLocks noGrp="1"/>
          </p:cNvSpPr>
          <p:nvPr>
            <p:ph type="sldImg" idx="2"/>
          </p:nvPr>
        </p:nvSpPr>
        <p:spPr bwMode="auto"/>
      </p:sp>
      <p:sp>
        <p:nvSpPr>
          <p:cNvPr id="2122019949" name="Notes Placeholder 2"/>
          <p:cNvSpPr>
            <a:spLocks noGrp="1"/>
          </p:cNvSpPr>
          <p:nvPr>
            <p:ph type="body" sz="quarter" idx="3"/>
          </p:nvPr>
        </p:nvSpPr>
        <p:spPr bwMode="auto"/>
        <p:txBody>
          <a:bodyPr/>
          <a:lstStyle/>
          <a:p>
            <a:pPr>
              <a:defRPr/>
            </a:pPr>
            <a:r>
              <a:rPr/>
              <a:t>La classe AppDb est le point d'entrée Room. Son annotation recense les entités et le numéro de version du schéma. Ici je montre version 2, car c'est la version du projet de démonstration. Nous verrons plus loin comment on passe de la version 1 à 2. La méthode abstraite donne accès au DAO. databaseBuilder crée ou ouvre le fichier tasks.db. Dans une application réelle, on garde généralement une instance partagée de la base dans le processus, au lieu d'en construire une à chaque écran. La démo reste volontairement petite et instancie la base dans l'Activity.</a:t>
            </a:r>
            <a:endParaRPr/>
          </a:p>
        </p:txBody>
      </p:sp>
      <p:sp>
        <p:nvSpPr>
          <p:cNvPr id="295030174"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1909275" name="Slide Image Placeholder 1"/>
          <p:cNvSpPr>
            <a:spLocks noGrp="1"/>
          </p:cNvSpPr>
          <p:nvPr>
            <p:ph type="sldImg" idx="2"/>
          </p:nvPr>
        </p:nvSpPr>
        <p:spPr bwMode="auto"/>
      </p:sp>
      <p:sp>
        <p:nvSpPr>
          <p:cNvPr id="1571297448" name="Notes Placeholder 2"/>
          <p:cNvSpPr>
            <a:spLocks noGrp="1"/>
          </p:cNvSpPr>
          <p:nvPr>
            <p:ph type="body" sz="quarter" idx="3"/>
          </p:nvPr>
        </p:nvSpPr>
        <p:spPr bwMode="auto"/>
        <p:txBody>
          <a:bodyPr/>
          <a:lstStyle/>
          <a:p>
            <a:pPr>
              <a:defRPr/>
            </a:pPr>
            <a:r>
              <a:rPr/>
              <a:t>Janna reprend le parcours de la tâche. Dans une architecture complète, l'Activity affiche et reçoit les clics, le ViewModel tient l'état de l'écran, le Repository coordonne l'accès aux données, et le DAO exprime les opérations locales. Room et SQLite stockent les lignes. Après une modification, Room peut notifier le LiveData et l'écran se remet à jour. Le Repository est un choix d'architecture utile, mais Room n'exige pas cette couche. Pour rendre la démo courte, l'Activity parle directement au DAO ; elle montre donc le stockage, pas toute cette architecture de production.</a:t>
            </a:r>
            <a:endParaRPr/>
          </a:p>
        </p:txBody>
      </p:sp>
      <p:sp>
        <p:nvSpPr>
          <p:cNvPr id="907669797"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4308301" name="Slide Image Placeholder 1"/>
          <p:cNvSpPr>
            <a:spLocks noGrp="1"/>
          </p:cNvSpPr>
          <p:nvPr>
            <p:ph type="sldImg" idx="2"/>
          </p:nvPr>
        </p:nvSpPr>
        <p:spPr bwMode="auto"/>
      </p:sp>
      <p:sp>
        <p:nvSpPr>
          <p:cNvPr id="453809581" name="Notes Placeholder 2"/>
          <p:cNvSpPr>
            <a:spLocks noGrp="1"/>
          </p:cNvSpPr>
          <p:nvPr>
            <p:ph type="body" sz="quarter" idx="3"/>
          </p:nvPr>
        </p:nvSpPr>
        <p:spPr bwMode="auto"/>
        <p:txBody>
          <a:bodyPr/>
          <a:lstStyle/>
          <a:p>
            <a:pPr>
              <a:defRPr/>
            </a:pPr>
            <a:r>
              <a:rPr/>
              <a:t>Suivons les deux sens de circulation. Un clic part du thread principal. L'application soumet l'écriture à ExecutorService ; le DAO, Room et SQLite travaillent sur un thread de fond. Le code de droite est l'exemple d'écriture asynchrone. Quand les données observées changent, Room actualise le LiveData. L'observateur lié à l'Activity reçoit la nouvelle liste sur le thread principal et appelle render(tasks). Le code de gauche représente ce retour vers l'interface : SQLite n'appelle pas directement l'UI. Une opération disque sur le thread principal peut bloquer l'écran et mener à une erreur ANR.</a:t>
            </a:r>
            <a:endParaRPr/>
          </a:p>
        </p:txBody>
      </p:sp>
      <p:sp>
        <p:nvSpPr>
          <p:cNvPr id="674354876"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751929" name="Slide Image Placeholder 1"/>
          <p:cNvSpPr>
            <a:spLocks noGrp="1"/>
          </p:cNvSpPr>
          <p:nvPr>
            <p:ph type="sldImg" idx="2"/>
          </p:nvPr>
        </p:nvSpPr>
        <p:spPr bwMode="auto"/>
      </p:sp>
      <p:sp>
        <p:nvSpPr>
          <p:cNvPr id="719442545" name="Notes Placeholder 2"/>
          <p:cNvSpPr>
            <a:spLocks noGrp="1"/>
          </p:cNvSpPr>
          <p:nvPr>
            <p:ph type="body" sz="quarter" idx="3"/>
          </p:nvPr>
        </p:nvSpPr>
        <p:spPr bwMode="auto"/>
        <p:txBody>
          <a:bodyPr/>
          <a:lstStyle/>
          <a:p>
            <a:pPr>
              <a:defRPr/>
            </a:pPr>
            <a:r>
              <a:rPr/>
              <a:t>Supposons que cocher une tâche doive aussi produire une entrée d'historique. Sans transaction, UPDATE peut réussir puis INSERT échouer : les deux tables ne racontent plus la même opération. Dans une méthode DAO concrète annotée @Transaction, les deux écritures réussissent ensemble ou sont annulées ensemble. C'est l'atomicité, le A d'ACID. Les autres lettres désignent cohérence, isolation et durabilité ; nous n'entrons pas dans les niveaux d'isolation ici. Le code est un exemple conceptuel avec une table de journal que la démo minimale n'inclut pas.</a:t>
            </a:r>
            <a:endParaRPr/>
          </a:p>
        </p:txBody>
      </p:sp>
      <p:sp>
        <p:nvSpPr>
          <p:cNvPr id="250611757"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7351568" name="Slide Image Placeholder 1"/>
          <p:cNvSpPr>
            <a:spLocks noGrp="1"/>
          </p:cNvSpPr>
          <p:nvPr>
            <p:ph type="sldImg" idx="2"/>
          </p:nvPr>
        </p:nvSpPr>
        <p:spPr bwMode="auto"/>
      </p:sp>
      <p:sp>
        <p:nvSpPr>
          <p:cNvPr id="1896217841" name="Notes Placeholder 2"/>
          <p:cNvSpPr>
            <a:spLocks noGrp="1"/>
          </p:cNvSpPr>
          <p:nvPr>
            <p:ph type="body" sz="quarter" idx="3"/>
          </p:nvPr>
        </p:nvSpPr>
        <p:spPr bwMode="auto"/>
        <p:txBody>
          <a:bodyPr/>
          <a:lstStyle/>
          <a:p>
            <a:pPr>
              <a:defRPr/>
            </a:pPr>
            <a:r>
              <a:rPr/>
              <a:t>Une mise à jour ne doit pas effacer les tâches de l'utilisateur. En version 1, les lignes ont id et title. En version 2, on ajoute completed. Si la colonne est NOT NULL, toutes les lignes déjà présentes ont immédiatement besoin d'une valeur. DEFAULT 0 remplit ce besoin et représente une tâche non terminée. Le code montré correspond à l'API de migration Room 2 utilisée par notre projet Java. Il faut enregistrer cette migration avec addMigrations. fallbackToDestructiveMigration peut recréer la base en supprimant les données ; cela convient parfois à un cache reconstruisible, mais pas à la liste personnelle de l'utilisateur. Pour une application réelle, on teste la migration sur une base de la version précédente.</a:t>
            </a:r>
            <a:endParaRPr/>
          </a:p>
        </p:txBody>
      </p:sp>
      <p:sp>
        <p:nvSpPr>
          <p:cNvPr id="325990998"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3392854" name="Slide Image Placeholder 1"/>
          <p:cNvSpPr>
            <a:spLocks noGrp="1"/>
          </p:cNvSpPr>
          <p:nvPr>
            <p:ph type="sldImg" idx="2"/>
          </p:nvPr>
        </p:nvSpPr>
        <p:spPr bwMode="auto"/>
      </p:sp>
      <p:sp>
        <p:nvSpPr>
          <p:cNvPr id="1443638023" name="Notes Placeholder 2"/>
          <p:cNvSpPr>
            <a:spLocks noGrp="1"/>
          </p:cNvSpPr>
          <p:nvPr>
            <p:ph type="body" sz="quarter" idx="3"/>
          </p:nvPr>
        </p:nvSpPr>
        <p:spPr bwMode="auto"/>
        <p:txBody>
          <a:bodyPr/>
          <a:lstStyle/>
          <a:p>
            <a:pPr>
              <a:defRPr/>
            </a:pPr>
            <a:r>
              <a:rPr/>
              <a:t>Je lance MiniTodo et j'ajoute « Préparer le TP ». La liste l'affiche. Dans Android Studio, j'ouvre App Inspection, puis Database Inspector, puis tasks.db et la table tasks. Je vérifie que la ligne existe. Ensuite je coche la tâche et je regarde completed passer à 1. Je force l'arrêt de l'application depuis les réglages ou la commande prévue et je la rouvre : la tâche reste affichée. Si l'Inspector ne se rafraîchit pas, je relance la requête ; le redémarrage de l'application reste la preuve visible. Logcat indique que le code d'insertion s'est exécuté, mais l'Inspector montre la ligne dans SQLite. Ne pas effacer les données de l'application pendant cette séquence.</a:t>
            </a:r>
            <a:endParaRPr/>
          </a:p>
        </p:txBody>
      </p:sp>
      <p:sp>
        <p:nvSpPr>
          <p:cNvPr id="861485165"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8617361" name="Slide Image Placeholder 1"/>
          <p:cNvSpPr>
            <a:spLocks noGrp="1"/>
          </p:cNvSpPr>
          <p:nvPr>
            <p:ph type="sldImg" idx="2"/>
          </p:nvPr>
        </p:nvSpPr>
        <p:spPr bwMode="auto"/>
      </p:sp>
      <p:sp>
        <p:nvSpPr>
          <p:cNvPr id="1962747599" name="Notes Placeholder 2"/>
          <p:cNvSpPr>
            <a:spLocks noGrp="1"/>
          </p:cNvSpPr>
          <p:nvPr>
            <p:ph type="body" sz="quarter" idx="3"/>
          </p:nvPr>
        </p:nvSpPr>
        <p:spPr bwMode="auto"/>
        <p:txBody>
          <a:bodyPr/>
          <a:lstStyle/>
          <a:p>
            <a:pPr>
              <a:defRPr/>
            </a:pPr>
            <a:r>
              <a:rPr/>
              <a:t>Room ne synchronise pas automatiquement plusieurs téléphones. Il ne chiffre pas automatiquement la base non plus : le stockage privé de l'application et le chiffrement complet sont deux sujets différents. La désinstallation ou l'effacement des données supprime normalement la base locale. Dans une architecture hors connexion, le Repository combine une source réseau et une source locale. L'interface lit Room comme source locale de référence. Une mise à jour réseau modifie la base, puis l'observation met l'écran à jour ; hors ligne, on peut encore afficher les lignes déjà stockées. Il faut concevoir explicitement les conflits et les réessais pour les écritures synchronisées. Une photo ou un PDF volumineux se conserve généralement comme fichier, avec ses métadonnées en base si nécessaire.</a:t>
            </a:r>
            <a:endParaRPr/>
          </a:p>
        </p:txBody>
      </p:sp>
      <p:sp>
        <p:nvSpPr>
          <p:cNvPr id="870165113"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7043539" name="Slide Image Placeholder 1"/>
          <p:cNvSpPr>
            <a:spLocks noGrp="1"/>
          </p:cNvSpPr>
          <p:nvPr>
            <p:ph type="sldImg" idx="2"/>
          </p:nvPr>
        </p:nvSpPr>
        <p:spPr bwMode="auto"/>
      </p:sp>
      <p:sp>
        <p:nvSpPr>
          <p:cNvPr id="875882710" name="Notes Placeholder 2"/>
          <p:cNvSpPr>
            <a:spLocks noGrp="1"/>
          </p:cNvSpPr>
          <p:nvPr>
            <p:ph type="body" sz="quarter" idx="3"/>
          </p:nvPr>
        </p:nvSpPr>
        <p:spPr bwMode="auto"/>
        <p:txBody>
          <a:bodyPr/>
          <a:lstStyle/>
          <a:p>
            <a:pPr>
              <a:defRPr/>
            </a:pPr>
            <a:r>
              <a:rPr/>
              <a:t>Laissez quelques secondes aux étudiants pour répondre, sans afficher les réponses. Question 1 : Room, parce que la tâche est une donnée métier structurée et durable. Question 2 : Preferences DataStore, parce que le thème est un petit réglage de l'application sans rapport avec les lignes de la table tasks. Question 3 : préserver la chaîne de recherche dans le ViewModel pour la rotation ; SavedStateHandle peut aussi aider à la restauration après une mort du processus décidée par le système. On ne sauvegarde pas toute la liste de résultats dans SavedStateHandle. Question 4 : les lignes anciennes n'ont pas de valeur dans la colonne nouvellement ajoutée. NOT NULL refuserait cette absence ; DEFAULT 0 donne une valeur valide, non terminée, à chacune.</a:t>
            </a:r>
            <a:endParaRPr/>
          </a:p>
        </p:txBody>
      </p:sp>
      <p:sp>
        <p:nvSpPr>
          <p:cNvPr id="513139607"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2311974" name="Slide Image Placeholder 1"/>
          <p:cNvSpPr>
            <a:spLocks noGrp="1"/>
          </p:cNvSpPr>
          <p:nvPr>
            <p:ph type="sldImg" idx="2"/>
          </p:nvPr>
        </p:nvSpPr>
        <p:spPr bwMode="auto"/>
      </p:sp>
      <p:sp>
        <p:nvSpPr>
          <p:cNvPr id="1034020396" name="Notes Placeholder 2"/>
          <p:cNvSpPr>
            <a:spLocks noGrp="1"/>
          </p:cNvSpPr>
          <p:nvPr>
            <p:ph type="body" sz="quarter" idx="3"/>
          </p:nvPr>
        </p:nvSpPr>
        <p:spPr bwMode="auto"/>
        <p:txBody>
          <a:bodyPr/>
          <a:lstStyle/>
          <a:p>
            <a:pPr>
              <a:defRPr/>
            </a:pPr>
            <a:r>
              <a:rPr/>
              <a:t>Pour conclure, la tâche part de l'interface, traverse les couches d'architecture, puis finit dans un fichier SQLite. Une donnée de travail importante doit être conservée au-delà de l'exécution courante. On choisit le mécanisme selon la nature de la donnée. Room structure et vérifie l'accès, mais SQLite reste le moteur. Enfin, le code doit respecter le thread de l'interface, préserver la cohérence par transactions quand plusieurs écritures vont ensemble, et migrer le schéma sans perdre les données. Merci ; nous pouvons revenir au code ou répondre à vos questions.</a:t>
            </a:r>
            <a:endParaRPr/>
          </a:p>
        </p:txBody>
      </p:sp>
      <p:sp>
        <p:nvSpPr>
          <p:cNvPr id="1766929824"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635028991"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46080324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05420684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57153486" name="Footer Placeholder 4"/>
          <p:cNvSpPr>
            <a:spLocks noGrp="1"/>
          </p:cNvSpPr>
          <p:nvPr>
            <p:ph type="ftr" sz="quarter" idx="11"/>
          </p:nvPr>
        </p:nvSpPr>
        <p:spPr bwMode="auto"/>
        <p:txBody>
          <a:bodyPr/>
          <a:lstStyle/>
          <a:p>
            <a:pPr>
              <a:defRPr/>
            </a:pPr>
            <a:endParaRPr lang="en-US"/>
          </a:p>
        </p:txBody>
      </p:sp>
      <p:sp>
        <p:nvSpPr>
          <p:cNvPr id="54087832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301092845" name="Title 1"/>
          <p:cNvSpPr>
            <a:spLocks noGrp="1"/>
          </p:cNvSpPr>
          <p:nvPr>
            <p:ph type="title"/>
          </p:nvPr>
        </p:nvSpPr>
        <p:spPr bwMode="auto"/>
        <p:txBody>
          <a:bodyPr/>
          <a:lstStyle/>
          <a:p>
            <a:pPr>
              <a:defRPr/>
            </a:pPr>
            <a:r>
              <a:rPr lang="en-US"/>
              <a:t>Click to edit Master title style</a:t>
            </a:r>
            <a:endParaRPr lang="en-US"/>
          </a:p>
        </p:txBody>
      </p:sp>
      <p:sp>
        <p:nvSpPr>
          <p:cNvPr id="114292621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5855888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95075740" name="Footer Placeholder 4"/>
          <p:cNvSpPr>
            <a:spLocks noGrp="1"/>
          </p:cNvSpPr>
          <p:nvPr>
            <p:ph type="ftr" sz="quarter" idx="11"/>
          </p:nvPr>
        </p:nvSpPr>
        <p:spPr bwMode="auto"/>
        <p:txBody>
          <a:bodyPr/>
          <a:lstStyle/>
          <a:p>
            <a:pPr>
              <a:defRPr/>
            </a:pPr>
            <a:endParaRPr lang="en-US"/>
          </a:p>
        </p:txBody>
      </p:sp>
      <p:sp>
        <p:nvSpPr>
          <p:cNvPr id="92975667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78798040"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160489807"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66833004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09387030" name="Footer Placeholder 4"/>
          <p:cNvSpPr>
            <a:spLocks noGrp="1"/>
          </p:cNvSpPr>
          <p:nvPr>
            <p:ph type="ftr" sz="quarter" idx="11"/>
          </p:nvPr>
        </p:nvSpPr>
        <p:spPr bwMode="auto"/>
        <p:txBody>
          <a:bodyPr/>
          <a:lstStyle/>
          <a:p>
            <a:pPr>
              <a:defRPr/>
            </a:pPr>
            <a:endParaRPr lang="en-US"/>
          </a:p>
        </p:txBody>
      </p:sp>
      <p:sp>
        <p:nvSpPr>
          <p:cNvPr id="59948219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364569370" name="Title 1"/>
          <p:cNvSpPr>
            <a:spLocks noGrp="1"/>
          </p:cNvSpPr>
          <p:nvPr>
            <p:ph type="title"/>
          </p:nvPr>
        </p:nvSpPr>
        <p:spPr bwMode="auto"/>
        <p:txBody>
          <a:bodyPr/>
          <a:lstStyle/>
          <a:p>
            <a:pPr>
              <a:defRPr/>
            </a:pPr>
            <a:r>
              <a:rPr lang="en-US"/>
              <a:t>Click to edit Master title style</a:t>
            </a:r>
            <a:endParaRPr lang="en-US"/>
          </a:p>
        </p:txBody>
      </p:sp>
      <p:sp>
        <p:nvSpPr>
          <p:cNvPr id="197580468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76742552"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9912127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61712190" name="Footer Placeholder 5"/>
          <p:cNvSpPr>
            <a:spLocks noGrp="1"/>
          </p:cNvSpPr>
          <p:nvPr>
            <p:ph type="ftr" sz="quarter" idx="11"/>
          </p:nvPr>
        </p:nvSpPr>
        <p:spPr bwMode="auto"/>
        <p:txBody>
          <a:bodyPr/>
          <a:lstStyle/>
          <a:p>
            <a:pPr>
              <a:defRPr/>
            </a:pPr>
            <a:endParaRPr lang="en-US"/>
          </a:p>
        </p:txBody>
      </p:sp>
      <p:sp>
        <p:nvSpPr>
          <p:cNvPr id="56703436"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35949548"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2115208689"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3278656"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48445203"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9255278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77120201"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98103269" name="Footer Placeholder 7"/>
          <p:cNvSpPr>
            <a:spLocks noGrp="1"/>
          </p:cNvSpPr>
          <p:nvPr>
            <p:ph type="ftr" sz="quarter" idx="11"/>
          </p:nvPr>
        </p:nvSpPr>
        <p:spPr bwMode="auto"/>
        <p:txBody>
          <a:bodyPr/>
          <a:lstStyle/>
          <a:p>
            <a:pPr>
              <a:defRPr/>
            </a:pPr>
            <a:endParaRPr lang="en-US"/>
          </a:p>
        </p:txBody>
      </p:sp>
      <p:sp>
        <p:nvSpPr>
          <p:cNvPr id="1239019153"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75654206" name="Title 1"/>
          <p:cNvSpPr>
            <a:spLocks noGrp="1"/>
          </p:cNvSpPr>
          <p:nvPr>
            <p:ph type="title"/>
          </p:nvPr>
        </p:nvSpPr>
        <p:spPr bwMode="auto"/>
        <p:txBody>
          <a:bodyPr/>
          <a:lstStyle/>
          <a:p>
            <a:pPr>
              <a:defRPr/>
            </a:pPr>
            <a:r>
              <a:rPr lang="en-US"/>
              <a:t>Click to edit Master title style</a:t>
            </a:r>
            <a:endParaRPr lang="en-US"/>
          </a:p>
        </p:txBody>
      </p:sp>
      <p:sp>
        <p:nvSpPr>
          <p:cNvPr id="1736946756"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97691073" name="Footer Placeholder 3"/>
          <p:cNvSpPr>
            <a:spLocks noGrp="1"/>
          </p:cNvSpPr>
          <p:nvPr>
            <p:ph type="ftr" sz="quarter" idx="11"/>
          </p:nvPr>
        </p:nvSpPr>
        <p:spPr bwMode="auto"/>
        <p:txBody>
          <a:bodyPr/>
          <a:lstStyle/>
          <a:p>
            <a:pPr>
              <a:defRPr/>
            </a:pPr>
            <a:endParaRPr lang="en-US"/>
          </a:p>
        </p:txBody>
      </p:sp>
      <p:sp>
        <p:nvSpPr>
          <p:cNvPr id="93211740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1533023"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38989636" name="Footer Placeholder 2"/>
          <p:cNvSpPr>
            <a:spLocks noGrp="1"/>
          </p:cNvSpPr>
          <p:nvPr>
            <p:ph type="ftr" sz="quarter" idx="11"/>
          </p:nvPr>
        </p:nvSpPr>
        <p:spPr bwMode="auto"/>
        <p:txBody>
          <a:bodyPr/>
          <a:lstStyle/>
          <a:p>
            <a:pPr>
              <a:defRPr/>
            </a:pPr>
            <a:endParaRPr lang="en-US"/>
          </a:p>
        </p:txBody>
      </p:sp>
      <p:sp>
        <p:nvSpPr>
          <p:cNvPr id="326476938"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58627983"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56124341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2521209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9524862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99772131" name="Footer Placeholder 5"/>
          <p:cNvSpPr>
            <a:spLocks noGrp="1"/>
          </p:cNvSpPr>
          <p:nvPr>
            <p:ph type="ftr" sz="quarter" idx="11"/>
          </p:nvPr>
        </p:nvSpPr>
        <p:spPr bwMode="auto"/>
        <p:txBody>
          <a:bodyPr/>
          <a:lstStyle/>
          <a:p>
            <a:pPr>
              <a:defRPr/>
            </a:pPr>
            <a:endParaRPr lang="en-US"/>
          </a:p>
        </p:txBody>
      </p:sp>
      <p:sp>
        <p:nvSpPr>
          <p:cNvPr id="7824047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84955366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2531777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956583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7573694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62507106" name="Footer Placeholder 5"/>
          <p:cNvSpPr>
            <a:spLocks noGrp="1"/>
          </p:cNvSpPr>
          <p:nvPr>
            <p:ph type="ftr" sz="quarter" idx="11"/>
          </p:nvPr>
        </p:nvSpPr>
        <p:spPr bwMode="auto"/>
        <p:txBody>
          <a:bodyPr/>
          <a:lstStyle/>
          <a:p>
            <a:pPr>
              <a:defRPr/>
            </a:pPr>
            <a:endParaRPr lang="en-US"/>
          </a:p>
        </p:txBody>
      </p:sp>
      <p:sp>
        <p:nvSpPr>
          <p:cNvPr id="28718704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537521368" name="Title 1"/>
          <p:cNvSpPr>
            <a:spLocks noGrp="1"/>
          </p:cNvSpPr>
          <p:nvPr>
            <p:ph type="title"/>
          </p:nvPr>
        </p:nvSpPr>
        <p:spPr bwMode="auto"/>
        <p:txBody>
          <a:bodyPr/>
          <a:lstStyle/>
          <a:p>
            <a:pPr>
              <a:defRPr/>
            </a:pPr>
            <a:r>
              <a:rPr lang="en-US"/>
              <a:t>Click to edit Master title style</a:t>
            </a:r>
            <a:endParaRPr lang="en-US"/>
          </a:p>
        </p:txBody>
      </p:sp>
      <p:sp>
        <p:nvSpPr>
          <p:cNvPr id="103424557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754093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43788801" name="Footer Placeholder 4"/>
          <p:cNvSpPr>
            <a:spLocks noGrp="1"/>
          </p:cNvSpPr>
          <p:nvPr>
            <p:ph type="ftr" sz="quarter" idx="11"/>
          </p:nvPr>
        </p:nvSpPr>
        <p:spPr bwMode="auto"/>
        <p:txBody>
          <a:bodyPr/>
          <a:lstStyle/>
          <a:p>
            <a:pPr>
              <a:defRPr/>
            </a:pPr>
            <a:endParaRPr lang="en-US"/>
          </a:p>
        </p:txBody>
      </p:sp>
      <p:sp>
        <p:nvSpPr>
          <p:cNvPr id="127259205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345325321"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66251368"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4028945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99161216" name="Footer Placeholder 4"/>
          <p:cNvSpPr>
            <a:spLocks noGrp="1"/>
          </p:cNvSpPr>
          <p:nvPr>
            <p:ph type="ftr" sz="quarter" idx="11"/>
          </p:nvPr>
        </p:nvSpPr>
        <p:spPr bwMode="auto"/>
        <p:txBody>
          <a:bodyPr/>
          <a:lstStyle/>
          <a:p>
            <a:pPr>
              <a:defRPr/>
            </a:pPr>
            <a:endParaRPr lang="en-US"/>
          </a:p>
        </p:txBody>
      </p:sp>
      <p:sp>
        <p:nvSpPr>
          <p:cNvPr id="59105448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9526590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42322342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238098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596256950"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5336889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cxnSp>
        <p:nvCxnSpPr>
          <p:cNvPr id="1733907052" name="Connector 1"/>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918661812" name="TextBox 2"/>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2056385172" name="TextBox 3"/>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121870939" name="TextBox 4"/>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01</a:t>
            </a:r>
            <a:endParaRPr/>
          </a:p>
        </p:txBody>
      </p:sp>
      <p:sp>
        <p:nvSpPr>
          <p:cNvPr id="1948970839" name="Rectangle 5"/>
          <p:cNvSpPr/>
          <p:nvPr/>
        </p:nvSpPr>
        <p:spPr bwMode="auto">
          <a:xfrm>
            <a:off x="0" y="0"/>
            <a:ext cx="210312" cy="6858000"/>
          </a:xfrm>
          <a:prstGeom prst="rect">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1022723" name="Rectangle 6"/>
          <p:cNvSpPr/>
          <p:nvPr/>
        </p:nvSpPr>
        <p:spPr bwMode="auto">
          <a:xfrm>
            <a:off x="7479792" y="0"/>
            <a:ext cx="4709160" cy="6858000"/>
          </a:xfrm>
          <a:prstGeom prst="rect">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2522115" name="TextBox 7"/>
          <p:cNvSpPr txBox="1"/>
          <p:nvPr/>
        </p:nvSpPr>
        <p:spPr bwMode="auto">
          <a:xfrm>
            <a:off x="713232" y="950976"/>
            <a:ext cx="6492240" cy="1481328"/>
          </a:xfrm>
          <a:prstGeom prst="rect">
            <a:avLst/>
          </a:prstGeom>
          <a:noFill/>
        </p:spPr>
        <p:txBody>
          <a:bodyPr wrap="square" lIns="18288" tIns="18288" rIns="18288" bIns="18288">
            <a:spAutoFit/>
          </a:bodyPr>
          <a:lstStyle/>
          <a:p>
            <a:pPr>
              <a:spcBef>
                <a:spcPts val="0"/>
              </a:spcBef>
              <a:spcAft>
                <a:spcPts val="0"/>
              </a:spcAft>
              <a:defRPr sz="3700" b="1">
                <a:solidFill>
                  <a:srgbClr val="172A31"/>
                </a:solidFill>
                <a:latin typeface="Aptos"/>
              </a:defRPr>
            </a:pPr>
            <a:r>
              <a:rPr/>
              <a:t>Bases de données</a:t>
            </a:r>
            <a:endParaRPr/>
          </a:p>
          <a:p>
            <a:pPr>
              <a:spcBef>
                <a:spcPts val="0"/>
              </a:spcBef>
              <a:spcAft>
                <a:spcPts val="0"/>
              </a:spcAft>
              <a:defRPr sz="3700" b="1">
                <a:solidFill>
                  <a:srgbClr val="172A31"/>
                </a:solidFill>
                <a:latin typeface="Aptos"/>
              </a:defRPr>
            </a:pPr>
            <a:r>
              <a:rPr/>
              <a:t>embarquées et persistance</a:t>
            </a:r>
            <a:endParaRPr/>
          </a:p>
        </p:txBody>
      </p:sp>
      <p:sp>
        <p:nvSpPr>
          <p:cNvPr id="1806583195" name="TextBox 8"/>
          <p:cNvSpPr txBox="1"/>
          <p:nvPr/>
        </p:nvSpPr>
        <p:spPr bwMode="auto">
          <a:xfrm>
            <a:off x="731520" y="2770632"/>
            <a:ext cx="6126480" cy="411480"/>
          </a:xfrm>
          <a:prstGeom prst="rect">
            <a:avLst/>
          </a:prstGeom>
          <a:noFill/>
        </p:spPr>
        <p:txBody>
          <a:bodyPr wrap="square" lIns="18288" tIns="18288" rIns="18288" bIns="18288">
            <a:spAutoFit/>
          </a:bodyPr>
          <a:lstStyle/>
          <a:p>
            <a:pPr>
              <a:spcBef>
                <a:spcPts val="0"/>
              </a:spcBef>
              <a:spcAft>
                <a:spcPts val="0"/>
              </a:spcAft>
              <a:defRPr sz="1800" b="1">
                <a:solidFill>
                  <a:srgbClr val="176D70"/>
                </a:solidFill>
                <a:latin typeface="Aptos"/>
              </a:defRPr>
            </a:pPr>
            <a:r>
              <a:rPr/>
              <a:t>Android  ·  Java  ·  SQLite  ·  Room</a:t>
            </a:r>
            <a:endParaRPr/>
          </a:p>
        </p:txBody>
      </p:sp>
      <p:sp>
        <p:nvSpPr>
          <p:cNvPr id="419259514" name="TextBox 9"/>
          <p:cNvSpPr txBox="1"/>
          <p:nvPr/>
        </p:nvSpPr>
        <p:spPr bwMode="auto">
          <a:xfrm>
            <a:off x="731520" y="3694176"/>
            <a:ext cx="5303520" cy="365760"/>
          </a:xfrm>
          <a:prstGeom prst="rect">
            <a:avLst/>
          </a:prstGeom>
          <a:noFill/>
        </p:spPr>
        <p:txBody>
          <a:bodyPr wrap="square" lIns="18288" tIns="18288" rIns="18288" bIns="18288">
            <a:spAutoFit/>
          </a:bodyPr>
          <a:lstStyle/>
          <a:p>
            <a:pPr>
              <a:spcBef>
                <a:spcPts val="0"/>
              </a:spcBef>
              <a:spcAft>
                <a:spcPts val="0"/>
              </a:spcAft>
              <a:defRPr sz="1900" b="0">
                <a:solidFill>
                  <a:srgbClr val="53666D"/>
                </a:solidFill>
                <a:latin typeface="Aptos"/>
              </a:defRPr>
            </a:pPr>
            <a:r>
              <a:rPr/>
              <a:t>Fil rouge : MiniTodo</a:t>
            </a:r>
            <a:endParaRPr/>
          </a:p>
        </p:txBody>
      </p:sp>
      <p:sp>
        <p:nvSpPr>
          <p:cNvPr id="1243914252" name="TextBox 10"/>
          <p:cNvSpPr txBox="1"/>
          <p:nvPr/>
        </p:nvSpPr>
        <p:spPr bwMode="auto">
          <a:xfrm>
            <a:off x="731520" y="4919471"/>
            <a:ext cx="4846320" cy="65836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Minh Hang PHAM</a:t>
            </a:r>
            <a:endParaRPr/>
          </a:p>
          <a:p>
            <a:pPr>
              <a:spcBef>
                <a:spcPts val="0"/>
              </a:spcBef>
              <a:spcAft>
                <a:spcPts val="0"/>
              </a:spcAft>
              <a:defRPr sz="1800" b="1">
                <a:solidFill>
                  <a:srgbClr val="172A31"/>
                </a:solidFill>
                <a:latin typeface="Aptos"/>
              </a:defRPr>
            </a:pPr>
            <a:r>
              <a:rPr/>
              <a:t>Janna GUDUMAC</a:t>
            </a:r>
            <a:endParaRPr/>
          </a:p>
        </p:txBody>
      </p:sp>
      <p:sp>
        <p:nvSpPr>
          <p:cNvPr id="878271511" name="Rounded Rectangle 11"/>
          <p:cNvSpPr/>
          <p:nvPr/>
        </p:nvSpPr>
        <p:spPr bwMode="auto">
          <a:xfrm>
            <a:off x="8229600" y="1261872"/>
            <a:ext cx="3054096" cy="685800"/>
          </a:xfrm>
          <a:prstGeom prst="roundRect">
            <a:avLst>
              <a:gd name="adj" fmla="val 12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6019889" name="TextBox 12"/>
          <p:cNvSpPr txBox="1"/>
          <p:nvPr/>
        </p:nvSpPr>
        <p:spPr bwMode="auto">
          <a:xfrm>
            <a:off x="8339327" y="1371600"/>
            <a:ext cx="2834639" cy="338328"/>
          </a:xfrm>
          <a:prstGeom prst="rect">
            <a:avLst/>
          </a:prstGeom>
          <a:noFill/>
        </p:spPr>
        <p:txBody>
          <a:bodyPr wrap="square" lIns="18288" tIns="18288" rIns="18288" bIns="18288">
            <a:spAutoFit/>
          </a:bodyPr>
          <a:lstStyle/>
          <a:p>
            <a:pPr>
              <a:spcBef>
                <a:spcPts val="0"/>
              </a:spcBef>
              <a:spcAft>
                <a:spcPts val="0"/>
              </a:spcAft>
              <a:defRPr sz="2100" b="1">
                <a:solidFill>
                  <a:srgbClr val="2C9B65"/>
                </a:solidFill>
                <a:latin typeface="Aptos"/>
              </a:defRPr>
            </a:pPr>
            <a:r>
              <a:rPr/>
              <a:t>MiniTodo</a:t>
            </a:r>
            <a:endParaRPr/>
          </a:p>
        </p:txBody>
      </p:sp>
      <p:sp>
        <p:nvSpPr>
          <p:cNvPr id="1316737108" name="Rounded Rectangle 13"/>
          <p:cNvSpPr/>
          <p:nvPr/>
        </p:nvSpPr>
        <p:spPr bwMode="auto">
          <a:xfrm>
            <a:off x="8229600" y="2331720"/>
            <a:ext cx="3054096" cy="7315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2892354" name="TextBox 14"/>
          <p:cNvSpPr txBox="1"/>
          <p:nvPr/>
        </p:nvSpPr>
        <p:spPr bwMode="auto">
          <a:xfrm>
            <a:off x="8339327" y="2441448"/>
            <a:ext cx="2834639" cy="33832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Préparer le TP</a:t>
            </a:r>
            <a:endParaRPr/>
          </a:p>
        </p:txBody>
      </p:sp>
      <p:sp>
        <p:nvSpPr>
          <p:cNvPr id="1968531441" name="Rounded Rectangle 15"/>
          <p:cNvSpPr/>
          <p:nvPr/>
        </p:nvSpPr>
        <p:spPr bwMode="auto">
          <a:xfrm>
            <a:off x="8229600" y="3657600"/>
            <a:ext cx="3054096" cy="448056"/>
          </a:xfrm>
          <a:prstGeom prst="roundRect">
            <a:avLst>
              <a:gd name="adj" fmla="val 10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5792109" name="TextBox 16"/>
          <p:cNvSpPr txBox="1"/>
          <p:nvPr/>
        </p:nvSpPr>
        <p:spPr bwMode="auto">
          <a:xfrm>
            <a:off x="8375904" y="3758184"/>
            <a:ext cx="2743200" cy="274320"/>
          </a:xfrm>
          <a:prstGeom prst="rect">
            <a:avLst/>
          </a:prstGeom>
          <a:noFill/>
        </p:spPr>
        <p:txBody>
          <a:bodyPr wrap="square" lIns="18288" tIns="18288" rIns="18288" bIns="18288">
            <a:spAutoFit/>
          </a:bodyPr>
          <a:lstStyle/>
          <a:p>
            <a:pPr>
              <a:spcBef>
                <a:spcPts val="0"/>
              </a:spcBef>
              <a:spcAft>
                <a:spcPts val="0"/>
              </a:spcAft>
              <a:defRPr sz="1500" b="1">
                <a:solidFill>
                  <a:srgbClr val="FFFFFF"/>
                </a:solidFill>
                <a:latin typeface="Aptos"/>
              </a:defRPr>
            </a:pPr>
            <a:r>
              <a:rPr/>
              <a:t>Écran</a:t>
            </a:r>
            <a:endParaRPr/>
          </a:p>
        </p:txBody>
      </p:sp>
      <p:cxnSp>
        <p:nvCxnSpPr>
          <p:cNvPr id="1797173717" name="Connector 17"/>
          <p:cNvCxnSpPr/>
          <p:nvPr/>
        </p:nvCxnSpPr>
        <p:spPr bwMode="auto">
          <a:xfrm>
            <a:off x="9756647" y="4114800"/>
            <a:ext cx="0" cy="164592"/>
          </a:xfrm>
          <a:prstGeom prst="line">
            <a:avLst/>
          </a:prstGeom>
          <a:ln w="1778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597812818" name="Rounded Rectangle 18"/>
          <p:cNvSpPr/>
          <p:nvPr/>
        </p:nvSpPr>
        <p:spPr bwMode="auto">
          <a:xfrm>
            <a:off x="8229600" y="4288536"/>
            <a:ext cx="3054096" cy="448056"/>
          </a:xfrm>
          <a:prstGeom prst="roundRect">
            <a:avLst>
              <a:gd name="adj" fmla="val 10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3896362" name="TextBox 19"/>
          <p:cNvSpPr txBox="1"/>
          <p:nvPr/>
        </p:nvSpPr>
        <p:spPr bwMode="auto">
          <a:xfrm>
            <a:off x="8375904" y="4389120"/>
            <a:ext cx="2743200" cy="274320"/>
          </a:xfrm>
          <a:prstGeom prst="rect">
            <a:avLst/>
          </a:prstGeom>
          <a:noFill/>
        </p:spPr>
        <p:txBody>
          <a:bodyPr wrap="square" lIns="18288" tIns="18288" rIns="18288" bIns="18288">
            <a:spAutoFit/>
          </a:bodyPr>
          <a:lstStyle/>
          <a:p>
            <a:pPr>
              <a:spcBef>
                <a:spcPts val="0"/>
              </a:spcBef>
              <a:spcAft>
                <a:spcPts val="0"/>
              </a:spcAft>
              <a:defRPr sz="1500" b="1">
                <a:solidFill>
                  <a:srgbClr val="FFFFFF"/>
                </a:solidFill>
                <a:latin typeface="Aptos"/>
              </a:defRPr>
            </a:pPr>
            <a:r>
              <a:rPr/>
              <a:t>Room</a:t>
            </a:r>
            <a:endParaRPr/>
          </a:p>
        </p:txBody>
      </p:sp>
      <p:cxnSp>
        <p:nvCxnSpPr>
          <p:cNvPr id="1570448730" name="Connector 20"/>
          <p:cNvCxnSpPr/>
          <p:nvPr/>
        </p:nvCxnSpPr>
        <p:spPr bwMode="auto">
          <a:xfrm>
            <a:off x="9756647" y="4745736"/>
            <a:ext cx="0" cy="164592"/>
          </a:xfrm>
          <a:prstGeom prst="line">
            <a:avLst/>
          </a:prstGeom>
          <a:ln w="1778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47679215" name="Rounded Rectangle 21"/>
          <p:cNvSpPr/>
          <p:nvPr/>
        </p:nvSpPr>
        <p:spPr bwMode="auto">
          <a:xfrm>
            <a:off x="8229600" y="4919471"/>
            <a:ext cx="3054096" cy="448056"/>
          </a:xfrm>
          <a:prstGeom prst="roundRect">
            <a:avLst>
              <a:gd name="adj" fmla="val 10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2469287" name="TextBox 22"/>
          <p:cNvSpPr txBox="1"/>
          <p:nvPr/>
        </p:nvSpPr>
        <p:spPr bwMode="auto">
          <a:xfrm>
            <a:off x="8375904" y="5020056"/>
            <a:ext cx="2743200" cy="274320"/>
          </a:xfrm>
          <a:prstGeom prst="rect">
            <a:avLst/>
          </a:prstGeom>
          <a:noFill/>
        </p:spPr>
        <p:txBody>
          <a:bodyPr wrap="square" lIns="18288" tIns="18288" rIns="18288" bIns="18288">
            <a:spAutoFit/>
          </a:bodyPr>
          <a:lstStyle/>
          <a:p>
            <a:pPr>
              <a:spcBef>
                <a:spcPts val="0"/>
              </a:spcBef>
              <a:spcAft>
                <a:spcPts val="0"/>
              </a:spcAft>
              <a:defRPr sz="1500" b="1">
                <a:solidFill>
                  <a:srgbClr val="FFFFFF"/>
                </a:solidFill>
                <a:latin typeface="Aptos"/>
              </a:defRPr>
            </a:pPr>
            <a:r>
              <a:rPr/>
              <a:t>SQLite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20627613"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La tâche doit survivre à l’application</a:t>
            </a:r>
            <a:endParaRPr/>
          </a:p>
        </p:txBody>
      </p:sp>
      <p:sp>
        <p:nvSpPr>
          <p:cNvPr id="873546244"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01  ·  Besoin de persistance</a:t>
            </a:r>
            <a:endParaRPr sz="1600"/>
          </a:p>
        </p:txBody>
      </p:sp>
      <p:cxnSp>
        <p:nvCxnSpPr>
          <p:cNvPr id="476092704"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348701286"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29939611"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307720312"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02</a:t>
            </a:r>
            <a:endParaRPr/>
          </a:p>
        </p:txBody>
      </p:sp>
      <p:sp>
        <p:nvSpPr>
          <p:cNvPr id="506668069" name="TextBox 7"/>
          <p:cNvSpPr txBox="1"/>
          <p:nvPr/>
        </p:nvSpPr>
        <p:spPr bwMode="auto">
          <a:xfrm>
            <a:off x="786383" y="1881676"/>
            <a:ext cx="4847399" cy="372215"/>
          </a:xfrm>
          <a:prstGeom prst="rect">
            <a:avLst/>
          </a:prstGeom>
          <a:noFill/>
        </p:spPr>
        <p:txBody>
          <a:bodyPr wrap="square" lIns="18288" tIns="18288" rIns="18288" bIns="18288">
            <a:spAutoFit/>
          </a:bodyPr>
          <a:lstStyle/>
          <a:p>
            <a:pPr>
              <a:spcBef>
                <a:spcPts val="0"/>
              </a:spcBef>
              <a:spcAft>
                <a:spcPts val="0"/>
              </a:spcAft>
              <a:defRPr sz="2700" b="1">
                <a:solidFill>
                  <a:srgbClr val="172A31"/>
                </a:solidFill>
                <a:latin typeface="Aptos"/>
              </a:defRPr>
            </a:pPr>
            <a:r>
              <a:rPr sz="2200"/>
              <a:t>« Préparer le TP »</a:t>
            </a:r>
            <a:endParaRPr/>
          </a:p>
        </p:txBody>
      </p:sp>
      <p:sp>
        <p:nvSpPr>
          <p:cNvPr id="17748473" name="Rounded Rectangle 8"/>
          <p:cNvSpPr/>
          <p:nvPr/>
        </p:nvSpPr>
        <p:spPr bwMode="auto">
          <a:xfrm>
            <a:off x="786383" y="1512432"/>
            <a:ext cx="2103120" cy="320040"/>
          </a:xfrm>
          <a:prstGeom prst="roundRect">
            <a:avLst>
              <a:gd name="adj" fmla="val 18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4487111" name="TextBox 9"/>
          <p:cNvSpPr txBox="1"/>
          <p:nvPr/>
        </p:nvSpPr>
        <p:spPr bwMode="auto">
          <a:xfrm>
            <a:off x="960119" y="1568032"/>
            <a:ext cx="1920239" cy="228600"/>
          </a:xfrm>
          <a:prstGeom prst="rect">
            <a:avLst/>
          </a:prstGeom>
          <a:noFill/>
        </p:spPr>
        <p:txBody>
          <a:bodyPr wrap="square" lIns="18288" tIns="18288" rIns="18288" bIns="18288">
            <a:spAutoFit/>
          </a:bodyPr>
          <a:lstStyle/>
          <a:p>
            <a:pPr>
              <a:spcBef>
                <a:spcPts val="0"/>
              </a:spcBef>
              <a:spcAft>
                <a:spcPts val="0"/>
              </a:spcAft>
              <a:defRPr sz="1200" b="1">
                <a:solidFill>
                  <a:srgbClr val="317AB5"/>
                </a:solidFill>
                <a:latin typeface="Aptos"/>
              </a:defRPr>
            </a:pPr>
            <a:r>
              <a:rPr/>
              <a:t>ACTION UTILISATEUR</a:t>
            </a:r>
            <a:endParaRPr/>
          </a:p>
        </p:txBody>
      </p:sp>
      <p:sp>
        <p:nvSpPr>
          <p:cNvPr id="1813437411" name="Rounded Rectangle 10"/>
          <p:cNvSpPr/>
          <p:nvPr/>
        </p:nvSpPr>
        <p:spPr bwMode="auto">
          <a:xfrm>
            <a:off x="694944" y="2313432"/>
            <a:ext cx="5175504" cy="3273552"/>
          </a:xfrm>
          <a:prstGeom prst="roundRect">
            <a:avLst>
              <a:gd name="adj" fmla="val 8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3962413" name="Rounded Rectangle 11"/>
          <p:cNvSpPr/>
          <p:nvPr/>
        </p:nvSpPr>
        <p:spPr bwMode="auto">
          <a:xfrm>
            <a:off x="6327648" y="2313432"/>
            <a:ext cx="5175504" cy="3273552"/>
          </a:xfrm>
          <a:prstGeom prst="roundRect">
            <a:avLst>
              <a:gd name="adj" fmla="val 8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9459708" name="TextBox 12"/>
          <p:cNvSpPr txBox="1"/>
          <p:nvPr/>
        </p:nvSpPr>
        <p:spPr bwMode="auto">
          <a:xfrm>
            <a:off x="950976" y="2578608"/>
            <a:ext cx="4526280" cy="384048"/>
          </a:xfrm>
          <a:prstGeom prst="rect">
            <a:avLst/>
          </a:prstGeom>
          <a:noFill/>
        </p:spPr>
        <p:txBody>
          <a:bodyPr wrap="square" lIns="18288" tIns="18288" rIns="18288" bIns="18288">
            <a:spAutoFit/>
          </a:bodyPr>
          <a:lstStyle/>
          <a:p>
            <a:pPr>
              <a:spcBef>
                <a:spcPts val="0"/>
              </a:spcBef>
              <a:spcAft>
                <a:spcPts val="0"/>
              </a:spcAft>
              <a:defRPr sz="2300" b="1">
                <a:solidFill>
                  <a:srgbClr val="317AB5"/>
                </a:solidFill>
                <a:latin typeface="Aptos"/>
              </a:defRPr>
            </a:pPr>
            <a:r>
              <a:rPr/>
              <a:t>En mémoire</a:t>
            </a:r>
            <a:endParaRPr/>
          </a:p>
        </p:txBody>
      </p:sp>
      <p:sp>
        <p:nvSpPr>
          <p:cNvPr id="760787991" name="TextBox 13"/>
          <p:cNvSpPr txBox="1"/>
          <p:nvPr/>
        </p:nvSpPr>
        <p:spPr bwMode="auto">
          <a:xfrm>
            <a:off x="6574536" y="2578608"/>
            <a:ext cx="4526280" cy="384048"/>
          </a:xfrm>
          <a:prstGeom prst="rect">
            <a:avLst/>
          </a:prstGeom>
          <a:noFill/>
        </p:spPr>
        <p:txBody>
          <a:bodyPr wrap="square" lIns="18288" tIns="18288" rIns="18288" bIns="18288">
            <a:spAutoFit/>
          </a:bodyPr>
          <a:lstStyle/>
          <a:p>
            <a:pPr>
              <a:spcBef>
                <a:spcPts val="0"/>
              </a:spcBef>
              <a:spcAft>
                <a:spcPts val="0"/>
              </a:spcAft>
              <a:defRPr sz="2300" b="1">
                <a:solidFill>
                  <a:srgbClr val="2C9B65"/>
                </a:solidFill>
                <a:latin typeface="Aptos"/>
              </a:defRPr>
            </a:pPr>
            <a:r>
              <a:rPr/>
              <a:t>Sur disque</a:t>
            </a:r>
            <a:endParaRPr/>
          </a:p>
        </p:txBody>
      </p:sp>
      <p:sp>
        <p:nvSpPr>
          <p:cNvPr id="1333058736" name="Rounded Rectangle 14"/>
          <p:cNvSpPr/>
          <p:nvPr/>
        </p:nvSpPr>
        <p:spPr bwMode="auto">
          <a:xfrm>
            <a:off x="960120" y="3255264"/>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4262942" name="TextBox 15"/>
          <p:cNvSpPr txBox="1"/>
          <p:nvPr/>
        </p:nvSpPr>
        <p:spPr bwMode="auto">
          <a:xfrm>
            <a:off x="1069848" y="336499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317AB5"/>
                </a:solidFill>
                <a:latin typeface="Aptos"/>
              </a:defRPr>
            </a:pPr>
            <a:r>
              <a:rPr/>
              <a:t>Objet Java</a:t>
            </a:r>
            <a:endParaRPr/>
          </a:p>
        </p:txBody>
      </p:sp>
      <p:cxnSp>
        <p:nvCxnSpPr>
          <p:cNvPr id="1073608881" name="Connector 16"/>
          <p:cNvCxnSpPr/>
          <p:nvPr/>
        </p:nvCxnSpPr>
        <p:spPr bwMode="auto">
          <a:xfrm>
            <a:off x="3191256" y="3721608"/>
            <a:ext cx="0" cy="146304"/>
          </a:xfrm>
          <a:prstGeom prst="line">
            <a:avLst/>
          </a:prstGeom>
          <a:ln w="1651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566010651" name="Rounded Rectangle 17"/>
          <p:cNvSpPr/>
          <p:nvPr/>
        </p:nvSpPr>
        <p:spPr bwMode="auto">
          <a:xfrm>
            <a:off x="960120" y="3895343"/>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5954140" name="TextBox 18"/>
          <p:cNvSpPr txBox="1"/>
          <p:nvPr/>
        </p:nvSpPr>
        <p:spPr bwMode="auto">
          <a:xfrm>
            <a:off x="1069848" y="400507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317AB5"/>
                </a:solidFill>
                <a:latin typeface="Aptos"/>
              </a:defRPr>
            </a:pPr>
            <a:r>
              <a:rPr/>
              <a:t>Fin du processus</a:t>
            </a:r>
            <a:endParaRPr/>
          </a:p>
        </p:txBody>
      </p:sp>
      <p:cxnSp>
        <p:nvCxnSpPr>
          <p:cNvPr id="1110151694" name="Connector 19"/>
          <p:cNvCxnSpPr/>
          <p:nvPr/>
        </p:nvCxnSpPr>
        <p:spPr bwMode="auto">
          <a:xfrm>
            <a:off x="3191256" y="4361688"/>
            <a:ext cx="0" cy="146304"/>
          </a:xfrm>
          <a:prstGeom prst="line">
            <a:avLst/>
          </a:prstGeom>
          <a:ln w="1651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373131804" name="Rounded Rectangle 20"/>
          <p:cNvSpPr/>
          <p:nvPr/>
        </p:nvSpPr>
        <p:spPr bwMode="auto">
          <a:xfrm>
            <a:off x="960120" y="4535424"/>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4278909" name="TextBox 21"/>
          <p:cNvSpPr txBox="1"/>
          <p:nvPr/>
        </p:nvSpPr>
        <p:spPr bwMode="auto">
          <a:xfrm>
            <a:off x="1069848" y="464515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317AB5"/>
                </a:solidFill>
                <a:latin typeface="Aptos"/>
              </a:defRPr>
            </a:pPr>
            <a:r>
              <a:rPr/>
              <a:t>Tâche perdue</a:t>
            </a:r>
            <a:endParaRPr/>
          </a:p>
        </p:txBody>
      </p:sp>
      <p:sp>
        <p:nvSpPr>
          <p:cNvPr id="1293756912" name="Rounded Rectangle 22"/>
          <p:cNvSpPr/>
          <p:nvPr/>
        </p:nvSpPr>
        <p:spPr bwMode="auto">
          <a:xfrm>
            <a:off x="6601968" y="3255264"/>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0713990" name="TextBox 23"/>
          <p:cNvSpPr txBox="1"/>
          <p:nvPr/>
        </p:nvSpPr>
        <p:spPr bwMode="auto">
          <a:xfrm>
            <a:off x="6711696" y="336499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Objet Java</a:t>
            </a:r>
            <a:endParaRPr/>
          </a:p>
        </p:txBody>
      </p:sp>
      <p:cxnSp>
        <p:nvCxnSpPr>
          <p:cNvPr id="610605201" name="Connector 24"/>
          <p:cNvCxnSpPr/>
          <p:nvPr/>
        </p:nvCxnSpPr>
        <p:spPr bwMode="auto">
          <a:xfrm>
            <a:off x="8833104" y="3721608"/>
            <a:ext cx="0" cy="146304"/>
          </a:xfrm>
          <a:prstGeom prst="line">
            <a:avLst/>
          </a:prstGeom>
          <a:ln w="16510">
            <a:solidFill>
              <a:srgbClr val="2C9B65"/>
            </a:solidFill>
            <a:tailEnd type="triangle"/>
          </a:ln>
        </p:spPr>
        <p:style>
          <a:lnRef idx="2">
            <a:schemeClr val="accent1"/>
          </a:lnRef>
          <a:fillRef idx="0">
            <a:schemeClr val="accent1"/>
          </a:fillRef>
          <a:effectRef idx="1">
            <a:schemeClr val="accent1"/>
          </a:effectRef>
          <a:fontRef idx="minor">
            <a:schemeClr val="tx1"/>
          </a:fontRef>
        </p:style>
      </p:cxnSp>
      <p:sp>
        <p:nvSpPr>
          <p:cNvPr id="407151880" name="Rounded Rectangle 25"/>
          <p:cNvSpPr/>
          <p:nvPr/>
        </p:nvSpPr>
        <p:spPr bwMode="auto">
          <a:xfrm>
            <a:off x="6601968" y="3895343"/>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9519980" name="TextBox 26"/>
          <p:cNvSpPr txBox="1"/>
          <p:nvPr/>
        </p:nvSpPr>
        <p:spPr bwMode="auto">
          <a:xfrm>
            <a:off x="6711696" y="400507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SQLite : tasks.db</a:t>
            </a:r>
            <a:endParaRPr/>
          </a:p>
        </p:txBody>
      </p:sp>
      <p:cxnSp>
        <p:nvCxnSpPr>
          <p:cNvPr id="1187340104" name="Connector 27"/>
          <p:cNvCxnSpPr/>
          <p:nvPr/>
        </p:nvCxnSpPr>
        <p:spPr bwMode="auto">
          <a:xfrm>
            <a:off x="8833104" y="4361688"/>
            <a:ext cx="0" cy="146304"/>
          </a:xfrm>
          <a:prstGeom prst="line">
            <a:avLst/>
          </a:prstGeom>
          <a:ln w="16510">
            <a:solidFill>
              <a:srgbClr val="2C9B65"/>
            </a:solidFill>
            <a:tailEnd type="triangle"/>
          </a:ln>
        </p:spPr>
        <p:style>
          <a:lnRef idx="2">
            <a:schemeClr val="accent1"/>
          </a:lnRef>
          <a:fillRef idx="0">
            <a:schemeClr val="accent1"/>
          </a:fillRef>
          <a:effectRef idx="1">
            <a:schemeClr val="accent1"/>
          </a:effectRef>
          <a:fontRef idx="minor">
            <a:schemeClr val="tx1"/>
          </a:fontRef>
        </p:style>
      </p:cxnSp>
      <p:sp>
        <p:nvSpPr>
          <p:cNvPr id="1386412628" name="Rounded Rectangle 28"/>
          <p:cNvSpPr/>
          <p:nvPr/>
        </p:nvSpPr>
        <p:spPr bwMode="auto">
          <a:xfrm>
            <a:off x="6601968" y="4535424"/>
            <a:ext cx="447141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4897177" name="TextBox 29"/>
          <p:cNvSpPr txBox="1"/>
          <p:nvPr/>
        </p:nvSpPr>
        <p:spPr bwMode="auto">
          <a:xfrm>
            <a:off x="6711696" y="4645152"/>
            <a:ext cx="4251959"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Tâche retrouvée</a:t>
            </a:r>
            <a:endParaRPr/>
          </a:p>
        </p:txBody>
      </p:sp>
      <p:sp>
        <p:nvSpPr>
          <p:cNvPr id="421764894" name="TextBox 30"/>
          <p:cNvSpPr txBox="1"/>
          <p:nvPr/>
        </p:nvSpPr>
        <p:spPr bwMode="auto">
          <a:xfrm>
            <a:off x="914400" y="5806440"/>
            <a:ext cx="10424160" cy="365760"/>
          </a:xfrm>
          <a:prstGeom prst="rect">
            <a:avLst/>
          </a:prstGeom>
          <a:noFill/>
        </p:spPr>
        <p:txBody>
          <a:bodyPr wrap="square" lIns="18288" tIns="18288" rIns="18288" bIns="18288">
            <a:spAutoFit/>
          </a:bodyPr>
          <a:lstStyle/>
          <a:p>
            <a:pPr algn="ctr">
              <a:spcBef>
                <a:spcPts val="0"/>
              </a:spcBef>
              <a:spcAft>
                <a:spcPts val="0"/>
              </a:spcAft>
              <a:defRPr sz="1900" b="1">
                <a:solidFill>
                  <a:srgbClr val="176D70"/>
                </a:solidFill>
                <a:latin typeface="Aptos"/>
              </a:defRPr>
            </a:pPr>
            <a:r>
              <a:rPr/>
              <a:t>Persister = garder une information au-delà de l’exécution courante.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137245120"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Quatre durées de vie à distinguer</a:t>
            </a:r>
            <a:endParaRPr/>
          </a:p>
        </p:txBody>
      </p:sp>
      <p:sp>
        <p:nvSpPr>
          <p:cNvPr id="1071181096"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État de l’écran  ·  Donnée métier</a:t>
            </a:r>
            <a:endParaRPr sz="1600"/>
          </a:p>
        </p:txBody>
      </p:sp>
      <p:cxnSp>
        <p:nvCxnSpPr>
          <p:cNvPr id="356336485"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538389781"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1551742207"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342500876"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03</a:t>
            </a:r>
            <a:endParaRPr/>
          </a:p>
        </p:txBody>
      </p:sp>
      <p:sp>
        <p:nvSpPr>
          <p:cNvPr id="529525401" name="Rounded Rectangle 7"/>
          <p:cNvSpPr/>
          <p:nvPr/>
        </p:nvSpPr>
        <p:spPr bwMode="auto">
          <a:xfrm>
            <a:off x="2880360" y="1417320"/>
            <a:ext cx="1975104" cy="685800"/>
          </a:xfrm>
          <a:prstGeom prst="roundRect">
            <a:avLst>
              <a:gd name="adj" fmla="val 5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7957546" name="TextBox 8"/>
          <p:cNvSpPr txBox="1"/>
          <p:nvPr/>
        </p:nvSpPr>
        <p:spPr bwMode="auto">
          <a:xfrm>
            <a:off x="2953512" y="1600200"/>
            <a:ext cx="1829519" cy="311255"/>
          </a:xfrm>
          <a:prstGeom prst="rect">
            <a:avLst/>
          </a:prstGeom>
          <a:noFill/>
        </p:spPr>
        <p:txBody>
          <a:bodyPr wrap="square" lIns="18288" tIns="18288" rIns="18288" bIns="18288">
            <a:spAutoFit/>
          </a:bodyPr>
          <a:lstStyle/>
          <a:p>
            <a:pPr algn="ctr">
              <a:spcBef>
                <a:spcPts val="0"/>
              </a:spcBef>
              <a:spcAft>
                <a:spcPts val="0"/>
              </a:spcAft>
              <a:defRPr sz="1400" b="1">
                <a:solidFill>
                  <a:srgbClr val="FFFFFF"/>
                </a:solidFill>
                <a:latin typeface="Aptos"/>
              </a:defRPr>
            </a:pPr>
            <a:r>
              <a:rPr sz="1800"/>
              <a:t>Rotation</a:t>
            </a:r>
            <a:endParaRPr sz="1800"/>
          </a:p>
        </p:txBody>
      </p:sp>
      <p:sp>
        <p:nvSpPr>
          <p:cNvPr id="1305236721" name="Rounded Rectangle 9"/>
          <p:cNvSpPr/>
          <p:nvPr/>
        </p:nvSpPr>
        <p:spPr bwMode="auto">
          <a:xfrm>
            <a:off x="5010912" y="1417320"/>
            <a:ext cx="1975104" cy="685800"/>
          </a:xfrm>
          <a:prstGeom prst="roundRect">
            <a:avLst>
              <a:gd name="adj" fmla="val 5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4135235" name="TextBox 10"/>
          <p:cNvSpPr txBox="1"/>
          <p:nvPr/>
        </p:nvSpPr>
        <p:spPr bwMode="auto">
          <a:xfrm>
            <a:off x="5084063" y="1600200"/>
            <a:ext cx="1829519" cy="311255"/>
          </a:xfrm>
          <a:prstGeom prst="rect">
            <a:avLst/>
          </a:prstGeom>
          <a:noFill/>
        </p:spPr>
        <p:txBody>
          <a:bodyPr wrap="square" lIns="18288" tIns="18288" rIns="18288" bIns="18288">
            <a:spAutoFit/>
          </a:bodyPr>
          <a:lstStyle/>
          <a:p>
            <a:pPr algn="ctr">
              <a:spcBef>
                <a:spcPts val="0"/>
              </a:spcBef>
              <a:spcAft>
                <a:spcPts val="0"/>
              </a:spcAft>
              <a:defRPr sz="1400" b="1">
                <a:solidFill>
                  <a:srgbClr val="FFFFFF"/>
                </a:solidFill>
                <a:latin typeface="Aptos"/>
              </a:defRPr>
            </a:pPr>
            <a:r>
              <a:rPr sz="1800"/>
              <a:t>Processus tué¹</a:t>
            </a:r>
            <a:endParaRPr sz="1800"/>
          </a:p>
        </p:txBody>
      </p:sp>
      <p:sp>
        <p:nvSpPr>
          <p:cNvPr id="1650248047" name="Rounded Rectangle 11"/>
          <p:cNvSpPr/>
          <p:nvPr/>
        </p:nvSpPr>
        <p:spPr bwMode="auto">
          <a:xfrm>
            <a:off x="7132320" y="1417320"/>
            <a:ext cx="1975104" cy="685800"/>
          </a:xfrm>
          <a:prstGeom prst="roundRect">
            <a:avLst>
              <a:gd name="adj" fmla="val 5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3162459" name="TextBox 12"/>
          <p:cNvSpPr txBox="1"/>
          <p:nvPr/>
        </p:nvSpPr>
        <p:spPr bwMode="auto">
          <a:xfrm>
            <a:off x="7205471" y="1499616"/>
            <a:ext cx="1828800" cy="530352"/>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Relance normale</a:t>
            </a:r>
            <a:br>
              <a:rPr/>
            </a:br>
            <a:r>
              <a:rPr/>
              <a:t>de l’app</a:t>
            </a:r>
            <a:endParaRPr sz="1800"/>
          </a:p>
        </p:txBody>
      </p:sp>
      <p:sp>
        <p:nvSpPr>
          <p:cNvPr id="17800238" name="Rounded Rectangle 13"/>
          <p:cNvSpPr/>
          <p:nvPr/>
        </p:nvSpPr>
        <p:spPr bwMode="auto">
          <a:xfrm>
            <a:off x="9253728" y="1417320"/>
            <a:ext cx="1975104" cy="685800"/>
          </a:xfrm>
          <a:prstGeom prst="roundRect">
            <a:avLst>
              <a:gd name="adj" fmla="val 5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861761" name="TextBox 14"/>
          <p:cNvSpPr txBox="1"/>
          <p:nvPr/>
        </p:nvSpPr>
        <p:spPr bwMode="auto">
          <a:xfrm>
            <a:off x="9308591" y="1463040"/>
            <a:ext cx="1829519" cy="585575"/>
          </a:xfrm>
          <a:prstGeom prst="rect">
            <a:avLst/>
          </a:prstGeom>
          <a:noFill/>
        </p:spPr>
        <p:txBody>
          <a:bodyPr wrap="square" lIns="18288" tIns="18288" rIns="18288" bIns="18288">
            <a:spAutoFit/>
          </a:bodyPr>
          <a:lstStyle/>
          <a:p>
            <a:pPr algn="ctr">
              <a:spcBef>
                <a:spcPts val="0"/>
              </a:spcBef>
              <a:spcAft>
                <a:spcPts val="0"/>
              </a:spcAft>
              <a:defRPr sz="1400" b="1">
                <a:solidFill>
                  <a:srgbClr val="FFFFFF"/>
                </a:solidFill>
                <a:latin typeface="Aptos"/>
              </a:defRPr>
            </a:pPr>
            <a:r>
              <a:rPr sz="1800"/>
              <a:t>Téléphone redémarré</a:t>
            </a:r>
            <a:endParaRPr sz="1800"/>
          </a:p>
        </p:txBody>
      </p:sp>
      <p:sp>
        <p:nvSpPr>
          <p:cNvPr id="789715783" name="Rounded Rectangle 15"/>
          <p:cNvSpPr/>
          <p:nvPr/>
        </p:nvSpPr>
        <p:spPr bwMode="auto">
          <a:xfrm>
            <a:off x="731520" y="2258568"/>
            <a:ext cx="2011680" cy="722376"/>
          </a:xfrm>
          <a:prstGeom prst="roundRect">
            <a:avLst>
              <a:gd name="adj" fmla="val 5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245819" name="TextBox 16"/>
          <p:cNvSpPr txBox="1"/>
          <p:nvPr/>
        </p:nvSpPr>
        <p:spPr bwMode="auto">
          <a:xfrm>
            <a:off x="859536" y="2345436"/>
            <a:ext cx="1746504" cy="649224"/>
          </a:xfrm>
          <a:prstGeom prst="rect">
            <a:avLst/>
          </a:prstGeom>
          <a:noFill/>
        </p:spPr>
        <p:txBody>
          <a:bodyPr wrap="square" lIns="0" tIns="0" rIns="0" bIns="0">
            <a:spAutoFit/>
          </a:bodyPr>
          <a:lstStyle/>
          <a:p>
            <a:pPr>
              <a:spcBef>
                <a:spcPts val="0"/>
              </a:spcBef>
              <a:spcAft>
                <a:spcPts val="0"/>
              </a:spcAft>
              <a:defRPr sz="1500" b="1">
                <a:solidFill>
                  <a:srgbClr val="FFFFFF"/>
                </a:solidFill>
                <a:latin typeface="Aptos"/>
              </a:defRPr>
            </a:pPr>
            <a:r>
              <a:rPr sz="1500" b="1">
                <a:solidFill>
                  <a:srgbClr val="FFFFFF"/>
                </a:solidFill>
                <a:latin typeface="Aptos"/>
              </a:rPr>
              <a:t>Variable locale</a:t>
            </a:r>
            <a:endParaRPr/>
          </a:p>
          <a:p>
            <a:pPr>
              <a:spcBef>
                <a:spcPts val="0"/>
              </a:spcBef>
              <a:spcAft>
                <a:spcPts val="0"/>
              </a:spcAft>
              <a:defRPr/>
            </a:pPr>
            <a:r>
              <a:rPr sz="1050" b="0">
                <a:solidFill>
                  <a:srgbClr val="FFFFFF"/>
                </a:solidFill>
                <a:latin typeface="Aptos"/>
              </a:rPr>
              <a:t>mémoire temporaire</a:t>
            </a:r>
            <a:endParaRPr/>
          </a:p>
        </p:txBody>
      </p:sp>
      <p:sp>
        <p:nvSpPr>
          <p:cNvPr id="350249004" name="Rounded Rectangle 17"/>
          <p:cNvSpPr/>
          <p:nvPr/>
        </p:nvSpPr>
        <p:spPr bwMode="auto">
          <a:xfrm>
            <a:off x="2880360" y="225856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0318852" name="TextBox 18"/>
          <p:cNvSpPr txBox="1"/>
          <p:nvPr/>
        </p:nvSpPr>
        <p:spPr bwMode="auto">
          <a:xfrm>
            <a:off x="2935224" y="2446019"/>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129972350" name="Rounded Rectangle 19"/>
          <p:cNvSpPr/>
          <p:nvPr/>
        </p:nvSpPr>
        <p:spPr bwMode="auto">
          <a:xfrm>
            <a:off x="5010912" y="225856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5117884" name="TextBox 20"/>
          <p:cNvSpPr txBox="1"/>
          <p:nvPr/>
        </p:nvSpPr>
        <p:spPr bwMode="auto">
          <a:xfrm>
            <a:off x="5065776" y="2446019"/>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1645448969" name="Rounded Rectangle 21"/>
          <p:cNvSpPr/>
          <p:nvPr/>
        </p:nvSpPr>
        <p:spPr bwMode="auto">
          <a:xfrm>
            <a:off x="7132320" y="225856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9772044" name="TextBox 22"/>
          <p:cNvSpPr txBox="1"/>
          <p:nvPr/>
        </p:nvSpPr>
        <p:spPr bwMode="auto">
          <a:xfrm>
            <a:off x="7187183" y="2446019"/>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1263963365" name="Rounded Rectangle 23"/>
          <p:cNvSpPr/>
          <p:nvPr/>
        </p:nvSpPr>
        <p:spPr bwMode="auto">
          <a:xfrm>
            <a:off x="9253728" y="225856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4585033" name="TextBox 24"/>
          <p:cNvSpPr txBox="1"/>
          <p:nvPr/>
        </p:nvSpPr>
        <p:spPr bwMode="auto">
          <a:xfrm>
            <a:off x="9308592" y="2446019"/>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1952329146" name="Rounded Rectangle 25"/>
          <p:cNvSpPr/>
          <p:nvPr/>
        </p:nvSpPr>
        <p:spPr bwMode="auto">
          <a:xfrm>
            <a:off x="731520" y="3035808"/>
            <a:ext cx="2011680" cy="722376"/>
          </a:xfrm>
          <a:prstGeom prst="roundRect">
            <a:avLst>
              <a:gd name="adj" fmla="val 5000"/>
            </a:avLst>
          </a:prstGeom>
          <a:solidFill>
            <a:srgbClr val="6A60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8759869" name="TextBox 26"/>
          <p:cNvSpPr txBox="1"/>
          <p:nvPr/>
        </p:nvSpPr>
        <p:spPr bwMode="auto">
          <a:xfrm>
            <a:off x="859536" y="3122676"/>
            <a:ext cx="1746504" cy="649224"/>
          </a:xfrm>
          <a:prstGeom prst="rect">
            <a:avLst/>
          </a:prstGeom>
          <a:noFill/>
        </p:spPr>
        <p:txBody>
          <a:bodyPr wrap="square" lIns="0" tIns="0" rIns="0" bIns="0">
            <a:spAutoFit/>
          </a:bodyPr>
          <a:lstStyle/>
          <a:p>
            <a:pPr>
              <a:spcBef>
                <a:spcPts val="0"/>
              </a:spcBef>
              <a:spcAft>
                <a:spcPts val="0"/>
              </a:spcAft>
              <a:defRPr sz="1500" b="1">
                <a:solidFill>
                  <a:srgbClr val="FFFFFF"/>
                </a:solidFill>
                <a:latin typeface="Aptos"/>
              </a:defRPr>
            </a:pPr>
            <a:r>
              <a:rPr sz="1500" b="1">
                <a:solidFill>
                  <a:srgbClr val="FFFFFF"/>
                </a:solidFill>
                <a:latin typeface="Aptos"/>
              </a:rPr>
              <a:t>ViewModel</a:t>
            </a:r>
            <a:endParaRPr/>
          </a:p>
          <a:p>
            <a:pPr>
              <a:spcBef>
                <a:spcPts val="0"/>
              </a:spcBef>
              <a:spcAft>
                <a:spcPts val="0"/>
              </a:spcAft>
              <a:defRPr/>
            </a:pPr>
            <a:r>
              <a:rPr sz="1000" b="0">
                <a:solidFill>
                  <a:srgbClr val="FFFFFF"/>
                </a:solidFill>
                <a:latin typeface="Aptos"/>
              </a:rPr>
              <a:t>changements de configuration</a:t>
            </a:r>
            <a:endParaRPr/>
          </a:p>
        </p:txBody>
      </p:sp>
      <p:sp>
        <p:nvSpPr>
          <p:cNvPr id="2049991035" name="Rounded Rectangle 27"/>
          <p:cNvSpPr/>
          <p:nvPr/>
        </p:nvSpPr>
        <p:spPr bwMode="auto">
          <a:xfrm>
            <a:off x="2880360" y="303580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9823900" name="TextBox 28"/>
          <p:cNvSpPr txBox="1"/>
          <p:nvPr/>
        </p:nvSpPr>
        <p:spPr bwMode="auto">
          <a:xfrm>
            <a:off x="2935224" y="322326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6A60AC"/>
                </a:solidFill>
                <a:latin typeface="Aptos"/>
              </a:defRPr>
            </a:pPr>
            <a:r>
              <a:rPr/>
              <a:t>OUI</a:t>
            </a:r>
            <a:endParaRPr/>
          </a:p>
        </p:txBody>
      </p:sp>
      <p:sp>
        <p:nvSpPr>
          <p:cNvPr id="304969951" name="Rounded Rectangle 29"/>
          <p:cNvSpPr/>
          <p:nvPr/>
        </p:nvSpPr>
        <p:spPr bwMode="auto">
          <a:xfrm>
            <a:off x="5010912" y="303580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3329438" name="TextBox 30"/>
          <p:cNvSpPr txBox="1"/>
          <p:nvPr/>
        </p:nvSpPr>
        <p:spPr bwMode="auto">
          <a:xfrm>
            <a:off x="5065776" y="322326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942260248" name="Rounded Rectangle 31"/>
          <p:cNvSpPr/>
          <p:nvPr/>
        </p:nvSpPr>
        <p:spPr bwMode="auto">
          <a:xfrm>
            <a:off x="7132320" y="303580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2439593" name="TextBox 32"/>
          <p:cNvSpPr txBox="1"/>
          <p:nvPr/>
        </p:nvSpPr>
        <p:spPr bwMode="auto">
          <a:xfrm>
            <a:off x="7187183" y="322326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346018938" name="Rounded Rectangle 33"/>
          <p:cNvSpPr/>
          <p:nvPr/>
        </p:nvSpPr>
        <p:spPr bwMode="auto">
          <a:xfrm>
            <a:off x="9253728" y="303580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7837773" name="TextBox 34"/>
          <p:cNvSpPr txBox="1"/>
          <p:nvPr/>
        </p:nvSpPr>
        <p:spPr bwMode="auto">
          <a:xfrm>
            <a:off x="9308592" y="322326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318985786" name="Rounded Rectangle 35"/>
          <p:cNvSpPr/>
          <p:nvPr/>
        </p:nvSpPr>
        <p:spPr bwMode="auto">
          <a:xfrm>
            <a:off x="731520" y="3813048"/>
            <a:ext cx="2011680" cy="722376"/>
          </a:xfrm>
          <a:prstGeom prst="roundRect">
            <a:avLst>
              <a:gd name="adj" fmla="val 5000"/>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126842" name="TextBox 36"/>
          <p:cNvSpPr txBox="1"/>
          <p:nvPr/>
        </p:nvSpPr>
        <p:spPr bwMode="auto">
          <a:xfrm>
            <a:off x="859536" y="3899915"/>
            <a:ext cx="1746504" cy="649224"/>
          </a:xfrm>
          <a:prstGeom prst="rect">
            <a:avLst/>
          </a:prstGeom>
          <a:noFill/>
        </p:spPr>
        <p:txBody>
          <a:bodyPr wrap="square" lIns="0" tIns="0" rIns="0" bIns="0">
            <a:spAutoFit/>
          </a:bodyPr>
          <a:lstStyle/>
          <a:p>
            <a:pPr>
              <a:spcBef>
                <a:spcPts val="0"/>
              </a:spcBef>
              <a:spcAft>
                <a:spcPts val="0"/>
              </a:spcAft>
              <a:defRPr sz="1500" b="1">
                <a:solidFill>
                  <a:srgbClr val="FFFFFF"/>
                </a:solidFill>
                <a:latin typeface="Aptos"/>
              </a:defRPr>
            </a:pPr>
            <a:r>
              <a:rPr sz="1450" b="1">
                <a:solidFill>
                  <a:srgbClr val="FFFFFF"/>
                </a:solidFill>
                <a:latin typeface="Aptos"/>
              </a:rPr>
              <a:t>SavedStateHandle</a:t>
            </a:r>
            <a:endParaRPr/>
          </a:p>
          <a:p>
            <a:pPr>
              <a:spcBef>
                <a:spcPts val="0"/>
              </a:spcBef>
              <a:spcAft>
                <a:spcPts val="0"/>
              </a:spcAft>
              <a:defRPr/>
            </a:pPr>
            <a:r>
              <a:rPr sz="1000" b="0">
                <a:solidFill>
                  <a:srgbClr val="FFFFFF"/>
                </a:solidFill>
                <a:latin typeface="Aptos"/>
              </a:rPr>
              <a:t>petit état UI restaurable</a:t>
            </a:r>
            <a:endParaRPr/>
          </a:p>
        </p:txBody>
      </p:sp>
      <p:sp>
        <p:nvSpPr>
          <p:cNvPr id="491527560" name="Rounded Rectangle 37"/>
          <p:cNvSpPr/>
          <p:nvPr/>
        </p:nvSpPr>
        <p:spPr bwMode="auto">
          <a:xfrm>
            <a:off x="2880360" y="381304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74874673" name="TextBox 38"/>
          <p:cNvSpPr txBox="1"/>
          <p:nvPr/>
        </p:nvSpPr>
        <p:spPr bwMode="auto">
          <a:xfrm>
            <a:off x="2935224" y="400050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C68532"/>
                </a:solidFill>
                <a:latin typeface="Aptos"/>
              </a:defRPr>
            </a:pPr>
            <a:r>
              <a:rPr/>
              <a:t>OUI</a:t>
            </a:r>
            <a:endParaRPr/>
          </a:p>
        </p:txBody>
      </p:sp>
      <p:sp>
        <p:nvSpPr>
          <p:cNvPr id="1144986483" name="Rounded Rectangle 39"/>
          <p:cNvSpPr/>
          <p:nvPr/>
        </p:nvSpPr>
        <p:spPr bwMode="auto">
          <a:xfrm>
            <a:off x="5010912" y="381304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7686803" name="TextBox 40"/>
          <p:cNvSpPr txBox="1"/>
          <p:nvPr/>
        </p:nvSpPr>
        <p:spPr bwMode="auto">
          <a:xfrm>
            <a:off x="5065776" y="400050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C68532"/>
                </a:solidFill>
                <a:latin typeface="Aptos"/>
              </a:defRPr>
            </a:pPr>
            <a:r>
              <a:rPr/>
              <a:t>CONDITION²</a:t>
            </a:r>
            <a:endParaRPr/>
          </a:p>
        </p:txBody>
      </p:sp>
      <p:sp>
        <p:nvSpPr>
          <p:cNvPr id="853461445" name="Rounded Rectangle 41"/>
          <p:cNvSpPr/>
          <p:nvPr/>
        </p:nvSpPr>
        <p:spPr bwMode="auto">
          <a:xfrm>
            <a:off x="7132320" y="381304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4437779" name="TextBox 42"/>
          <p:cNvSpPr txBox="1"/>
          <p:nvPr/>
        </p:nvSpPr>
        <p:spPr bwMode="auto">
          <a:xfrm>
            <a:off x="7187183" y="400050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1162564474" name="Rounded Rectangle 43"/>
          <p:cNvSpPr/>
          <p:nvPr/>
        </p:nvSpPr>
        <p:spPr bwMode="auto">
          <a:xfrm>
            <a:off x="9253728" y="381304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2138667" name="TextBox 44"/>
          <p:cNvSpPr txBox="1"/>
          <p:nvPr/>
        </p:nvSpPr>
        <p:spPr bwMode="auto">
          <a:xfrm>
            <a:off x="9308592" y="400050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53666D"/>
                </a:solidFill>
                <a:latin typeface="Aptos"/>
              </a:defRPr>
            </a:pPr>
            <a:r>
              <a:rPr/>
              <a:t>NON</a:t>
            </a:r>
            <a:endParaRPr/>
          </a:p>
        </p:txBody>
      </p:sp>
      <p:sp>
        <p:nvSpPr>
          <p:cNvPr id="865883372" name="Rounded Rectangle 45"/>
          <p:cNvSpPr/>
          <p:nvPr/>
        </p:nvSpPr>
        <p:spPr bwMode="auto">
          <a:xfrm>
            <a:off x="731520" y="4590288"/>
            <a:ext cx="2011680" cy="722376"/>
          </a:xfrm>
          <a:prstGeom prst="roundRect">
            <a:avLst>
              <a:gd name="adj" fmla="val 5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4870919" name="TextBox 46"/>
          <p:cNvSpPr txBox="1"/>
          <p:nvPr/>
        </p:nvSpPr>
        <p:spPr bwMode="auto">
          <a:xfrm>
            <a:off x="859536" y="4634179"/>
            <a:ext cx="1746504" cy="649224"/>
          </a:xfrm>
          <a:prstGeom prst="rect">
            <a:avLst/>
          </a:prstGeom>
          <a:noFill/>
        </p:spPr>
        <p:txBody>
          <a:bodyPr wrap="square" lIns="0" tIns="0" rIns="0" bIns="0">
            <a:spAutoFit/>
          </a:bodyPr>
          <a:lstStyle/>
          <a:p>
            <a:pPr>
              <a:spcBef>
                <a:spcPts val="0"/>
              </a:spcBef>
              <a:spcAft>
                <a:spcPts val="0"/>
              </a:spcAft>
              <a:defRPr sz="1500" b="1">
                <a:solidFill>
                  <a:srgbClr val="FFFFFF"/>
                </a:solidFill>
                <a:latin typeface="Aptos"/>
              </a:defRPr>
            </a:pPr>
            <a:r>
              <a:rPr sz="1300" b="1">
                <a:solidFill>
                  <a:srgbClr val="FFFFFF"/>
                </a:solidFill>
                <a:latin typeface="Aptos"/>
              </a:rPr>
              <a:t>Room / DataStore /</a:t>
            </a:r>
            <a:endParaRPr/>
          </a:p>
          <a:p>
            <a:pPr>
              <a:spcBef>
                <a:spcPts val="0"/>
              </a:spcBef>
              <a:spcAft>
                <a:spcPts val="0"/>
              </a:spcAft>
              <a:defRPr/>
            </a:pPr>
            <a:r>
              <a:rPr sz="1300" b="1">
                <a:solidFill>
                  <a:srgbClr val="FFFFFF"/>
                </a:solidFill>
                <a:latin typeface="Aptos"/>
              </a:rPr>
              <a:t>fichiers</a:t>
            </a:r>
            <a:endParaRPr/>
          </a:p>
          <a:p>
            <a:pPr>
              <a:spcBef>
                <a:spcPts val="0"/>
              </a:spcBef>
              <a:spcAft>
                <a:spcPts val="0"/>
              </a:spcAft>
              <a:defRPr/>
            </a:pPr>
            <a:r>
              <a:rPr sz="950" b="0">
                <a:solidFill>
                  <a:srgbClr val="FFFFFF"/>
                </a:solidFill>
                <a:latin typeface="Aptos"/>
              </a:rPr>
              <a:t>données durables</a:t>
            </a:r>
            <a:endParaRPr/>
          </a:p>
        </p:txBody>
      </p:sp>
      <p:sp>
        <p:nvSpPr>
          <p:cNvPr id="485480185" name="Rounded Rectangle 47"/>
          <p:cNvSpPr/>
          <p:nvPr/>
        </p:nvSpPr>
        <p:spPr bwMode="auto">
          <a:xfrm>
            <a:off x="2880360" y="459028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1785812" name="TextBox 48"/>
          <p:cNvSpPr txBox="1"/>
          <p:nvPr/>
        </p:nvSpPr>
        <p:spPr bwMode="auto">
          <a:xfrm>
            <a:off x="2935224" y="477774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176D70"/>
                </a:solidFill>
                <a:latin typeface="Aptos"/>
              </a:defRPr>
            </a:pPr>
            <a:r>
              <a:rPr/>
              <a:t>OUI</a:t>
            </a:r>
            <a:endParaRPr/>
          </a:p>
        </p:txBody>
      </p:sp>
      <p:sp>
        <p:nvSpPr>
          <p:cNvPr id="689008637" name="Rounded Rectangle 49"/>
          <p:cNvSpPr/>
          <p:nvPr/>
        </p:nvSpPr>
        <p:spPr bwMode="auto">
          <a:xfrm>
            <a:off x="5010912" y="459028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3684698" name="TextBox 50"/>
          <p:cNvSpPr txBox="1"/>
          <p:nvPr/>
        </p:nvSpPr>
        <p:spPr bwMode="auto">
          <a:xfrm>
            <a:off x="5065776" y="477774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176D70"/>
                </a:solidFill>
                <a:latin typeface="Aptos"/>
              </a:defRPr>
            </a:pPr>
            <a:r>
              <a:rPr/>
              <a:t>OUI</a:t>
            </a:r>
            <a:endParaRPr/>
          </a:p>
        </p:txBody>
      </p:sp>
      <p:sp>
        <p:nvSpPr>
          <p:cNvPr id="1722916531" name="Rounded Rectangle 51"/>
          <p:cNvSpPr/>
          <p:nvPr/>
        </p:nvSpPr>
        <p:spPr bwMode="auto">
          <a:xfrm>
            <a:off x="7132320" y="459028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1376808" name="TextBox 52"/>
          <p:cNvSpPr txBox="1"/>
          <p:nvPr/>
        </p:nvSpPr>
        <p:spPr bwMode="auto">
          <a:xfrm>
            <a:off x="7187183" y="477774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176D70"/>
                </a:solidFill>
                <a:latin typeface="Aptos"/>
              </a:defRPr>
            </a:pPr>
            <a:r>
              <a:rPr/>
              <a:t>OUI</a:t>
            </a:r>
            <a:endParaRPr/>
          </a:p>
        </p:txBody>
      </p:sp>
      <p:sp>
        <p:nvSpPr>
          <p:cNvPr id="1764837489" name="Rounded Rectangle 53"/>
          <p:cNvSpPr/>
          <p:nvPr/>
        </p:nvSpPr>
        <p:spPr bwMode="auto">
          <a:xfrm>
            <a:off x="9253728" y="4590288"/>
            <a:ext cx="1975104" cy="722376"/>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9340662" name="TextBox 54"/>
          <p:cNvSpPr txBox="1"/>
          <p:nvPr/>
        </p:nvSpPr>
        <p:spPr bwMode="auto">
          <a:xfrm>
            <a:off x="9308592" y="4777740"/>
            <a:ext cx="1865376" cy="347472"/>
          </a:xfrm>
          <a:prstGeom prst="rect">
            <a:avLst/>
          </a:prstGeom>
          <a:noFill/>
        </p:spPr>
        <p:txBody>
          <a:bodyPr wrap="square" lIns="18288" tIns="18288" rIns="18288" bIns="18288">
            <a:spAutoFit/>
          </a:bodyPr>
          <a:lstStyle/>
          <a:p>
            <a:pPr algn="ctr">
              <a:spcBef>
                <a:spcPts val="0"/>
              </a:spcBef>
              <a:spcAft>
                <a:spcPts val="0"/>
              </a:spcAft>
              <a:defRPr sz="1400" b="1">
                <a:solidFill>
                  <a:srgbClr val="176D70"/>
                </a:solidFill>
                <a:latin typeface="Aptos"/>
              </a:defRPr>
            </a:pPr>
            <a:r>
              <a:rPr/>
              <a:t>OUI</a:t>
            </a:r>
            <a:endParaRPr/>
          </a:p>
        </p:txBody>
      </p:sp>
      <p:sp>
        <p:nvSpPr>
          <p:cNvPr id="279050358" name="TextBox 55"/>
          <p:cNvSpPr txBox="1"/>
          <p:nvPr/>
        </p:nvSpPr>
        <p:spPr bwMode="auto">
          <a:xfrm>
            <a:off x="768096" y="6144768"/>
            <a:ext cx="10790640" cy="250295"/>
          </a:xfrm>
          <a:prstGeom prst="rect">
            <a:avLst/>
          </a:prstGeom>
          <a:noFill/>
        </p:spPr>
        <p:txBody>
          <a:bodyPr wrap="square" lIns="18288" tIns="18288" rIns="18288" bIns="18288">
            <a:spAutoFit/>
          </a:bodyPr>
          <a:lstStyle/>
          <a:p>
            <a:pPr>
              <a:spcBef>
                <a:spcPts val="0"/>
              </a:spcBef>
              <a:spcAft>
                <a:spcPts val="0"/>
              </a:spcAft>
              <a:defRPr sz="1100" b="0">
                <a:solidFill>
                  <a:srgbClr val="53666D"/>
                </a:solidFill>
                <a:latin typeface="Aptos"/>
              </a:defRPr>
            </a:pPr>
            <a:r>
              <a:rPr sz="1400"/>
              <a:t>¹ Processus détruit par le système.  ² Restauration possible si l’état Android associé a été sauvegardé.</a:t>
            </a:r>
            <a:endParaRPr sz="2000"/>
          </a:p>
        </p:txBody>
      </p:sp>
      <p:sp>
        <p:nvSpPr>
          <p:cNvPr id="1855145147" name="Rounded Rectangle 2128251418"/>
          <p:cNvSpPr/>
          <p:nvPr/>
        </p:nvSpPr>
        <p:spPr bwMode="auto">
          <a:xfrm>
            <a:off x="731520" y="5422392"/>
            <a:ext cx="3136392" cy="612648"/>
          </a:xfrm>
          <a:prstGeom prst="roundRect">
            <a:avLst>
              <a:gd name="adj" fmla="val 8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1313648" name="TextBox 2128251419"/>
          <p:cNvSpPr txBox="1"/>
          <p:nvPr/>
        </p:nvSpPr>
        <p:spPr bwMode="auto">
          <a:xfrm>
            <a:off x="850392" y="5477255"/>
            <a:ext cx="2917656" cy="262487"/>
          </a:xfrm>
          <a:prstGeom prst="rect">
            <a:avLst/>
          </a:prstGeom>
          <a:noFill/>
        </p:spPr>
        <p:txBody>
          <a:bodyPr wrap="square" lIns="27432" tIns="9144" rIns="27432" bIns="9144">
            <a:spAutoFit/>
          </a:bodyPr>
          <a:lstStyle/>
          <a:p>
            <a:pPr>
              <a:spcBef>
                <a:spcPts val="0"/>
              </a:spcBef>
              <a:spcAft>
                <a:spcPts val="0"/>
              </a:spcAft>
              <a:defRPr/>
            </a:pPr>
            <a:r>
              <a:rPr sz="1600" b="1">
                <a:solidFill>
                  <a:srgbClr val="6A60AC"/>
                </a:solidFill>
                <a:latin typeface="Aptos"/>
              </a:rPr>
              <a:t>ViewModel</a:t>
            </a:r>
            <a:endParaRPr sz="2200"/>
          </a:p>
        </p:txBody>
      </p:sp>
      <p:sp>
        <p:nvSpPr>
          <p:cNvPr id="11579500" name="TextBox 2128251420"/>
          <p:cNvSpPr txBox="1"/>
          <p:nvPr/>
        </p:nvSpPr>
        <p:spPr bwMode="auto">
          <a:xfrm>
            <a:off x="850392" y="5687568"/>
            <a:ext cx="2917656" cy="201527"/>
          </a:xfrm>
          <a:prstGeom prst="rect">
            <a:avLst/>
          </a:prstGeom>
          <a:noFill/>
        </p:spPr>
        <p:txBody>
          <a:bodyPr wrap="square" lIns="27432" tIns="9144" rIns="27432" bIns="9144">
            <a:spAutoFit/>
          </a:bodyPr>
          <a:lstStyle/>
          <a:p>
            <a:pPr>
              <a:spcBef>
                <a:spcPts val="0"/>
              </a:spcBef>
              <a:spcAft>
                <a:spcPts val="0"/>
              </a:spcAft>
              <a:defRPr/>
            </a:pPr>
            <a:r>
              <a:rPr sz="1200" b="0">
                <a:solidFill>
                  <a:srgbClr val="6A60AC"/>
                </a:solidFill>
                <a:latin typeface="Aptos"/>
              </a:rPr>
              <a:t>changements de configuration</a:t>
            </a:r>
            <a:endParaRPr sz="2200"/>
          </a:p>
        </p:txBody>
      </p:sp>
      <p:sp>
        <p:nvSpPr>
          <p:cNvPr id="585194013" name="Rounded Rectangle 2128251421"/>
          <p:cNvSpPr/>
          <p:nvPr/>
        </p:nvSpPr>
        <p:spPr bwMode="auto">
          <a:xfrm>
            <a:off x="4014215" y="5422392"/>
            <a:ext cx="3355848" cy="612648"/>
          </a:xfrm>
          <a:prstGeom prst="roundRect">
            <a:avLst>
              <a:gd name="adj" fmla="val 8000"/>
            </a:avLst>
          </a:prstGeom>
          <a:solidFill>
            <a:srgbClr val="FA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2890593" name="TextBox 2128251422"/>
          <p:cNvSpPr txBox="1"/>
          <p:nvPr/>
        </p:nvSpPr>
        <p:spPr bwMode="auto">
          <a:xfrm>
            <a:off x="4133086" y="5477255"/>
            <a:ext cx="3137110" cy="262487"/>
          </a:xfrm>
          <a:prstGeom prst="rect">
            <a:avLst/>
          </a:prstGeom>
          <a:noFill/>
        </p:spPr>
        <p:txBody>
          <a:bodyPr wrap="square" lIns="27432" tIns="9144" rIns="27432" bIns="9144">
            <a:spAutoFit/>
          </a:bodyPr>
          <a:lstStyle/>
          <a:p>
            <a:pPr>
              <a:spcBef>
                <a:spcPts val="0"/>
              </a:spcBef>
              <a:spcAft>
                <a:spcPts val="0"/>
              </a:spcAft>
              <a:defRPr/>
            </a:pPr>
            <a:r>
              <a:rPr sz="1600" b="1">
                <a:solidFill>
                  <a:srgbClr val="C68532"/>
                </a:solidFill>
                <a:latin typeface="Aptos"/>
              </a:rPr>
              <a:t>SavedStateHandle</a:t>
            </a:r>
            <a:endParaRPr sz="2200"/>
          </a:p>
        </p:txBody>
      </p:sp>
      <p:sp>
        <p:nvSpPr>
          <p:cNvPr id="2102002088" name="TextBox 2128251423"/>
          <p:cNvSpPr txBox="1"/>
          <p:nvPr/>
        </p:nvSpPr>
        <p:spPr bwMode="auto">
          <a:xfrm>
            <a:off x="4133086" y="5687568"/>
            <a:ext cx="3137110" cy="384408"/>
          </a:xfrm>
          <a:prstGeom prst="rect">
            <a:avLst/>
          </a:prstGeom>
          <a:noFill/>
        </p:spPr>
        <p:txBody>
          <a:bodyPr wrap="square" lIns="27432" tIns="9144" rIns="27432" bIns="9144">
            <a:spAutoFit/>
          </a:bodyPr>
          <a:lstStyle/>
          <a:p>
            <a:pPr>
              <a:spcBef>
                <a:spcPts val="0"/>
              </a:spcBef>
              <a:spcAft>
                <a:spcPts val="0"/>
              </a:spcAft>
              <a:defRPr/>
            </a:pPr>
            <a:r>
              <a:rPr sz="1200" b="0">
                <a:solidFill>
                  <a:srgbClr val="C68532"/>
                </a:solidFill>
                <a:latin typeface="Aptos"/>
              </a:rPr>
              <a:t>petit état UI restauré après</a:t>
            </a:r>
            <a:endParaRPr sz="2200"/>
          </a:p>
          <a:p>
            <a:pPr>
              <a:spcBef>
                <a:spcPts val="0"/>
              </a:spcBef>
              <a:spcAft>
                <a:spcPts val="0"/>
              </a:spcAft>
              <a:defRPr/>
            </a:pPr>
            <a:r>
              <a:rPr sz="1200" b="0">
                <a:solidFill>
                  <a:srgbClr val="C68532"/>
                </a:solidFill>
                <a:latin typeface="Aptos"/>
              </a:rPr>
              <a:t>recréation par Android</a:t>
            </a:r>
            <a:endParaRPr sz="2200"/>
          </a:p>
        </p:txBody>
      </p:sp>
      <p:sp>
        <p:nvSpPr>
          <p:cNvPr id="1163856896" name="Rounded Rectangle 2128251424"/>
          <p:cNvSpPr/>
          <p:nvPr/>
        </p:nvSpPr>
        <p:spPr bwMode="auto">
          <a:xfrm>
            <a:off x="7525512" y="5422392"/>
            <a:ext cx="3712463" cy="612648"/>
          </a:xfrm>
          <a:prstGeom prst="roundRect">
            <a:avLst>
              <a:gd name="adj" fmla="val 8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4911090" name="TextBox 2128251425"/>
          <p:cNvSpPr txBox="1"/>
          <p:nvPr/>
        </p:nvSpPr>
        <p:spPr bwMode="auto">
          <a:xfrm>
            <a:off x="7644384" y="5477255"/>
            <a:ext cx="3493726" cy="262487"/>
          </a:xfrm>
          <a:prstGeom prst="rect">
            <a:avLst/>
          </a:prstGeom>
          <a:noFill/>
        </p:spPr>
        <p:txBody>
          <a:bodyPr wrap="square" lIns="27432" tIns="9144" rIns="27432" bIns="9144">
            <a:spAutoFit/>
          </a:bodyPr>
          <a:lstStyle/>
          <a:p>
            <a:pPr>
              <a:spcBef>
                <a:spcPts val="0"/>
              </a:spcBef>
              <a:spcAft>
                <a:spcPts val="0"/>
              </a:spcAft>
              <a:defRPr/>
            </a:pPr>
            <a:r>
              <a:rPr sz="1600" b="1">
                <a:solidFill>
                  <a:srgbClr val="176D70"/>
                </a:solidFill>
                <a:latin typeface="Aptos"/>
              </a:rPr>
              <a:t>Room / DataStore / fichiers</a:t>
            </a:r>
            <a:endParaRPr sz="2200"/>
          </a:p>
        </p:txBody>
      </p:sp>
      <p:sp>
        <p:nvSpPr>
          <p:cNvPr id="1403882547" name="TextBox 2128251426"/>
          <p:cNvSpPr txBox="1"/>
          <p:nvPr/>
        </p:nvSpPr>
        <p:spPr bwMode="auto">
          <a:xfrm>
            <a:off x="7644384" y="5687568"/>
            <a:ext cx="3493726" cy="201527"/>
          </a:xfrm>
          <a:prstGeom prst="rect">
            <a:avLst/>
          </a:prstGeom>
          <a:noFill/>
        </p:spPr>
        <p:txBody>
          <a:bodyPr wrap="square" lIns="27432" tIns="9144" rIns="27432" bIns="9144">
            <a:spAutoFit/>
          </a:bodyPr>
          <a:lstStyle/>
          <a:p>
            <a:pPr>
              <a:spcBef>
                <a:spcPts val="0"/>
              </a:spcBef>
              <a:spcAft>
                <a:spcPts val="0"/>
              </a:spcAft>
              <a:defRPr/>
            </a:pPr>
            <a:r>
              <a:rPr sz="1200" b="0">
                <a:solidFill>
                  <a:srgbClr val="176D70"/>
                </a:solidFill>
                <a:latin typeface="Aptos"/>
              </a:rPr>
              <a:t>données durables de l’application</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867865641"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Le type de donnée guide le stockage</a:t>
            </a:r>
            <a:endParaRPr/>
          </a:p>
        </p:txBody>
      </p:sp>
      <p:sp>
        <p:nvSpPr>
          <p:cNvPr id="1882816393"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La question à poser avant de choisir une API</a:t>
            </a:r>
            <a:endParaRPr sz="1600"/>
          </a:p>
        </p:txBody>
      </p:sp>
      <p:cxnSp>
        <p:nvCxnSpPr>
          <p:cNvPr id="1407192894"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46036208"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1020125188"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488788713"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04</a:t>
            </a:r>
            <a:endParaRPr/>
          </a:p>
        </p:txBody>
      </p:sp>
      <p:sp>
        <p:nvSpPr>
          <p:cNvPr id="33283052" name="Rounded Rectangle 7"/>
          <p:cNvSpPr/>
          <p:nvPr/>
        </p:nvSpPr>
        <p:spPr bwMode="auto">
          <a:xfrm>
            <a:off x="758952" y="1399032"/>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8941179" name="TextBox 8"/>
          <p:cNvSpPr txBox="1"/>
          <p:nvPr/>
        </p:nvSpPr>
        <p:spPr bwMode="auto">
          <a:xfrm>
            <a:off x="923544" y="1536192"/>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État d’écran bref</a:t>
            </a:r>
            <a:endParaRPr/>
          </a:p>
        </p:txBody>
      </p:sp>
      <p:sp>
        <p:nvSpPr>
          <p:cNvPr id="310181501" name="Rounded Rectangle 9"/>
          <p:cNvSpPr/>
          <p:nvPr/>
        </p:nvSpPr>
        <p:spPr bwMode="auto">
          <a:xfrm>
            <a:off x="4005072" y="1399032"/>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66365882" name="TextBox 10"/>
          <p:cNvSpPr txBox="1"/>
          <p:nvPr/>
        </p:nvSpPr>
        <p:spPr bwMode="auto">
          <a:xfrm>
            <a:off x="4169663" y="1554480"/>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recherche courante</a:t>
            </a:r>
            <a:endParaRPr/>
          </a:p>
        </p:txBody>
      </p:sp>
      <p:cxnSp>
        <p:nvCxnSpPr>
          <p:cNvPr id="2070326317" name="Connector 11"/>
          <p:cNvCxnSpPr/>
          <p:nvPr/>
        </p:nvCxnSpPr>
        <p:spPr bwMode="auto">
          <a:xfrm>
            <a:off x="7050024" y="1691640"/>
            <a:ext cx="292607" cy="0"/>
          </a:xfrm>
          <a:prstGeom prst="line">
            <a:avLst/>
          </a:prstGeom>
          <a:ln w="25400">
            <a:solidFill>
              <a:srgbClr val="6A60AC"/>
            </a:solidFill>
            <a:tailEnd type="triangle"/>
          </a:ln>
        </p:spPr>
        <p:style>
          <a:lnRef idx="2">
            <a:schemeClr val="accent1"/>
          </a:lnRef>
          <a:fillRef idx="0">
            <a:schemeClr val="accent1"/>
          </a:fillRef>
          <a:effectRef idx="1">
            <a:schemeClr val="accent1"/>
          </a:effectRef>
          <a:fontRef idx="minor">
            <a:schemeClr val="tx1"/>
          </a:fontRef>
        </p:style>
      </p:cxnSp>
      <p:sp>
        <p:nvSpPr>
          <p:cNvPr id="92430540" name="Rounded Rectangle 12"/>
          <p:cNvSpPr/>
          <p:nvPr/>
        </p:nvSpPr>
        <p:spPr bwMode="auto">
          <a:xfrm>
            <a:off x="7461504" y="1399032"/>
            <a:ext cx="3895343" cy="594360"/>
          </a:xfrm>
          <a:prstGeom prst="roundRect">
            <a:avLst>
              <a:gd name="adj" fmla="val 4000"/>
            </a:avLst>
          </a:prstGeom>
          <a:solidFill>
            <a:srgbClr val="6A60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0674218" name="TextBox 13"/>
          <p:cNvSpPr txBox="1"/>
          <p:nvPr/>
        </p:nvSpPr>
        <p:spPr bwMode="auto">
          <a:xfrm>
            <a:off x="7653527" y="1536192"/>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ViewModel + SavedStateHandle</a:t>
            </a:r>
            <a:endParaRPr/>
          </a:p>
        </p:txBody>
      </p:sp>
      <p:sp>
        <p:nvSpPr>
          <p:cNvPr id="556228704" name="Rounded Rectangle 14"/>
          <p:cNvSpPr/>
          <p:nvPr/>
        </p:nvSpPr>
        <p:spPr bwMode="auto">
          <a:xfrm>
            <a:off x="758952" y="2157984"/>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0453772" name="TextBox 15"/>
          <p:cNvSpPr txBox="1"/>
          <p:nvPr/>
        </p:nvSpPr>
        <p:spPr bwMode="auto">
          <a:xfrm>
            <a:off x="923544" y="2295144"/>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Réglage simple</a:t>
            </a:r>
            <a:endParaRPr/>
          </a:p>
        </p:txBody>
      </p:sp>
      <p:sp>
        <p:nvSpPr>
          <p:cNvPr id="761442224" name="Rounded Rectangle 16"/>
          <p:cNvSpPr/>
          <p:nvPr/>
        </p:nvSpPr>
        <p:spPr bwMode="auto">
          <a:xfrm>
            <a:off x="4005072" y="2157984"/>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4144264" name="TextBox 17"/>
          <p:cNvSpPr txBox="1"/>
          <p:nvPr/>
        </p:nvSpPr>
        <p:spPr bwMode="auto">
          <a:xfrm>
            <a:off x="4169663" y="2313432"/>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mode sombre</a:t>
            </a:r>
            <a:endParaRPr/>
          </a:p>
        </p:txBody>
      </p:sp>
      <p:cxnSp>
        <p:nvCxnSpPr>
          <p:cNvPr id="103147378" name="Connector 18"/>
          <p:cNvCxnSpPr/>
          <p:nvPr/>
        </p:nvCxnSpPr>
        <p:spPr bwMode="auto">
          <a:xfrm>
            <a:off x="7050024" y="2450591"/>
            <a:ext cx="292607" cy="0"/>
          </a:xfrm>
          <a:prstGeom prst="line">
            <a:avLst/>
          </a:prstGeom>
          <a:ln w="2540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1910885112" name="Rounded Rectangle 19"/>
          <p:cNvSpPr/>
          <p:nvPr/>
        </p:nvSpPr>
        <p:spPr bwMode="auto">
          <a:xfrm>
            <a:off x="7461504" y="2157984"/>
            <a:ext cx="3895343" cy="594360"/>
          </a:xfrm>
          <a:prstGeom prst="roundRect">
            <a:avLst>
              <a:gd name="adj" fmla="val 4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4103663" name="TextBox 20"/>
          <p:cNvSpPr txBox="1"/>
          <p:nvPr/>
        </p:nvSpPr>
        <p:spPr bwMode="auto">
          <a:xfrm>
            <a:off x="7653527" y="2295144"/>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Preferences DataStore</a:t>
            </a:r>
            <a:endParaRPr/>
          </a:p>
        </p:txBody>
      </p:sp>
      <p:sp>
        <p:nvSpPr>
          <p:cNvPr id="2004755881" name="Rounded Rectangle 21"/>
          <p:cNvSpPr/>
          <p:nvPr/>
        </p:nvSpPr>
        <p:spPr bwMode="auto">
          <a:xfrm>
            <a:off x="758952" y="2916936"/>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2368267" name="TextBox 22"/>
          <p:cNvSpPr txBox="1"/>
          <p:nvPr/>
        </p:nvSpPr>
        <p:spPr bwMode="auto">
          <a:xfrm>
            <a:off x="923544" y="3054096"/>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Réglage typé</a:t>
            </a:r>
            <a:endParaRPr/>
          </a:p>
        </p:txBody>
      </p:sp>
      <p:sp>
        <p:nvSpPr>
          <p:cNvPr id="975272075" name="Rounded Rectangle 23"/>
          <p:cNvSpPr/>
          <p:nvPr/>
        </p:nvSpPr>
        <p:spPr bwMode="auto">
          <a:xfrm>
            <a:off x="4005072" y="2916936"/>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4745900" name="TextBox 24"/>
          <p:cNvSpPr txBox="1"/>
          <p:nvPr/>
        </p:nvSpPr>
        <p:spPr bwMode="auto">
          <a:xfrm>
            <a:off x="4169663" y="3072384"/>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préférences structurées</a:t>
            </a:r>
            <a:endParaRPr/>
          </a:p>
        </p:txBody>
      </p:sp>
      <p:cxnSp>
        <p:nvCxnSpPr>
          <p:cNvPr id="752736824" name="Connector 25"/>
          <p:cNvCxnSpPr/>
          <p:nvPr/>
        </p:nvCxnSpPr>
        <p:spPr bwMode="auto">
          <a:xfrm>
            <a:off x="7050024" y="3209544"/>
            <a:ext cx="292607" cy="0"/>
          </a:xfrm>
          <a:prstGeom prst="line">
            <a:avLst/>
          </a:prstGeom>
          <a:ln w="2540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819065943" name="Rounded Rectangle 26"/>
          <p:cNvSpPr/>
          <p:nvPr/>
        </p:nvSpPr>
        <p:spPr bwMode="auto">
          <a:xfrm>
            <a:off x="7461504" y="2916936"/>
            <a:ext cx="3895343" cy="594360"/>
          </a:xfrm>
          <a:prstGeom prst="roundRect">
            <a:avLst>
              <a:gd name="adj" fmla="val 4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63391754" name="TextBox 27"/>
          <p:cNvSpPr txBox="1"/>
          <p:nvPr/>
        </p:nvSpPr>
        <p:spPr bwMode="auto">
          <a:xfrm>
            <a:off x="7653527" y="3054096"/>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Proto DataStore</a:t>
            </a:r>
            <a:endParaRPr/>
          </a:p>
        </p:txBody>
      </p:sp>
      <p:sp>
        <p:nvSpPr>
          <p:cNvPr id="1571506873" name="Rounded Rectangle 28"/>
          <p:cNvSpPr/>
          <p:nvPr/>
        </p:nvSpPr>
        <p:spPr bwMode="auto">
          <a:xfrm>
            <a:off x="758952" y="3675887"/>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0600615" name="TextBox 29"/>
          <p:cNvSpPr txBox="1"/>
          <p:nvPr/>
        </p:nvSpPr>
        <p:spPr bwMode="auto">
          <a:xfrm>
            <a:off x="923544" y="3813048"/>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Données interrogeables</a:t>
            </a:r>
            <a:endParaRPr/>
          </a:p>
        </p:txBody>
      </p:sp>
      <p:sp>
        <p:nvSpPr>
          <p:cNvPr id="600463227" name="Rounded Rectangle 30"/>
          <p:cNvSpPr/>
          <p:nvPr/>
        </p:nvSpPr>
        <p:spPr bwMode="auto">
          <a:xfrm>
            <a:off x="4005072" y="3675887"/>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2477551" name="TextBox 31"/>
          <p:cNvSpPr txBox="1"/>
          <p:nvPr/>
        </p:nvSpPr>
        <p:spPr bwMode="auto">
          <a:xfrm>
            <a:off x="4169663" y="3831335"/>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200 tâches, statut, date</a:t>
            </a:r>
            <a:endParaRPr/>
          </a:p>
        </p:txBody>
      </p:sp>
      <p:cxnSp>
        <p:nvCxnSpPr>
          <p:cNvPr id="1913185990" name="Connector 32"/>
          <p:cNvCxnSpPr/>
          <p:nvPr/>
        </p:nvCxnSpPr>
        <p:spPr bwMode="auto">
          <a:xfrm>
            <a:off x="7050024" y="3968496"/>
            <a:ext cx="292607" cy="0"/>
          </a:xfrm>
          <a:prstGeom prst="line">
            <a:avLst/>
          </a:prstGeom>
          <a:ln w="25400">
            <a:solidFill>
              <a:srgbClr val="2C9B65"/>
            </a:solidFill>
            <a:tailEnd type="triangle"/>
          </a:ln>
        </p:spPr>
        <p:style>
          <a:lnRef idx="2">
            <a:schemeClr val="accent1"/>
          </a:lnRef>
          <a:fillRef idx="0">
            <a:schemeClr val="accent1"/>
          </a:fillRef>
          <a:effectRef idx="1">
            <a:schemeClr val="accent1"/>
          </a:effectRef>
          <a:fontRef idx="minor">
            <a:schemeClr val="tx1"/>
          </a:fontRef>
        </p:style>
      </p:cxnSp>
      <p:sp>
        <p:nvSpPr>
          <p:cNvPr id="25002586" name="Rounded Rectangle 33"/>
          <p:cNvSpPr/>
          <p:nvPr/>
        </p:nvSpPr>
        <p:spPr bwMode="auto">
          <a:xfrm>
            <a:off x="7461504" y="3675887"/>
            <a:ext cx="3895343" cy="594360"/>
          </a:xfrm>
          <a:prstGeom prst="roundRect">
            <a:avLst>
              <a:gd name="adj" fmla="val 4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7607237" name="TextBox 34"/>
          <p:cNvSpPr txBox="1"/>
          <p:nvPr/>
        </p:nvSpPr>
        <p:spPr bwMode="auto">
          <a:xfrm>
            <a:off x="7653527" y="3813048"/>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Room / SQLite</a:t>
            </a:r>
            <a:endParaRPr/>
          </a:p>
        </p:txBody>
      </p:sp>
      <p:sp>
        <p:nvSpPr>
          <p:cNvPr id="623571827" name="Rounded Rectangle 35"/>
          <p:cNvSpPr/>
          <p:nvPr/>
        </p:nvSpPr>
        <p:spPr bwMode="auto">
          <a:xfrm>
            <a:off x="758952" y="4434840"/>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9122006" name="TextBox 36"/>
          <p:cNvSpPr txBox="1"/>
          <p:nvPr/>
        </p:nvSpPr>
        <p:spPr bwMode="auto">
          <a:xfrm>
            <a:off x="923544" y="4572000"/>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Contenu binaire</a:t>
            </a:r>
            <a:endParaRPr/>
          </a:p>
        </p:txBody>
      </p:sp>
      <p:sp>
        <p:nvSpPr>
          <p:cNvPr id="1151294421" name="Rounded Rectangle 37"/>
          <p:cNvSpPr/>
          <p:nvPr/>
        </p:nvSpPr>
        <p:spPr bwMode="auto">
          <a:xfrm>
            <a:off x="4005072" y="4434840"/>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5778162" name="TextBox 38"/>
          <p:cNvSpPr txBox="1"/>
          <p:nvPr/>
        </p:nvSpPr>
        <p:spPr bwMode="auto">
          <a:xfrm>
            <a:off x="4169663" y="4590288"/>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photo ou PDF</a:t>
            </a:r>
            <a:endParaRPr/>
          </a:p>
        </p:txBody>
      </p:sp>
      <p:cxnSp>
        <p:nvCxnSpPr>
          <p:cNvPr id="773340851" name="Connector 39"/>
          <p:cNvCxnSpPr/>
          <p:nvPr/>
        </p:nvCxnSpPr>
        <p:spPr bwMode="auto">
          <a:xfrm>
            <a:off x="7050024" y="4727448"/>
            <a:ext cx="292607" cy="0"/>
          </a:xfrm>
          <a:prstGeom prst="line">
            <a:avLst/>
          </a:prstGeom>
          <a:ln w="25400">
            <a:solidFill>
              <a:srgbClr val="C68532"/>
            </a:solidFill>
            <a:tailEnd type="triangle"/>
          </a:ln>
        </p:spPr>
        <p:style>
          <a:lnRef idx="2">
            <a:schemeClr val="accent1"/>
          </a:lnRef>
          <a:fillRef idx="0">
            <a:schemeClr val="accent1"/>
          </a:fillRef>
          <a:effectRef idx="1">
            <a:schemeClr val="accent1"/>
          </a:effectRef>
          <a:fontRef idx="minor">
            <a:schemeClr val="tx1"/>
          </a:fontRef>
        </p:style>
      </p:cxnSp>
      <p:sp>
        <p:nvSpPr>
          <p:cNvPr id="1297642856" name="Rounded Rectangle 40"/>
          <p:cNvSpPr/>
          <p:nvPr/>
        </p:nvSpPr>
        <p:spPr bwMode="auto">
          <a:xfrm>
            <a:off x="7461504" y="4434840"/>
            <a:ext cx="3895343" cy="594360"/>
          </a:xfrm>
          <a:prstGeom prst="roundRect">
            <a:avLst>
              <a:gd name="adj" fmla="val 4000"/>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221764" name="TextBox 41"/>
          <p:cNvSpPr txBox="1"/>
          <p:nvPr/>
        </p:nvSpPr>
        <p:spPr bwMode="auto">
          <a:xfrm>
            <a:off x="7653527" y="4572000"/>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Fichier</a:t>
            </a:r>
            <a:endParaRPr/>
          </a:p>
        </p:txBody>
      </p:sp>
      <p:sp>
        <p:nvSpPr>
          <p:cNvPr id="43435227" name="Rounded Rectangle 42"/>
          <p:cNvSpPr/>
          <p:nvPr/>
        </p:nvSpPr>
        <p:spPr bwMode="auto">
          <a:xfrm>
            <a:off x="758952" y="5193792"/>
            <a:ext cx="3081528"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1204693" name="TextBox 43"/>
          <p:cNvSpPr txBox="1"/>
          <p:nvPr/>
        </p:nvSpPr>
        <p:spPr bwMode="auto">
          <a:xfrm>
            <a:off x="923544" y="5330952"/>
            <a:ext cx="2743200" cy="320040"/>
          </a:xfrm>
          <a:prstGeom prst="rect">
            <a:avLst/>
          </a:prstGeom>
          <a:noFill/>
        </p:spPr>
        <p:txBody>
          <a:bodyPr wrap="square" lIns="18288" tIns="18288" rIns="18288" bIns="18288">
            <a:spAutoFit/>
          </a:bodyPr>
          <a:lstStyle/>
          <a:p>
            <a:pPr>
              <a:spcBef>
                <a:spcPts val="0"/>
              </a:spcBef>
              <a:spcAft>
                <a:spcPts val="0"/>
              </a:spcAft>
              <a:defRPr sz="1600" b="1">
                <a:solidFill>
                  <a:srgbClr val="172A31"/>
                </a:solidFill>
                <a:latin typeface="Aptos"/>
              </a:defRPr>
            </a:pPr>
            <a:r>
              <a:rPr/>
              <a:t>Partage multi-appareils</a:t>
            </a:r>
            <a:endParaRPr/>
          </a:p>
        </p:txBody>
      </p:sp>
      <p:sp>
        <p:nvSpPr>
          <p:cNvPr id="367674968" name="Rounded Rectangle 44"/>
          <p:cNvSpPr/>
          <p:nvPr/>
        </p:nvSpPr>
        <p:spPr bwMode="auto">
          <a:xfrm>
            <a:off x="4005072" y="5193792"/>
            <a:ext cx="2953512" cy="594360"/>
          </a:xfrm>
          <a:prstGeom prst="roundRect">
            <a:avLst>
              <a:gd name="adj" fmla="val 4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6690587" name="TextBox 45"/>
          <p:cNvSpPr txBox="1"/>
          <p:nvPr/>
        </p:nvSpPr>
        <p:spPr bwMode="auto">
          <a:xfrm>
            <a:off x="4169663" y="5349240"/>
            <a:ext cx="2651760" cy="292608"/>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catalogue synchronisé</a:t>
            </a:r>
            <a:endParaRPr/>
          </a:p>
        </p:txBody>
      </p:sp>
      <p:cxnSp>
        <p:nvCxnSpPr>
          <p:cNvPr id="810058641" name="Connector 46"/>
          <p:cNvCxnSpPr/>
          <p:nvPr/>
        </p:nvCxnSpPr>
        <p:spPr bwMode="auto">
          <a:xfrm>
            <a:off x="7050024" y="5486400"/>
            <a:ext cx="292607" cy="0"/>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sp>
        <p:nvSpPr>
          <p:cNvPr id="343492085" name="Rounded Rectangle 47"/>
          <p:cNvSpPr/>
          <p:nvPr/>
        </p:nvSpPr>
        <p:spPr bwMode="auto">
          <a:xfrm>
            <a:off x="7461504" y="5193792"/>
            <a:ext cx="3895343" cy="594360"/>
          </a:xfrm>
          <a:prstGeom prst="roundRect">
            <a:avLst>
              <a:gd name="adj" fmla="val 4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8349828" name="TextBox 48"/>
          <p:cNvSpPr txBox="1"/>
          <p:nvPr/>
        </p:nvSpPr>
        <p:spPr bwMode="auto">
          <a:xfrm>
            <a:off x="7653527" y="5330952"/>
            <a:ext cx="3502152" cy="347472"/>
          </a:xfrm>
          <a:prstGeom prst="rect">
            <a:avLst/>
          </a:prstGeom>
          <a:noFill/>
        </p:spPr>
        <p:txBody>
          <a:bodyPr wrap="square" lIns="18288" tIns="18288" rIns="18288" bIns="18288">
            <a:spAutoFit/>
          </a:bodyPr>
          <a:lstStyle/>
          <a:p>
            <a:pPr>
              <a:spcBef>
                <a:spcPts val="0"/>
              </a:spcBef>
              <a:spcAft>
                <a:spcPts val="0"/>
              </a:spcAft>
              <a:defRPr sz="1600" b="1">
                <a:solidFill>
                  <a:srgbClr val="FFFFFF"/>
                </a:solidFill>
                <a:latin typeface="Aptos"/>
              </a:defRPr>
            </a:pPr>
            <a:r>
              <a:rPr/>
              <a:t>API + cache local</a:t>
            </a:r>
            <a:endParaRPr/>
          </a:p>
        </p:txBody>
      </p:sp>
      <p:sp>
        <p:nvSpPr>
          <p:cNvPr id="2085588614" name="TextBox 49"/>
          <p:cNvSpPr txBox="1"/>
          <p:nvPr/>
        </p:nvSpPr>
        <p:spPr bwMode="auto">
          <a:xfrm>
            <a:off x="786384" y="6126480"/>
            <a:ext cx="10789920" cy="274320"/>
          </a:xfrm>
          <a:prstGeom prst="rect">
            <a:avLst/>
          </a:prstGeom>
          <a:noFill/>
        </p:spPr>
        <p:txBody>
          <a:bodyPr wrap="square" lIns="18288" tIns="18288" rIns="18288" bIns="18288">
            <a:spAutoFit/>
          </a:bodyPr>
          <a:lstStyle/>
          <a:p>
            <a:pPr>
              <a:spcBef>
                <a:spcPts val="0"/>
              </a:spcBef>
              <a:spcAft>
                <a:spcPts val="0"/>
              </a:spcAft>
              <a:defRPr sz="1300" b="0">
                <a:solidFill>
                  <a:srgbClr val="53666D"/>
                </a:solidFill>
                <a:latin typeface="Aptos"/>
              </a:defRPr>
            </a:pPr>
            <a:r>
              <a:rPr/>
              <a:t>Critères : structure · requêtes · volume · durée de vie · synchronisation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787999358"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SQLite conserve les lignes de MiniTodo</a:t>
            </a:r>
            <a:endParaRPr/>
          </a:p>
        </p:txBody>
      </p:sp>
      <p:sp>
        <p:nvSpPr>
          <p:cNvPr id="1549977165"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Moteur relationnel embarqué, sans serveur séparé</a:t>
            </a:r>
            <a:endParaRPr sz="1600"/>
          </a:p>
        </p:txBody>
      </p:sp>
      <p:cxnSp>
        <p:nvCxnSpPr>
          <p:cNvPr id="1538549798"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061046321"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1406785962"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504780471"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05</a:t>
            </a:r>
            <a:endParaRPr/>
          </a:p>
        </p:txBody>
      </p:sp>
      <p:sp>
        <p:nvSpPr>
          <p:cNvPr id="1927071638" name="Rounded Rectangle 7"/>
          <p:cNvSpPr/>
          <p:nvPr/>
        </p:nvSpPr>
        <p:spPr bwMode="auto">
          <a:xfrm>
            <a:off x="713232" y="1417320"/>
            <a:ext cx="6473952" cy="2112264"/>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2353596" name="TextBox 8"/>
          <p:cNvSpPr txBox="1"/>
          <p:nvPr/>
        </p:nvSpPr>
        <p:spPr bwMode="auto">
          <a:xfrm>
            <a:off x="896112" y="1536192"/>
            <a:ext cx="6126480" cy="1911095"/>
          </a:xfrm>
          <a:prstGeom prst="rect">
            <a:avLst/>
          </a:prstGeom>
          <a:noFill/>
        </p:spPr>
        <p:txBody>
          <a:bodyPr wrap="none" lIns="0" tIns="0" rIns="0" bIns="0">
            <a:spAutoFit/>
          </a:bodyPr>
          <a:lstStyle/>
          <a:p>
            <a:pPr>
              <a:spcBef>
                <a:spcPts val="0"/>
              </a:spcBef>
              <a:spcAft>
                <a:spcPts val="200"/>
              </a:spcAft>
              <a:defRPr/>
            </a:pPr>
            <a:r>
              <a:rPr sz="1700">
                <a:solidFill>
                  <a:srgbClr val="FFFFFF"/>
                </a:solidFill>
                <a:latin typeface="DejaVu Sans Mono"/>
              </a:rPr>
              <a:t>CREATE TABLE</a:t>
            </a:r>
            <a:r>
              <a:rPr sz="1700">
                <a:solidFill>
                  <a:srgbClr val="FFFFFF"/>
                </a:solidFill>
                <a:latin typeface="DejaVu Sans Mono"/>
              </a:rPr>
              <a:t> tasks (</a:t>
            </a:r>
            <a:endParaRPr/>
          </a:p>
          <a:p>
            <a:pPr>
              <a:spcBef>
                <a:spcPts val="0"/>
              </a:spcBef>
              <a:spcAft>
                <a:spcPts val="200"/>
              </a:spcAft>
              <a:defRPr/>
            </a:pPr>
            <a:r>
              <a:rPr sz="1700">
                <a:solidFill>
                  <a:srgbClr val="FFFFFF"/>
                </a:solidFill>
                <a:latin typeface="DejaVu Sans Mono"/>
              </a:rPr>
              <a:t>  id </a:t>
            </a:r>
            <a:r>
              <a:rPr sz="1700">
                <a:solidFill>
                  <a:srgbClr val="FFFFFF"/>
                </a:solidFill>
                <a:latin typeface="DejaVu Sans Mono"/>
              </a:rPr>
              <a:t>INTEGER</a:t>
            </a:r>
            <a:r>
              <a:rPr sz="1700">
                <a:solidFill>
                  <a:srgbClr val="FFFFFF"/>
                </a:solidFill>
                <a:latin typeface="DejaVu Sans Mono"/>
              </a:rPr>
              <a:t> PRIMARY KEY AUTOINCREMENT,</a:t>
            </a:r>
            <a:endParaRPr/>
          </a:p>
          <a:p>
            <a:pPr>
              <a:spcBef>
                <a:spcPts val="0"/>
              </a:spcBef>
              <a:spcAft>
                <a:spcPts val="200"/>
              </a:spcAft>
              <a:defRPr/>
            </a:pPr>
            <a:r>
              <a:rPr sz="1700">
                <a:solidFill>
                  <a:srgbClr val="FFFFFF"/>
                </a:solidFill>
                <a:latin typeface="DejaVu Sans Mono"/>
              </a:rPr>
              <a:t>  title </a:t>
            </a:r>
            <a:r>
              <a:rPr sz="1700">
                <a:solidFill>
                  <a:srgbClr val="FFFFFF"/>
                </a:solidFill>
                <a:latin typeface="DejaVu Sans Mono"/>
              </a:rPr>
              <a:t>TEXT</a:t>
            </a:r>
            <a:r>
              <a:rPr sz="1700">
                <a:solidFill>
                  <a:srgbClr val="FFFFFF"/>
                </a:solidFill>
                <a:latin typeface="DejaVu Sans Mono"/>
              </a:rPr>
              <a:t> </a:t>
            </a:r>
            <a:r>
              <a:rPr sz="1700">
                <a:solidFill>
                  <a:srgbClr val="FFFFFF"/>
                </a:solidFill>
                <a:latin typeface="DejaVu Sans Mono"/>
              </a:rPr>
              <a:t>NOT NULL</a:t>
            </a:r>
            <a:r>
              <a:rPr sz="1700">
                <a:solidFill>
                  <a:srgbClr val="FFFFFF"/>
                </a:solidFill>
                <a:latin typeface="DejaVu Sans Mono"/>
              </a:rPr>
              <a:t>,</a:t>
            </a:r>
            <a:endParaRPr/>
          </a:p>
          <a:p>
            <a:pPr>
              <a:spcBef>
                <a:spcPts val="0"/>
              </a:spcBef>
              <a:spcAft>
                <a:spcPts val="200"/>
              </a:spcAft>
              <a:defRPr/>
            </a:pPr>
            <a:r>
              <a:rPr sz="1700">
                <a:solidFill>
                  <a:srgbClr val="FFFFFF"/>
                </a:solidFill>
                <a:latin typeface="DejaVu Sans Mono"/>
              </a:rPr>
              <a:t>  completed </a:t>
            </a:r>
            <a:r>
              <a:rPr sz="1700">
                <a:solidFill>
                  <a:srgbClr val="FFFFFF"/>
                </a:solidFill>
                <a:latin typeface="DejaVu Sans Mono"/>
              </a:rPr>
              <a:t>INTEGER</a:t>
            </a:r>
            <a:r>
              <a:rPr sz="1700">
                <a:solidFill>
                  <a:srgbClr val="FFFFFF"/>
                </a:solidFill>
                <a:latin typeface="DejaVu Sans Mono"/>
              </a:rPr>
              <a:t> </a:t>
            </a:r>
            <a:r>
              <a:rPr sz="1700">
                <a:solidFill>
                  <a:srgbClr val="FFFFFF"/>
                </a:solidFill>
                <a:latin typeface="DejaVu Sans Mono"/>
              </a:rPr>
              <a:t>NOT NULL</a:t>
            </a:r>
            <a:r>
              <a:rPr sz="1700">
                <a:solidFill>
                  <a:srgbClr val="FFFFFF"/>
                </a:solidFill>
                <a:latin typeface="DejaVu Sans Mono"/>
              </a:rPr>
              <a:t> </a:t>
            </a:r>
            <a:r>
              <a:rPr sz="1700">
                <a:solidFill>
                  <a:srgbClr val="FFFFFF"/>
                </a:solidFill>
                <a:latin typeface="DejaVu Sans Mono"/>
              </a:rPr>
              <a:t>DEFAULT</a:t>
            </a:r>
            <a:r>
              <a:rPr sz="1700">
                <a:solidFill>
                  <a:srgbClr val="FFFFFF"/>
                </a:solidFill>
                <a:latin typeface="DejaVu Sans Mono"/>
              </a:rPr>
              <a:t> 0</a:t>
            </a:r>
            <a:endParaRPr/>
          </a:p>
          <a:p>
            <a:pPr>
              <a:spcBef>
                <a:spcPts val="0"/>
              </a:spcBef>
              <a:spcAft>
                <a:spcPts val="200"/>
              </a:spcAft>
              <a:defRPr/>
            </a:pPr>
            <a:r>
              <a:rPr sz="1700">
                <a:solidFill>
                  <a:srgbClr val="FFFFFF"/>
                </a:solidFill>
                <a:latin typeface="DejaVu Sans Mono"/>
              </a:rPr>
              <a:t>);</a:t>
            </a:r>
            <a:endParaRPr/>
          </a:p>
        </p:txBody>
      </p:sp>
      <p:sp>
        <p:nvSpPr>
          <p:cNvPr id="492690460" name="Rounded Rectangle 9"/>
          <p:cNvSpPr/>
          <p:nvPr/>
        </p:nvSpPr>
        <p:spPr bwMode="auto">
          <a:xfrm>
            <a:off x="713232" y="3776472"/>
            <a:ext cx="6473952" cy="1481328"/>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6777525" name="TextBox 10"/>
          <p:cNvSpPr txBox="1"/>
          <p:nvPr/>
        </p:nvSpPr>
        <p:spPr bwMode="auto">
          <a:xfrm>
            <a:off x="896112" y="3895343"/>
            <a:ext cx="6126480" cy="1280160"/>
          </a:xfrm>
          <a:prstGeom prst="rect">
            <a:avLst/>
          </a:prstGeom>
          <a:noFill/>
        </p:spPr>
        <p:txBody>
          <a:bodyPr wrap="none" lIns="0" tIns="0" rIns="0" bIns="0">
            <a:spAutoFit/>
          </a:bodyPr>
          <a:lstStyle/>
          <a:p>
            <a:pPr>
              <a:spcBef>
                <a:spcPts val="0"/>
              </a:spcBef>
              <a:spcAft>
                <a:spcPts val="200"/>
              </a:spcAft>
              <a:defRPr/>
            </a:pPr>
            <a:r>
              <a:rPr sz="1600">
                <a:solidFill>
                  <a:srgbClr val="FFFFFF"/>
                </a:solidFill>
                <a:latin typeface="DejaVu Sans Mono"/>
              </a:rPr>
              <a:t>SELECT</a:t>
            </a:r>
            <a:r>
              <a:rPr sz="1600">
                <a:solidFill>
                  <a:srgbClr val="FFFFFF"/>
                </a:solidFill>
                <a:latin typeface="DejaVu Sans Mono"/>
              </a:rPr>
              <a:t> id, title, completed</a:t>
            </a:r>
            <a:endParaRPr/>
          </a:p>
          <a:p>
            <a:pPr>
              <a:spcBef>
                <a:spcPts val="0"/>
              </a:spcBef>
              <a:spcAft>
                <a:spcPts val="200"/>
              </a:spcAft>
              <a:defRPr/>
            </a:pPr>
            <a:r>
              <a:rPr sz="1600">
                <a:solidFill>
                  <a:srgbClr val="FFFFFF"/>
                </a:solidFill>
                <a:latin typeface="DejaVu Sans Mono"/>
              </a:rPr>
              <a:t>FROM</a:t>
            </a:r>
            <a:r>
              <a:rPr sz="1600">
                <a:solidFill>
                  <a:srgbClr val="FFFFFF"/>
                </a:solidFill>
                <a:latin typeface="DejaVu Sans Mono"/>
              </a:rPr>
              <a:t> tasks </a:t>
            </a:r>
            <a:r>
              <a:rPr sz="1600">
                <a:solidFill>
                  <a:srgbClr val="FFFFFF"/>
                </a:solidFill>
                <a:latin typeface="DejaVu Sans Mono"/>
              </a:rPr>
              <a:t>WHERE</a:t>
            </a:r>
            <a:r>
              <a:rPr sz="1600">
                <a:solidFill>
                  <a:srgbClr val="FFFFFF"/>
                </a:solidFill>
                <a:latin typeface="DejaVu Sans Mono"/>
              </a:rPr>
              <a:t> completed = 0</a:t>
            </a:r>
            <a:endParaRPr/>
          </a:p>
          <a:p>
            <a:pPr>
              <a:spcBef>
                <a:spcPts val="0"/>
              </a:spcBef>
              <a:spcAft>
                <a:spcPts val="200"/>
              </a:spcAft>
              <a:defRPr/>
            </a:pPr>
            <a:r>
              <a:rPr sz="1600">
                <a:solidFill>
                  <a:srgbClr val="FFFFFF"/>
                </a:solidFill>
                <a:latin typeface="DejaVu Sans Mono"/>
              </a:rPr>
              <a:t>ORDER BY</a:t>
            </a:r>
            <a:r>
              <a:rPr sz="1600">
                <a:solidFill>
                  <a:srgbClr val="FFFFFF"/>
                </a:solidFill>
                <a:latin typeface="DejaVu Sans Mono"/>
              </a:rPr>
              <a:t> id DESC;</a:t>
            </a:r>
            <a:endParaRPr/>
          </a:p>
        </p:txBody>
      </p:sp>
      <p:sp>
        <p:nvSpPr>
          <p:cNvPr id="1077068499" name="Rounded Rectangle 11"/>
          <p:cNvSpPr/>
          <p:nvPr/>
        </p:nvSpPr>
        <p:spPr bwMode="auto">
          <a:xfrm>
            <a:off x="7498079" y="1417320"/>
            <a:ext cx="3931920" cy="3840480"/>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5103382" name="Rectangle 12"/>
          <p:cNvSpPr/>
          <p:nvPr/>
        </p:nvSpPr>
        <p:spPr bwMode="auto">
          <a:xfrm>
            <a:off x="7498079" y="1417320"/>
            <a:ext cx="3931920" cy="530352"/>
          </a:xfrm>
          <a:prstGeom prst="rect">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9729770" name="TextBox 13"/>
          <p:cNvSpPr txBox="1"/>
          <p:nvPr/>
        </p:nvSpPr>
        <p:spPr bwMode="auto">
          <a:xfrm>
            <a:off x="7708392" y="1572768"/>
            <a:ext cx="3474720" cy="301752"/>
          </a:xfrm>
          <a:prstGeom prst="rect">
            <a:avLst/>
          </a:prstGeom>
          <a:noFill/>
        </p:spPr>
        <p:txBody>
          <a:bodyPr wrap="square" lIns="18288" tIns="18288" rIns="18288" bIns="18288">
            <a:spAutoFit/>
          </a:bodyPr>
          <a:lstStyle/>
          <a:p>
            <a:pPr>
              <a:spcBef>
                <a:spcPts val="0"/>
              </a:spcBef>
              <a:spcAft>
                <a:spcPts val="0"/>
              </a:spcAft>
              <a:defRPr sz="2000" b="1">
                <a:solidFill>
                  <a:srgbClr val="FFFFFF"/>
                </a:solidFill>
                <a:latin typeface="Aptos"/>
              </a:defRPr>
            </a:pPr>
            <a:r>
              <a:rPr/>
              <a:t>tasks</a:t>
            </a:r>
            <a:endParaRPr/>
          </a:p>
        </p:txBody>
      </p:sp>
      <p:sp>
        <p:nvSpPr>
          <p:cNvPr id="1584144208" name="Rounded Rectangle 14"/>
          <p:cNvSpPr/>
          <p:nvPr/>
        </p:nvSpPr>
        <p:spPr bwMode="auto">
          <a:xfrm>
            <a:off x="7699248" y="2148840"/>
            <a:ext cx="3511296" cy="512064"/>
          </a:xfrm>
          <a:prstGeom prst="roundRect">
            <a:avLst>
              <a:gd name="adj" fmla="val 3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7809868" name="TextBox 15"/>
          <p:cNvSpPr txBox="1"/>
          <p:nvPr/>
        </p:nvSpPr>
        <p:spPr bwMode="auto">
          <a:xfrm>
            <a:off x="7818120" y="2276856"/>
            <a:ext cx="393192" cy="283464"/>
          </a:xfrm>
          <a:prstGeom prst="rect">
            <a:avLst/>
          </a:prstGeom>
          <a:noFill/>
        </p:spPr>
        <p:txBody>
          <a:bodyPr wrap="square" lIns="18288" tIns="18288" rIns="18288" bIns="18288">
            <a:spAutoFit/>
          </a:bodyPr>
          <a:lstStyle/>
          <a:p>
            <a:pPr>
              <a:spcBef>
                <a:spcPts val="0"/>
              </a:spcBef>
              <a:spcAft>
                <a:spcPts val="0"/>
              </a:spcAft>
              <a:defRPr sz="1400" b="1">
                <a:solidFill>
                  <a:srgbClr val="176D70"/>
                </a:solidFill>
                <a:latin typeface="Aptos"/>
              </a:defRPr>
            </a:pPr>
            <a:r>
              <a:rPr/>
              <a:t>id</a:t>
            </a:r>
            <a:endParaRPr/>
          </a:p>
        </p:txBody>
      </p:sp>
      <p:sp>
        <p:nvSpPr>
          <p:cNvPr id="733678602" name="TextBox 16"/>
          <p:cNvSpPr txBox="1"/>
          <p:nvPr/>
        </p:nvSpPr>
        <p:spPr bwMode="auto">
          <a:xfrm>
            <a:off x="8385048" y="2276856"/>
            <a:ext cx="1920240" cy="283464"/>
          </a:xfrm>
          <a:prstGeom prst="rect">
            <a:avLst/>
          </a:prstGeom>
          <a:noFill/>
        </p:spPr>
        <p:txBody>
          <a:bodyPr wrap="square" lIns="18288" tIns="18288" rIns="18288" bIns="18288">
            <a:spAutoFit/>
          </a:bodyPr>
          <a:lstStyle/>
          <a:p>
            <a:pPr>
              <a:spcBef>
                <a:spcPts val="0"/>
              </a:spcBef>
              <a:spcAft>
                <a:spcPts val="0"/>
              </a:spcAft>
              <a:defRPr sz="1400" b="1">
                <a:solidFill>
                  <a:srgbClr val="176D70"/>
                </a:solidFill>
                <a:latin typeface="Aptos"/>
              </a:defRPr>
            </a:pPr>
            <a:r>
              <a:rPr/>
              <a:t>title</a:t>
            </a:r>
            <a:endParaRPr/>
          </a:p>
        </p:txBody>
      </p:sp>
      <p:sp>
        <p:nvSpPr>
          <p:cNvPr id="825707858" name="TextBox 17"/>
          <p:cNvSpPr txBox="1"/>
          <p:nvPr/>
        </p:nvSpPr>
        <p:spPr bwMode="auto">
          <a:xfrm flipH="0" flipV="0">
            <a:off x="10089288" y="2263139"/>
            <a:ext cx="1094543" cy="250295"/>
          </a:xfrm>
          <a:prstGeom prst="rect">
            <a:avLst/>
          </a:prstGeom>
          <a:noFill/>
        </p:spPr>
        <p:txBody>
          <a:bodyPr wrap="square" lIns="18288" tIns="18288" rIns="18288" bIns="18288">
            <a:spAutoFit/>
          </a:bodyPr>
          <a:lstStyle/>
          <a:p>
            <a:pPr>
              <a:spcBef>
                <a:spcPts val="0"/>
              </a:spcBef>
              <a:spcAft>
                <a:spcPts val="0"/>
              </a:spcAft>
              <a:defRPr sz="1400" b="1">
                <a:solidFill>
                  <a:srgbClr val="176D70"/>
                </a:solidFill>
                <a:latin typeface="Aptos"/>
              </a:defRPr>
            </a:pPr>
            <a:r>
              <a:rPr/>
              <a:t>completed</a:t>
            </a:r>
            <a:endParaRPr/>
          </a:p>
        </p:txBody>
      </p:sp>
      <p:sp>
        <p:nvSpPr>
          <p:cNvPr id="1640099867" name="Rounded Rectangle 18"/>
          <p:cNvSpPr/>
          <p:nvPr/>
        </p:nvSpPr>
        <p:spPr bwMode="auto">
          <a:xfrm>
            <a:off x="7699248" y="2779776"/>
            <a:ext cx="3511296" cy="51206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165032" name="TextBox 19"/>
          <p:cNvSpPr txBox="1"/>
          <p:nvPr/>
        </p:nvSpPr>
        <p:spPr bwMode="auto">
          <a:xfrm>
            <a:off x="7818120" y="2907792"/>
            <a:ext cx="393192"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1</a:t>
            </a:r>
            <a:endParaRPr/>
          </a:p>
        </p:txBody>
      </p:sp>
      <p:sp>
        <p:nvSpPr>
          <p:cNvPr id="124581917" name="TextBox 20"/>
          <p:cNvSpPr txBox="1"/>
          <p:nvPr/>
        </p:nvSpPr>
        <p:spPr bwMode="auto">
          <a:xfrm>
            <a:off x="8385048" y="2907792"/>
            <a:ext cx="1920240"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Préparer le TP</a:t>
            </a:r>
            <a:endParaRPr/>
          </a:p>
        </p:txBody>
      </p:sp>
      <p:sp>
        <p:nvSpPr>
          <p:cNvPr id="220485173" name="TextBox 21"/>
          <p:cNvSpPr txBox="1"/>
          <p:nvPr/>
        </p:nvSpPr>
        <p:spPr bwMode="auto">
          <a:xfrm>
            <a:off x="10378440" y="2907792"/>
            <a:ext cx="777240"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0</a:t>
            </a:r>
            <a:endParaRPr/>
          </a:p>
        </p:txBody>
      </p:sp>
      <p:sp>
        <p:nvSpPr>
          <p:cNvPr id="537154412" name="Rounded Rectangle 22"/>
          <p:cNvSpPr/>
          <p:nvPr/>
        </p:nvSpPr>
        <p:spPr bwMode="auto">
          <a:xfrm>
            <a:off x="7699248" y="3410712"/>
            <a:ext cx="3511296" cy="51206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0317042" name="TextBox 23"/>
          <p:cNvSpPr txBox="1"/>
          <p:nvPr/>
        </p:nvSpPr>
        <p:spPr bwMode="auto">
          <a:xfrm>
            <a:off x="7818120" y="3538728"/>
            <a:ext cx="393192"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2</a:t>
            </a:r>
            <a:endParaRPr/>
          </a:p>
        </p:txBody>
      </p:sp>
      <p:sp>
        <p:nvSpPr>
          <p:cNvPr id="670305422" name="TextBox 24"/>
          <p:cNvSpPr txBox="1"/>
          <p:nvPr/>
        </p:nvSpPr>
        <p:spPr bwMode="auto">
          <a:xfrm>
            <a:off x="8385048" y="3538728"/>
            <a:ext cx="1920240"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Lire le cours</a:t>
            </a:r>
            <a:endParaRPr/>
          </a:p>
        </p:txBody>
      </p:sp>
      <p:sp>
        <p:nvSpPr>
          <p:cNvPr id="1320479271" name="TextBox 25"/>
          <p:cNvSpPr txBox="1"/>
          <p:nvPr/>
        </p:nvSpPr>
        <p:spPr bwMode="auto">
          <a:xfrm>
            <a:off x="10378440" y="3538728"/>
            <a:ext cx="777240" cy="283464"/>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1</a:t>
            </a:r>
            <a:endParaRPr/>
          </a:p>
        </p:txBody>
      </p:sp>
      <p:sp>
        <p:nvSpPr>
          <p:cNvPr id="283483995" name="TextBox 26"/>
          <p:cNvSpPr txBox="1"/>
          <p:nvPr/>
        </p:nvSpPr>
        <p:spPr bwMode="auto">
          <a:xfrm>
            <a:off x="777240" y="5687568"/>
            <a:ext cx="10607040" cy="420624"/>
          </a:xfrm>
          <a:prstGeom prst="rect">
            <a:avLst/>
          </a:prstGeom>
          <a:noFill/>
        </p:spPr>
        <p:txBody>
          <a:bodyPr wrap="square" lIns="18288" tIns="18288" rIns="18288" bIns="18288">
            <a:spAutoFit/>
          </a:bodyPr>
          <a:lstStyle/>
          <a:p>
            <a:pPr>
              <a:spcBef>
                <a:spcPts val="0"/>
              </a:spcBef>
              <a:spcAft>
                <a:spcPts val="0"/>
              </a:spcAft>
              <a:defRPr sz="1400" b="0">
                <a:solidFill>
                  <a:srgbClr val="53666D"/>
                </a:solidFill>
                <a:latin typeface="Aptos"/>
              </a:defRPr>
            </a:pPr>
            <a:r>
              <a:rPr/>
              <a:t>PRIMARY KEY : identité  ·  NOT NULL : valeur obligatoire  ·  0/1 : booléen stocké en entier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795323810"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Room ajoute une couche sûre à SQLite</a:t>
            </a:r>
            <a:endParaRPr/>
          </a:p>
        </p:txBody>
      </p:sp>
      <p:sp>
        <p:nvSpPr>
          <p:cNvPr id="476643979"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Même moteur sous-jacent, moins de code d’accès manuel</a:t>
            </a:r>
            <a:endParaRPr sz="1600"/>
          </a:p>
        </p:txBody>
      </p:sp>
      <p:cxnSp>
        <p:nvCxnSpPr>
          <p:cNvPr id="478532290"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568389491"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1783825276"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358190728"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06</a:t>
            </a:r>
            <a:endParaRPr/>
          </a:p>
        </p:txBody>
      </p:sp>
      <p:sp>
        <p:nvSpPr>
          <p:cNvPr id="1941721287" name="Rounded Rectangle 7"/>
          <p:cNvSpPr/>
          <p:nvPr/>
        </p:nvSpPr>
        <p:spPr bwMode="auto">
          <a:xfrm flipH="0" flipV="0">
            <a:off x="731519" y="1399031"/>
            <a:ext cx="5257800" cy="3703646"/>
          </a:xfrm>
          <a:prstGeom prst="roundRect">
            <a:avLst>
              <a:gd name="adj" fmla="val 7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3658889" name="Rounded Rectangle 8"/>
          <p:cNvSpPr/>
          <p:nvPr/>
        </p:nvSpPr>
        <p:spPr bwMode="auto">
          <a:xfrm flipH="0" flipV="0">
            <a:off x="6199632" y="1399031"/>
            <a:ext cx="5257800" cy="3703646"/>
          </a:xfrm>
          <a:prstGeom prst="roundRect">
            <a:avLst>
              <a:gd name="adj" fmla="val 7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5428205" name="TextBox 9"/>
          <p:cNvSpPr txBox="1"/>
          <p:nvPr/>
        </p:nvSpPr>
        <p:spPr bwMode="auto">
          <a:xfrm>
            <a:off x="987552" y="1673352"/>
            <a:ext cx="4389120" cy="411480"/>
          </a:xfrm>
          <a:prstGeom prst="rect">
            <a:avLst/>
          </a:prstGeom>
          <a:noFill/>
        </p:spPr>
        <p:txBody>
          <a:bodyPr wrap="square" lIns="18288" tIns="18288" rIns="18288" bIns="18288">
            <a:spAutoFit/>
          </a:bodyPr>
          <a:lstStyle/>
          <a:p>
            <a:pPr>
              <a:spcBef>
                <a:spcPts val="0"/>
              </a:spcBef>
              <a:spcAft>
                <a:spcPts val="0"/>
              </a:spcAft>
              <a:defRPr sz="2400" b="1">
                <a:solidFill>
                  <a:srgbClr val="317AB5"/>
                </a:solidFill>
                <a:latin typeface="Aptos"/>
              </a:defRPr>
            </a:pPr>
            <a:r>
              <a:rPr/>
              <a:t>SQLite direct</a:t>
            </a:r>
            <a:endParaRPr/>
          </a:p>
        </p:txBody>
      </p:sp>
      <p:sp>
        <p:nvSpPr>
          <p:cNvPr id="304940231" name="TextBox 10"/>
          <p:cNvSpPr txBox="1"/>
          <p:nvPr/>
        </p:nvSpPr>
        <p:spPr bwMode="auto">
          <a:xfrm>
            <a:off x="6455664" y="1673352"/>
            <a:ext cx="4389120" cy="411480"/>
          </a:xfrm>
          <a:prstGeom prst="rect">
            <a:avLst/>
          </a:prstGeom>
          <a:noFill/>
        </p:spPr>
        <p:txBody>
          <a:bodyPr wrap="square" lIns="18288" tIns="18288" rIns="18288" bIns="18288">
            <a:spAutoFit/>
          </a:bodyPr>
          <a:lstStyle/>
          <a:p>
            <a:pPr>
              <a:spcBef>
                <a:spcPts val="0"/>
              </a:spcBef>
              <a:spcAft>
                <a:spcPts val="0"/>
              </a:spcAft>
              <a:defRPr sz="2400" b="1">
                <a:solidFill>
                  <a:srgbClr val="2C9B65"/>
                </a:solidFill>
                <a:latin typeface="Aptos"/>
              </a:defRPr>
            </a:pPr>
            <a:r>
              <a:rPr/>
              <a:t>Room</a:t>
            </a:r>
            <a:endParaRPr/>
          </a:p>
        </p:txBody>
      </p:sp>
      <p:sp>
        <p:nvSpPr>
          <p:cNvPr id="1997505827" name="Rounded Rectangle 11"/>
          <p:cNvSpPr/>
          <p:nvPr/>
        </p:nvSpPr>
        <p:spPr bwMode="auto">
          <a:xfrm>
            <a:off x="987552" y="2295144"/>
            <a:ext cx="4736592" cy="1444752"/>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0461576" name="TextBox 12"/>
          <p:cNvSpPr txBox="1"/>
          <p:nvPr/>
        </p:nvSpPr>
        <p:spPr bwMode="auto">
          <a:xfrm>
            <a:off x="1170432" y="2414015"/>
            <a:ext cx="4389120" cy="1243584"/>
          </a:xfrm>
          <a:prstGeom prst="rect">
            <a:avLst/>
          </a:prstGeom>
          <a:noFill/>
        </p:spPr>
        <p:txBody>
          <a:bodyPr wrap="none" lIns="0" tIns="0" rIns="0" bIns="0">
            <a:spAutoFit/>
          </a:bodyPr>
          <a:lstStyle/>
          <a:p>
            <a:pPr>
              <a:spcBef>
                <a:spcPts val="0"/>
              </a:spcBef>
              <a:spcAft>
                <a:spcPts val="200"/>
              </a:spcAft>
              <a:defRPr/>
            </a:pPr>
            <a:r>
              <a:rPr sz="1300">
                <a:solidFill>
                  <a:srgbClr val="FFFFFF"/>
                </a:solidFill>
                <a:latin typeface="DejaVu Sans Mono"/>
              </a:rPr>
              <a:t>Cursor c = db.rawQuery(</a:t>
            </a:r>
            <a:endParaRPr/>
          </a:p>
          <a:p>
            <a:pPr>
              <a:spcBef>
                <a:spcPts val="0"/>
              </a:spcBef>
              <a:spcAft>
                <a:spcPts val="200"/>
              </a:spcAft>
              <a:defRPr/>
            </a:pPr>
            <a:r>
              <a:rPr sz="1300">
                <a:solidFill>
                  <a:srgbClr val="FFFFFF"/>
                </a:solidFill>
                <a:latin typeface="DejaVu Sans Mono"/>
              </a:rPr>
              <a:t>    </a:t>
            </a:r>
            <a:r>
              <a:rPr sz="1300">
                <a:solidFill>
                  <a:srgbClr val="C68532"/>
                </a:solidFill>
                <a:latin typeface="DejaVu Sans Mono"/>
              </a:rPr>
              <a:t>"SELECT id, title FROM tasks"</a:t>
            </a:r>
            <a:r>
              <a:rPr sz="1300">
                <a:solidFill>
                  <a:srgbClr val="FFFFFF"/>
                </a:solidFill>
                <a:latin typeface="DejaVu Sans Mono"/>
              </a:rPr>
              <a:t>, null);</a:t>
            </a:r>
            <a:endParaRPr/>
          </a:p>
          <a:p>
            <a:pPr>
              <a:spcBef>
                <a:spcPts val="0"/>
              </a:spcBef>
              <a:spcAft>
                <a:spcPts val="200"/>
              </a:spcAft>
              <a:defRPr/>
            </a:pPr>
            <a:r>
              <a:rPr sz="1300">
                <a:solidFill>
                  <a:srgbClr val="FFFFFF"/>
                </a:solidFill>
                <a:latin typeface="DejaVu Sans Mono"/>
              </a:rPr>
              <a:t>// lire le Cursor et mapper les colonnes</a:t>
            </a:r>
            <a:endParaRPr/>
          </a:p>
        </p:txBody>
      </p:sp>
      <p:sp>
        <p:nvSpPr>
          <p:cNvPr id="1763685848" name="Rounded Rectangle 13"/>
          <p:cNvSpPr/>
          <p:nvPr/>
        </p:nvSpPr>
        <p:spPr bwMode="auto">
          <a:xfrm>
            <a:off x="6455664" y="2295144"/>
            <a:ext cx="4736592" cy="1444752"/>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7251435" name="TextBox 14"/>
          <p:cNvSpPr txBox="1"/>
          <p:nvPr/>
        </p:nvSpPr>
        <p:spPr bwMode="auto">
          <a:xfrm>
            <a:off x="6638544" y="2414015"/>
            <a:ext cx="4389120" cy="1243584"/>
          </a:xfrm>
          <a:prstGeom prst="rect">
            <a:avLst/>
          </a:prstGeom>
          <a:noFill/>
        </p:spPr>
        <p:txBody>
          <a:bodyPr wrap="none" lIns="0" tIns="0" rIns="0" bIns="0">
            <a:spAutoFit/>
          </a:bodyPr>
          <a:lstStyle/>
          <a:p>
            <a:pPr>
              <a:spcBef>
                <a:spcPts val="0"/>
              </a:spcBef>
              <a:spcAft>
                <a:spcPts val="200"/>
              </a:spcAft>
              <a:defRPr/>
            </a:pPr>
            <a:r>
              <a:rPr sz="1500">
                <a:solidFill>
                  <a:srgbClr val="2C9B65"/>
                </a:solidFill>
                <a:latin typeface="DejaVu Sans Mono"/>
              </a:rPr>
              <a:t>@Query</a:t>
            </a:r>
            <a:r>
              <a:rPr sz="1500">
                <a:solidFill>
                  <a:srgbClr val="FFFFFF"/>
                </a:solidFill>
                <a:latin typeface="DejaVu Sans Mono"/>
              </a:rPr>
              <a:t>(</a:t>
            </a:r>
            <a:r>
              <a:rPr sz="1500">
                <a:solidFill>
                  <a:srgbClr val="C68532"/>
                </a:solidFill>
                <a:latin typeface="DejaVu Sans Mono"/>
              </a:rPr>
              <a:t>"SELECT * FROM tasks"</a:t>
            </a:r>
            <a:r>
              <a:rPr sz="1500">
                <a:solidFill>
                  <a:srgbClr val="FFFFFF"/>
                </a:solidFill>
                <a:latin typeface="DejaVu Sans Mono"/>
              </a:rPr>
              <a:t>)</a:t>
            </a:r>
            <a:endParaRPr/>
          </a:p>
          <a:p>
            <a:pPr>
              <a:spcBef>
                <a:spcPts val="0"/>
              </a:spcBef>
              <a:spcAft>
                <a:spcPts val="200"/>
              </a:spcAft>
              <a:defRPr/>
            </a:pPr>
            <a:r>
              <a:rPr sz="1500">
                <a:solidFill>
                  <a:srgbClr val="FFFFFF"/>
                </a:solidFill>
                <a:latin typeface="DejaVu Sans Mono"/>
              </a:rPr>
              <a:t>LiveData&lt;List&lt;Task&gt;&gt; observeAll();</a:t>
            </a:r>
            <a:endParaRPr/>
          </a:p>
        </p:txBody>
      </p:sp>
      <p:sp>
        <p:nvSpPr>
          <p:cNvPr id="1202269112" name="TextBox 15"/>
          <p:cNvSpPr txBox="1"/>
          <p:nvPr/>
        </p:nvSpPr>
        <p:spPr bwMode="auto">
          <a:xfrm>
            <a:off x="987552" y="4096512"/>
            <a:ext cx="4617720" cy="914400"/>
          </a:xfrm>
          <a:prstGeom prst="rect">
            <a:avLst/>
          </a:prstGeom>
          <a:noFill/>
        </p:spPr>
        <p:txBody>
          <a:bodyPr wrap="square" lIns="18288" tIns="18288" rIns="18288" bIns="18288">
            <a:spAutoFit/>
          </a:bodyPr>
          <a:lstStyle/>
          <a:p>
            <a:pPr>
              <a:spcBef>
                <a:spcPts val="0"/>
              </a:spcBef>
              <a:spcAft>
                <a:spcPts val="0"/>
              </a:spcAft>
              <a:defRPr sz="1700" b="0">
                <a:solidFill>
                  <a:srgbClr val="172A31"/>
                </a:solidFill>
                <a:latin typeface="Aptos"/>
              </a:defRPr>
            </a:pPr>
            <a:r>
              <a:rPr/>
              <a:t>Curseur, ContentValues et mapping à gérer ; erreurs souvent détectées à l’exécution.</a:t>
            </a:r>
            <a:endParaRPr/>
          </a:p>
        </p:txBody>
      </p:sp>
      <p:sp>
        <p:nvSpPr>
          <p:cNvPr id="1354514726" name="TextBox 16"/>
          <p:cNvSpPr txBox="1"/>
          <p:nvPr/>
        </p:nvSpPr>
        <p:spPr bwMode="auto">
          <a:xfrm>
            <a:off x="6455664" y="4096512"/>
            <a:ext cx="4617720" cy="914400"/>
          </a:xfrm>
          <a:prstGeom prst="rect">
            <a:avLst/>
          </a:prstGeom>
          <a:noFill/>
        </p:spPr>
        <p:txBody>
          <a:bodyPr wrap="square" lIns="18288" tIns="18288" rIns="18288" bIns="18288">
            <a:spAutoFit/>
          </a:bodyPr>
          <a:lstStyle/>
          <a:p>
            <a:pPr>
              <a:spcBef>
                <a:spcPts val="0"/>
              </a:spcBef>
              <a:spcAft>
                <a:spcPts val="0"/>
              </a:spcAft>
              <a:defRPr sz="1700" b="0">
                <a:solidFill>
                  <a:srgbClr val="172A31"/>
                </a:solidFill>
                <a:latin typeface="Aptos"/>
              </a:defRPr>
            </a:pPr>
            <a:r>
              <a:rPr/>
              <a:t>DAO, mapping généré, requêtes vérifiées à la compilation, observation des changements.</a:t>
            </a:r>
            <a:endParaRPr/>
          </a:p>
        </p:txBody>
      </p:sp>
      <p:sp>
        <p:nvSpPr>
          <p:cNvPr id="1622172395" name="Rounded Rectangle 17"/>
          <p:cNvSpPr/>
          <p:nvPr/>
        </p:nvSpPr>
        <p:spPr bwMode="auto">
          <a:xfrm flipH="0" flipV="0">
            <a:off x="1416535" y="5365296"/>
            <a:ext cx="8831035" cy="771525"/>
          </a:xfrm>
          <a:prstGeom prst="roundRect">
            <a:avLst>
              <a:gd name="adj" fmla="val 18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8740495" name="TextBox 18"/>
          <p:cNvSpPr txBox="1"/>
          <p:nvPr/>
        </p:nvSpPr>
        <p:spPr bwMode="auto">
          <a:xfrm flipH="0" flipV="0">
            <a:off x="1756713" y="5488750"/>
            <a:ext cx="8056868" cy="463655"/>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sz="1400">
                <a:latin typeface="Aptos"/>
                <a:ea typeface="Aptos"/>
                <a:cs typeface="Aptos"/>
              </a:rPr>
              <a:t>Room utilise SQLite</a:t>
            </a:r>
            <a:r>
              <a:rPr lang="fr-FR" sz="1400">
                <a:latin typeface="Aptos"/>
                <a:ea typeface="Aptos"/>
                <a:cs typeface="Aptos"/>
              </a:rPr>
              <a:t> : </a:t>
            </a:r>
            <a:r>
              <a:rPr lang="fr-FR" sz="1400" b="1" i="0" u="none" strike="noStrike" cap="none" spc="0">
                <a:solidFill>
                  <a:srgbClr val="176D70"/>
                </a:solidFill>
                <a:latin typeface="Aptos"/>
                <a:ea typeface="Aptos"/>
                <a:cs typeface="Aptos"/>
              </a:rPr>
              <a:t>Room ajoute une couche d'abstraction, SQLite reste le moteur.</a:t>
            </a:r>
            <a:endParaRPr lang="fr-FR" sz="1400">
              <a:latin typeface="Aptos"/>
              <a:ea typeface="Aptos"/>
              <a:cs typeface="Aptos"/>
            </a:endParaRPr>
          </a:p>
          <a:p>
            <a:pPr>
              <a:spcBef>
                <a:spcPts val="0"/>
              </a:spcBef>
              <a:spcAft>
                <a:spcPts val="0"/>
              </a:spcAft>
              <a:defRPr sz="1500" b="1">
                <a:solidFill>
                  <a:srgbClr val="176D70"/>
                </a:solidFill>
                <a:latin typeface="Aptos"/>
              </a:defRPr>
            </a:pPr>
            <a:r>
              <a:rPr lang="en-US" sz="1400" b="1" i="0" u="none" strike="noStrike" cap="none" spc="0">
                <a:solidFill>
                  <a:schemeClr val="tx1"/>
                </a:solidFill>
                <a:latin typeface="Aptos"/>
                <a:ea typeface="Aptos"/>
                <a:cs typeface="Aptos"/>
              </a:rPr>
              <a:t>Room ≠ JPA/Hibernate : </a:t>
            </a:r>
            <a:r>
              <a:rPr lang="fr-FR" sz="1400" b="1" i="0" u="none" strike="noStrike" cap="none" spc="0">
                <a:solidFill>
                  <a:schemeClr val="tx1"/>
                </a:solidFill>
                <a:latin typeface="Aptos"/>
                <a:ea typeface="Aptos"/>
                <a:cs typeface="Aptos"/>
              </a:rPr>
              <a:t>p</a:t>
            </a:r>
            <a:r>
              <a:rPr lang="en-US" sz="1400" b="1" i="0" u="none" strike="noStrike" cap="none" spc="0">
                <a:solidFill>
                  <a:schemeClr val="tx1"/>
                </a:solidFill>
                <a:latin typeface="Aptos"/>
                <a:ea typeface="Aptos"/>
                <a:cs typeface="Aptos"/>
              </a:rPr>
              <a:t>as de persistence context ni de dirty checking automatique.</a:t>
            </a:r>
            <a:endParaRPr sz="1400">
              <a:latin typeface="Aptos"/>
              <a:cs typeface="Apto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872104523"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Room relie annotations et SQL</a:t>
            </a:r>
            <a:endParaRPr/>
          </a:p>
        </p:txBody>
      </p:sp>
      <p:sp>
        <p:nvSpPr>
          <p:cNvPr id="354205061"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Le compilateur produit l’implémentation des DAO</a:t>
            </a:r>
            <a:endParaRPr/>
          </a:p>
        </p:txBody>
      </p:sp>
      <p:cxnSp>
        <p:nvCxnSpPr>
          <p:cNvPr id="1787504661"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750472984"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367344093"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286599790"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07</a:t>
            </a:r>
            <a:endParaRPr/>
          </a:p>
        </p:txBody>
      </p:sp>
      <p:sp>
        <p:nvSpPr>
          <p:cNvPr id="706963107" name="Rounded Rectangle 7"/>
          <p:cNvSpPr/>
          <p:nvPr/>
        </p:nvSpPr>
        <p:spPr bwMode="auto">
          <a:xfrm>
            <a:off x="841248" y="1600200"/>
            <a:ext cx="2788920" cy="950976"/>
          </a:xfrm>
          <a:prstGeom prst="roundRect">
            <a:avLst>
              <a:gd name="adj" fmla="val 12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3115606" name="TextBox 8"/>
          <p:cNvSpPr txBox="1"/>
          <p:nvPr/>
        </p:nvSpPr>
        <p:spPr bwMode="auto">
          <a:xfrm>
            <a:off x="950976" y="1709928"/>
            <a:ext cx="2569463" cy="338328"/>
          </a:xfrm>
          <a:prstGeom prst="rect">
            <a:avLst/>
          </a:prstGeom>
          <a:noFill/>
        </p:spPr>
        <p:txBody>
          <a:bodyPr wrap="square" lIns="18288" tIns="18288" rIns="18288" bIns="18288">
            <a:spAutoFit/>
          </a:bodyPr>
          <a:lstStyle/>
          <a:p>
            <a:pPr>
              <a:spcBef>
                <a:spcPts val="0"/>
              </a:spcBef>
              <a:spcAft>
                <a:spcPts val="0"/>
              </a:spcAft>
              <a:defRPr sz="2000" b="1">
                <a:solidFill>
                  <a:srgbClr val="2C9B65"/>
                </a:solidFill>
                <a:latin typeface="Aptos"/>
              </a:defRPr>
            </a:pPr>
            <a:r>
              <a:rPr/>
              <a:t>Task.java</a:t>
            </a:r>
            <a:endParaRPr/>
          </a:p>
        </p:txBody>
      </p:sp>
      <p:sp>
        <p:nvSpPr>
          <p:cNvPr id="1969947406" name="TextBox 9"/>
          <p:cNvSpPr txBox="1"/>
          <p:nvPr/>
        </p:nvSpPr>
        <p:spPr bwMode="auto">
          <a:xfrm>
            <a:off x="950976" y="2093976"/>
            <a:ext cx="2569463"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@Entity : schéma</a:t>
            </a:r>
            <a:endParaRPr/>
          </a:p>
        </p:txBody>
      </p:sp>
      <p:sp>
        <p:nvSpPr>
          <p:cNvPr id="1430541057" name="Rounded Rectangle 10"/>
          <p:cNvSpPr/>
          <p:nvPr/>
        </p:nvSpPr>
        <p:spPr bwMode="auto">
          <a:xfrm>
            <a:off x="841248" y="2907792"/>
            <a:ext cx="2788920" cy="950976"/>
          </a:xfrm>
          <a:prstGeom prst="roundRect">
            <a:avLst>
              <a:gd name="adj" fmla="val 12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0800145" name="TextBox 11"/>
          <p:cNvSpPr txBox="1"/>
          <p:nvPr/>
        </p:nvSpPr>
        <p:spPr bwMode="auto">
          <a:xfrm>
            <a:off x="950976" y="3017519"/>
            <a:ext cx="2569463" cy="338328"/>
          </a:xfrm>
          <a:prstGeom prst="rect">
            <a:avLst/>
          </a:prstGeom>
          <a:noFill/>
        </p:spPr>
        <p:txBody>
          <a:bodyPr wrap="square" lIns="18288" tIns="18288" rIns="18288" bIns="18288">
            <a:spAutoFit/>
          </a:bodyPr>
          <a:lstStyle/>
          <a:p>
            <a:pPr>
              <a:spcBef>
                <a:spcPts val="0"/>
              </a:spcBef>
              <a:spcAft>
                <a:spcPts val="0"/>
              </a:spcAft>
              <a:defRPr sz="2000" b="1">
                <a:solidFill>
                  <a:srgbClr val="2C9B65"/>
                </a:solidFill>
                <a:latin typeface="Aptos"/>
              </a:defRPr>
            </a:pPr>
            <a:r>
              <a:rPr/>
              <a:t>TaskDao.java</a:t>
            </a:r>
            <a:endParaRPr/>
          </a:p>
        </p:txBody>
      </p:sp>
      <p:sp>
        <p:nvSpPr>
          <p:cNvPr id="2096962450" name="TextBox 12"/>
          <p:cNvSpPr txBox="1"/>
          <p:nvPr/>
        </p:nvSpPr>
        <p:spPr bwMode="auto">
          <a:xfrm>
            <a:off x="950976" y="3401568"/>
            <a:ext cx="2569463"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@Dao, @Query, @Insert</a:t>
            </a:r>
            <a:endParaRPr/>
          </a:p>
        </p:txBody>
      </p:sp>
      <p:sp>
        <p:nvSpPr>
          <p:cNvPr id="770530517" name="Rounded Rectangle 13"/>
          <p:cNvSpPr/>
          <p:nvPr/>
        </p:nvSpPr>
        <p:spPr bwMode="auto">
          <a:xfrm>
            <a:off x="841248" y="4215384"/>
            <a:ext cx="2788920" cy="950976"/>
          </a:xfrm>
          <a:prstGeom prst="roundRect">
            <a:avLst>
              <a:gd name="adj" fmla="val 12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8335588" name="TextBox 14"/>
          <p:cNvSpPr txBox="1"/>
          <p:nvPr/>
        </p:nvSpPr>
        <p:spPr bwMode="auto">
          <a:xfrm>
            <a:off x="950976" y="4325112"/>
            <a:ext cx="2569463" cy="338328"/>
          </a:xfrm>
          <a:prstGeom prst="rect">
            <a:avLst/>
          </a:prstGeom>
          <a:noFill/>
        </p:spPr>
        <p:txBody>
          <a:bodyPr wrap="square" lIns="18288" tIns="18288" rIns="18288" bIns="18288">
            <a:spAutoFit/>
          </a:bodyPr>
          <a:lstStyle/>
          <a:p>
            <a:pPr>
              <a:spcBef>
                <a:spcPts val="0"/>
              </a:spcBef>
              <a:spcAft>
                <a:spcPts val="0"/>
              </a:spcAft>
              <a:defRPr sz="2000" b="1">
                <a:solidFill>
                  <a:srgbClr val="6A60AC"/>
                </a:solidFill>
                <a:latin typeface="Aptos"/>
              </a:defRPr>
            </a:pPr>
            <a:r>
              <a:rPr/>
              <a:t>AppDb.java</a:t>
            </a:r>
            <a:endParaRPr/>
          </a:p>
        </p:txBody>
      </p:sp>
      <p:sp>
        <p:nvSpPr>
          <p:cNvPr id="1917013488" name="TextBox 15"/>
          <p:cNvSpPr txBox="1"/>
          <p:nvPr/>
        </p:nvSpPr>
        <p:spPr bwMode="auto">
          <a:xfrm>
            <a:off x="950976" y="4709160"/>
            <a:ext cx="2569463"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@Database : point d’entrée</a:t>
            </a:r>
            <a:endParaRPr/>
          </a:p>
        </p:txBody>
      </p:sp>
      <p:sp>
        <p:nvSpPr>
          <p:cNvPr id="1140356344" name="Rounded Rectangle 16"/>
          <p:cNvSpPr/>
          <p:nvPr/>
        </p:nvSpPr>
        <p:spPr bwMode="auto">
          <a:xfrm>
            <a:off x="4206240" y="2432303"/>
            <a:ext cx="3017519" cy="2002536"/>
          </a:xfrm>
          <a:prstGeom prst="roundRect">
            <a:avLst>
              <a:gd name="adj" fmla="val 8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8527846" name="TextBox 17"/>
          <p:cNvSpPr txBox="1"/>
          <p:nvPr/>
        </p:nvSpPr>
        <p:spPr bwMode="auto">
          <a:xfrm>
            <a:off x="4416552" y="2743200"/>
            <a:ext cx="2596896" cy="448056"/>
          </a:xfrm>
          <a:prstGeom prst="rect">
            <a:avLst/>
          </a:prstGeom>
          <a:noFill/>
        </p:spPr>
        <p:txBody>
          <a:bodyPr wrap="square" lIns="18288" tIns="18288" rIns="18288" bIns="18288">
            <a:spAutoFit/>
          </a:bodyPr>
          <a:lstStyle/>
          <a:p>
            <a:pPr algn="ctr">
              <a:spcBef>
                <a:spcPts val="0"/>
              </a:spcBef>
              <a:spcAft>
                <a:spcPts val="0"/>
              </a:spcAft>
              <a:defRPr sz="1900" b="1">
                <a:solidFill>
                  <a:srgbClr val="172A31"/>
                </a:solidFill>
                <a:latin typeface="Aptos"/>
              </a:defRPr>
            </a:pPr>
            <a:r>
              <a:rPr/>
              <a:t>Compilation Room</a:t>
            </a:r>
            <a:endParaRPr/>
          </a:p>
        </p:txBody>
      </p:sp>
      <p:sp>
        <p:nvSpPr>
          <p:cNvPr id="1171141421" name="TextBox 18"/>
          <p:cNvSpPr txBox="1"/>
          <p:nvPr/>
        </p:nvSpPr>
        <p:spPr bwMode="auto">
          <a:xfrm>
            <a:off x="4489704" y="3374136"/>
            <a:ext cx="2468880" cy="667512"/>
          </a:xfrm>
          <a:prstGeom prst="rect">
            <a:avLst/>
          </a:prstGeom>
          <a:noFill/>
        </p:spPr>
        <p:txBody>
          <a:bodyPr wrap="square" lIns="18288" tIns="18288" rIns="18288" bIns="18288">
            <a:spAutoFit/>
          </a:bodyPr>
          <a:lstStyle/>
          <a:p>
            <a:pPr algn="ctr">
              <a:spcBef>
                <a:spcPts val="0"/>
              </a:spcBef>
              <a:spcAft>
                <a:spcPts val="0"/>
              </a:spcAft>
              <a:defRPr sz="1500" b="0">
                <a:solidFill>
                  <a:srgbClr val="53666D"/>
                </a:solidFill>
                <a:latin typeface="Aptos"/>
              </a:defRPr>
            </a:pPr>
            <a:r>
              <a:rPr/>
              <a:t>vérifie le schéma</a:t>
            </a:r>
            <a:endParaRPr/>
          </a:p>
          <a:p>
            <a:pPr algn="ctr">
              <a:spcBef>
                <a:spcPts val="0"/>
              </a:spcBef>
              <a:spcAft>
                <a:spcPts val="0"/>
              </a:spcAft>
              <a:defRPr sz="1500" b="0">
                <a:solidFill>
                  <a:srgbClr val="53666D"/>
                </a:solidFill>
                <a:latin typeface="Aptos"/>
              </a:defRPr>
            </a:pPr>
            <a:r>
              <a:rPr/>
              <a:t>et génère le code</a:t>
            </a:r>
            <a:endParaRPr/>
          </a:p>
        </p:txBody>
      </p:sp>
      <p:cxnSp>
        <p:nvCxnSpPr>
          <p:cNvPr id="1614076928" name="Connector 19"/>
          <p:cNvCxnSpPr/>
          <p:nvPr/>
        </p:nvCxnSpPr>
        <p:spPr bwMode="auto">
          <a:xfrm>
            <a:off x="3639312" y="2075688"/>
            <a:ext cx="530351" cy="1353312"/>
          </a:xfrm>
          <a:prstGeom prst="line">
            <a:avLst/>
          </a:prstGeom>
          <a:ln w="22860">
            <a:solidFill>
              <a:srgbClr val="176D70"/>
            </a:solidFill>
            <a:tailEnd type="triangle"/>
          </a:ln>
        </p:spPr>
        <p:style>
          <a:lnRef idx="2">
            <a:schemeClr val="accent1"/>
          </a:lnRef>
          <a:fillRef idx="0">
            <a:schemeClr val="accent1"/>
          </a:fillRef>
          <a:effectRef idx="1">
            <a:schemeClr val="accent1"/>
          </a:effectRef>
          <a:fontRef idx="minor">
            <a:schemeClr val="tx1"/>
          </a:fontRef>
        </p:style>
      </p:cxnSp>
      <p:cxnSp>
        <p:nvCxnSpPr>
          <p:cNvPr id="807273104" name="Connector 20"/>
          <p:cNvCxnSpPr/>
          <p:nvPr/>
        </p:nvCxnSpPr>
        <p:spPr bwMode="auto">
          <a:xfrm>
            <a:off x="3639312" y="3383280"/>
            <a:ext cx="530351" cy="45720"/>
          </a:xfrm>
          <a:prstGeom prst="line">
            <a:avLst/>
          </a:prstGeom>
          <a:ln w="22860">
            <a:solidFill>
              <a:srgbClr val="176D70"/>
            </a:solidFill>
            <a:tailEnd type="triangle"/>
          </a:ln>
        </p:spPr>
        <p:style>
          <a:lnRef idx="2">
            <a:schemeClr val="accent1"/>
          </a:lnRef>
          <a:fillRef idx="0">
            <a:schemeClr val="accent1"/>
          </a:fillRef>
          <a:effectRef idx="1">
            <a:schemeClr val="accent1"/>
          </a:effectRef>
          <a:fontRef idx="minor">
            <a:schemeClr val="tx1"/>
          </a:fontRef>
        </p:style>
      </p:cxnSp>
      <p:cxnSp>
        <p:nvCxnSpPr>
          <p:cNvPr id="2115553356" name="Connector 21"/>
          <p:cNvCxnSpPr/>
          <p:nvPr/>
        </p:nvCxnSpPr>
        <p:spPr bwMode="auto">
          <a:xfrm flipV="1">
            <a:off x="3639312" y="3429000"/>
            <a:ext cx="530351" cy="1261872"/>
          </a:xfrm>
          <a:prstGeom prst="line">
            <a:avLst/>
          </a:prstGeom>
          <a:ln w="22860">
            <a:solidFill>
              <a:srgbClr val="176D70"/>
            </a:solidFill>
            <a:tailEnd type="triangle"/>
          </a:ln>
        </p:spPr>
        <p:style>
          <a:lnRef idx="2">
            <a:schemeClr val="accent1"/>
          </a:lnRef>
          <a:fillRef idx="0">
            <a:schemeClr val="accent1"/>
          </a:fillRef>
          <a:effectRef idx="1">
            <a:schemeClr val="accent1"/>
          </a:effectRef>
          <a:fontRef idx="minor">
            <a:schemeClr val="tx1"/>
          </a:fontRef>
        </p:style>
      </p:cxnSp>
      <p:sp>
        <p:nvSpPr>
          <p:cNvPr id="1209797469" name="Rounded Rectangle 22"/>
          <p:cNvSpPr/>
          <p:nvPr/>
        </p:nvSpPr>
        <p:spPr bwMode="auto">
          <a:xfrm>
            <a:off x="7854696" y="1993392"/>
            <a:ext cx="3291840" cy="950976"/>
          </a:xfrm>
          <a:prstGeom prst="roundRect">
            <a:avLst>
              <a:gd name="adj" fmla="val 12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3596866" name="TextBox 23"/>
          <p:cNvSpPr txBox="1"/>
          <p:nvPr/>
        </p:nvSpPr>
        <p:spPr bwMode="auto">
          <a:xfrm>
            <a:off x="7964423" y="2103120"/>
            <a:ext cx="3072384" cy="338328"/>
          </a:xfrm>
          <a:prstGeom prst="rect">
            <a:avLst/>
          </a:prstGeom>
          <a:noFill/>
        </p:spPr>
        <p:txBody>
          <a:bodyPr wrap="square" lIns="18288" tIns="18288" rIns="18288" bIns="18288">
            <a:spAutoFit/>
          </a:bodyPr>
          <a:lstStyle/>
          <a:p>
            <a:pPr>
              <a:spcBef>
                <a:spcPts val="0"/>
              </a:spcBef>
              <a:spcAft>
                <a:spcPts val="0"/>
              </a:spcAft>
              <a:defRPr sz="1800" b="1">
                <a:solidFill>
                  <a:srgbClr val="2C9B65"/>
                </a:solidFill>
                <a:latin typeface="Aptos"/>
              </a:defRPr>
            </a:pPr>
            <a:r>
              <a:rPr/>
              <a:t>Implémentation du DAO</a:t>
            </a:r>
            <a:endParaRPr/>
          </a:p>
        </p:txBody>
      </p:sp>
      <p:sp>
        <p:nvSpPr>
          <p:cNvPr id="368967345" name="Rounded Rectangle 24"/>
          <p:cNvSpPr/>
          <p:nvPr/>
        </p:nvSpPr>
        <p:spPr bwMode="auto">
          <a:xfrm>
            <a:off x="7854696" y="3392424"/>
            <a:ext cx="3291840" cy="950976"/>
          </a:xfrm>
          <a:prstGeom prst="roundRect">
            <a:avLst>
              <a:gd name="adj" fmla="val 12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0802279" name="TextBox 25"/>
          <p:cNvSpPr txBox="1"/>
          <p:nvPr/>
        </p:nvSpPr>
        <p:spPr bwMode="auto">
          <a:xfrm>
            <a:off x="7964423" y="3502152"/>
            <a:ext cx="3072384" cy="338328"/>
          </a:xfrm>
          <a:prstGeom prst="rect">
            <a:avLst/>
          </a:prstGeom>
          <a:noFill/>
        </p:spPr>
        <p:txBody>
          <a:bodyPr wrap="square" lIns="18288" tIns="18288" rIns="18288" bIns="18288">
            <a:spAutoFit/>
          </a:bodyPr>
          <a:lstStyle/>
          <a:p>
            <a:pPr>
              <a:spcBef>
                <a:spcPts val="0"/>
              </a:spcBef>
              <a:spcAft>
                <a:spcPts val="0"/>
              </a:spcAft>
              <a:defRPr sz="1900" b="1">
                <a:solidFill>
                  <a:srgbClr val="176D70"/>
                </a:solidFill>
                <a:latin typeface="Aptos"/>
              </a:defRPr>
            </a:pPr>
            <a:r>
              <a:rPr/>
              <a:t>Moteur SQLite</a:t>
            </a:r>
            <a:endParaRPr/>
          </a:p>
        </p:txBody>
      </p:sp>
      <p:sp>
        <p:nvSpPr>
          <p:cNvPr id="607364699" name="Rounded Rectangle 26"/>
          <p:cNvSpPr/>
          <p:nvPr/>
        </p:nvSpPr>
        <p:spPr bwMode="auto">
          <a:xfrm>
            <a:off x="7854696" y="4791456"/>
            <a:ext cx="3291840" cy="667512"/>
          </a:xfrm>
          <a:prstGeom prst="roundRect">
            <a:avLst>
              <a:gd name="adj" fmla="val 12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4271004" name="TextBox 27"/>
          <p:cNvSpPr txBox="1"/>
          <p:nvPr/>
        </p:nvSpPr>
        <p:spPr bwMode="auto">
          <a:xfrm>
            <a:off x="7964423" y="4901184"/>
            <a:ext cx="3072384" cy="338328"/>
          </a:xfrm>
          <a:prstGeom prst="rect">
            <a:avLst/>
          </a:prstGeom>
          <a:noFill/>
        </p:spPr>
        <p:txBody>
          <a:bodyPr wrap="square" lIns="18288" tIns="18288" rIns="18288" bIns="18288">
            <a:spAutoFit/>
          </a:bodyPr>
          <a:lstStyle/>
          <a:p>
            <a:pPr>
              <a:spcBef>
                <a:spcPts val="0"/>
              </a:spcBef>
              <a:spcAft>
                <a:spcPts val="0"/>
              </a:spcAft>
              <a:defRPr sz="1900" b="1">
                <a:solidFill>
                  <a:srgbClr val="176D70"/>
                </a:solidFill>
                <a:latin typeface="Aptos"/>
              </a:defRPr>
            </a:pPr>
            <a:r>
              <a:rPr/>
              <a:t>tasks.db</a:t>
            </a:r>
            <a:endParaRPr/>
          </a:p>
        </p:txBody>
      </p:sp>
      <p:cxnSp>
        <p:nvCxnSpPr>
          <p:cNvPr id="939973805" name="Connector 28"/>
          <p:cNvCxnSpPr/>
          <p:nvPr/>
        </p:nvCxnSpPr>
        <p:spPr bwMode="auto">
          <a:xfrm flipV="1">
            <a:off x="7251192" y="2468880"/>
            <a:ext cx="557783" cy="960120"/>
          </a:xfrm>
          <a:prstGeom prst="line">
            <a:avLst/>
          </a:prstGeom>
          <a:ln w="25400">
            <a:solidFill>
              <a:srgbClr val="2C9B65"/>
            </a:solidFill>
            <a:tailEnd type="triangle"/>
          </a:ln>
        </p:spPr>
        <p:style>
          <a:lnRef idx="2">
            <a:schemeClr val="accent1"/>
          </a:lnRef>
          <a:fillRef idx="0">
            <a:schemeClr val="accent1"/>
          </a:fillRef>
          <a:effectRef idx="1">
            <a:schemeClr val="accent1"/>
          </a:effectRef>
          <a:fontRef idx="minor">
            <a:schemeClr val="tx1"/>
          </a:fontRef>
        </p:style>
      </p:cxnSp>
      <p:cxnSp>
        <p:nvCxnSpPr>
          <p:cNvPr id="392806158" name="Connector 29"/>
          <p:cNvCxnSpPr/>
          <p:nvPr/>
        </p:nvCxnSpPr>
        <p:spPr bwMode="auto">
          <a:xfrm>
            <a:off x="9500616" y="2962656"/>
            <a:ext cx="0" cy="393192"/>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cxnSp>
        <p:nvCxnSpPr>
          <p:cNvPr id="806077356" name="Connector 30"/>
          <p:cNvCxnSpPr/>
          <p:nvPr/>
        </p:nvCxnSpPr>
        <p:spPr bwMode="auto">
          <a:xfrm>
            <a:off x="9500616" y="4361688"/>
            <a:ext cx="0" cy="393192"/>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842278776"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Une classe Java devient une table</a:t>
            </a:r>
            <a:endParaRPr/>
          </a:p>
        </p:txBody>
      </p:sp>
      <p:sp>
        <p:nvSpPr>
          <p:cNvPr id="2014689048"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Task : mapping objet ↔ relationnel</a:t>
            </a:r>
            <a:endParaRPr sz="1600"/>
          </a:p>
        </p:txBody>
      </p:sp>
      <p:cxnSp>
        <p:nvCxnSpPr>
          <p:cNvPr id="207887346"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60133121"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2030600175"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109175557"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08</a:t>
            </a:r>
            <a:endParaRPr/>
          </a:p>
        </p:txBody>
      </p:sp>
      <p:sp>
        <p:nvSpPr>
          <p:cNvPr id="142212856" name="Rounded Rectangle 7"/>
          <p:cNvSpPr/>
          <p:nvPr/>
        </p:nvSpPr>
        <p:spPr bwMode="auto">
          <a:xfrm>
            <a:off x="704088" y="1371600"/>
            <a:ext cx="5650992" cy="4480560"/>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3668583" name="TextBox 8"/>
          <p:cNvSpPr txBox="1"/>
          <p:nvPr/>
        </p:nvSpPr>
        <p:spPr bwMode="auto">
          <a:xfrm>
            <a:off x="877824" y="1719072"/>
            <a:ext cx="5303520" cy="4279392"/>
          </a:xfrm>
          <a:prstGeom prst="rect">
            <a:avLst/>
          </a:prstGeom>
          <a:noFill/>
        </p:spPr>
        <p:txBody>
          <a:bodyPr wrap="none" lIns="0" tIns="0" rIns="0" bIns="0">
            <a:spAutoFit/>
          </a:bodyPr>
          <a:lstStyle/>
          <a:p>
            <a:pPr>
              <a:spcBef>
                <a:spcPts val="0"/>
              </a:spcBef>
              <a:spcAft>
                <a:spcPts val="200"/>
              </a:spcAft>
              <a:defRPr/>
            </a:pPr>
            <a:r>
              <a:rPr sz="1500">
                <a:solidFill>
                  <a:srgbClr val="2C9B65"/>
                </a:solidFill>
                <a:latin typeface="DejaVu Sans Mono"/>
              </a:rPr>
              <a:t>@Entity</a:t>
            </a:r>
            <a:r>
              <a:rPr sz="1500">
                <a:solidFill>
                  <a:srgbClr val="FFFFFF"/>
                </a:solidFill>
                <a:latin typeface="DejaVu Sans Mono"/>
              </a:rPr>
              <a:t>(tableName = </a:t>
            </a:r>
            <a:r>
              <a:rPr sz="1500">
                <a:solidFill>
                  <a:srgbClr val="C68532"/>
                </a:solidFill>
                <a:latin typeface="DejaVu Sans Mono"/>
              </a:rPr>
              <a:t>"tasks"</a:t>
            </a:r>
            <a:r>
              <a:rPr sz="1500">
                <a:solidFill>
                  <a:srgbClr val="FFFFFF"/>
                </a:solidFill>
                <a:latin typeface="DejaVu Sans Mono"/>
              </a:rPr>
              <a:t>)</a:t>
            </a:r>
            <a:endParaRPr/>
          </a:p>
          <a:p>
            <a:pPr>
              <a:spcBef>
                <a:spcPts val="0"/>
              </a:spcBef>
              <a:spcAft>
                <a:spcPts val="200"/>
              </a:spcAft>
              <a:defRPr/>
            </a:pPr>
            <a:r>
              <a:rPr sz="1500">
                <a:solidFill>
                  <a:srgbClr val="DFEDF8"/>
                </a:solidFill>
                <a:latin typeface="DejaVu Sans Mono"/>
              </a:rPr>
              <a:t>public</a:t>
            </a:r>
            <a:r>
              <a:rPr sz="1500">
                <a:solidFill>
                  <a:srgbClr val="FFFFFF"/>
                </a:solidFill>
                <a:latin typeface="DejaVu Sans Mono"/>
              </a:rPr>
              <a:t> </a:t>
            </a:r>
            <a:r>
              <a:rPr sz="1500">
                <a:solidFill>
                  <a:srgbClr val="DFEDF8"/>
                </a:solidFill>
                <a:latin typeface="DejaVu Sans Mono"/>
              </a:rPr>
              <a:t>class</a:t>
            </a:r>
            <a:r>
              <a:rPr sz="1500">
                <a:solidFill>
                  <a:srgbClr val="FFFFFF"/>
                </a:solidFill>
                <a:latin typeface="DejaVu Sans Mono"/>
              </a:rPr>
              <a:t> Task {</a:t>
            </a:r>
            <a:endParaRPr/>
          </a:p>
          <a:p>
            <a:pPr>
              <a:spcBef>
                <a:spcPts val="0"/>
              </a:spcBef>
              <a:spcAft>
                <a:spcPts val="200"/>
              </a:spcAft>
              <a:defRPr/>
            </a:pPr>
            <a:r>
              <a:rPr sz="1500">
                <a:solidFill>
                  <a:srgbClr val="FFFFFF"/>
                </a:solidFill>
                <a:latin typeface="DejaVu Sans Mono"/>
              </a:rPr>
              <a:t>  </a:t>
            </a:r>
            <a:r>
              <a:rPr sz="1500">
                <a:solidFill>
                  <a:srgbClr val="2C9B65"/>
                </a:solidFill>
                <a:latin typeface="DejaVu Sans Mono"/>
              </a:rPr>
              <a:t>@PrimaryKey</a:t>
            </a:r>
            <a:r>
              <a:rPr sz="1500">
                <a:solidFill>
                  <a:srgbClr val="FFFFFF"/>
                </a:solidFill>
                <a:latin typeface="DejaVu Sans Mono"/>
              </a:rPr>
              <a:t>(autoGenerate = true)</a:t>
            </a:r>
            <a:endParaRPr/>
          </a:p>
          <a:p>
            <a:pPr>
              <a:spcBef>
                <a:spcPts val="0"/>
              </a:spcBef>
              <a:spcAft>
                <a:spcPts val="200"/>
              </a:spcAft>
              <a:defRPr/>
            </a:pPr>
            <a:r>
              <a:rPr sz="1500">
                <a:solidFill>
                  <a:srgbClr val="FFFFFF"/>
                </a:solidFill>
                <a:latin typeface="DejaVu Sans Mono"/>
              </a:rPr>
              <a:t>  </a:t>
            </a:r>
            <a:r>
              <a:rPr sz="1500">
                <a:solidFill>
                  <a:srgbClr val="DFEDF8"/>
                </a:solidFill>
                <a:latin typeface="DejaVu Sans Mono"/>
              </a:rPr>
              <a:t>public</a:t>
            </a:r>
            <a:r>
              <a:rPr sz="1500">
                <a:solidFill>
                  <a:srgbClr val="FFFFFF"/>
                </a:solidFill>
                <a:latin typeface="DejaVu Sans Mono"/>
              </a:rPr>
              <a:t> </a:t>
            </a:r>
            <a:r>
              <a:rPr sz="1500">
                <a:solidFill>
                  <a:srgbClr val="DFEDF8"/>
                </a:solidFill>
                <a:latin typeface="DejaVu Sans Mono"/>
              </a:rPr>
              <a:t>long</a:t>
            </a:r>
            <a:r>
              <a:rPr sz="1500">
                <a:solidFill>
                  <a:srgbClr val="FFFFFF"/>
                </a:solidFill>
                <a:latin typeface="DejaVu Sans Mono"/>
              </a:rPr>
              <a:t> id;</a:t>
            </a:r>
            <a:endParaRPr/>
          </a:p>
          <a:p>
            <a:pPr>
              <a:spcBef>
                <a:spcPts val="0"/>
              </a:spcBef>
              <a:spcAft>
                <a:spcPts val="200"/>
              </a:spcAft>
              <a:defRPr/>
            </a:pPr>
            <a:r>
              <a:rPr sz="1500">
                <a:solidFill>
                  <a:srgbClr val="FFFFFF"/>
                </a:solidFill>
                <a:latin typeface="DejaVu Sans Mono"/>
              </a:rPr>
              <a:t>  </a:t>
            </a:r>
            <a:r>
              <a:rPr sz="1500">
                <a:solidFill>
                  <a:srgbClr val="2C9B65"/>
                </a:solidFill>
                <a:latin typeface="DejaVu Sans Mono"/>
              </a:rPr>
              <a:t>@NonNull</a:t>
            </a:r>
            <a:r>
              <a:rPr sz="1500">
                <a:solidFill>
                  <a:srgbClr val="FFFFFF"/>
                </a:solidFill>
                <a:latin typeface="DejaVu Sans Mono"/>
              </a:rPr>
              <a:t> </a:t>
            </a:r>
            <a:r>
              <a:rPr sz="1500">
                <a:solidFill>
                  <a:srgbClr val="DFEDF8"/>
                </a:solidFill>
                <a:latin typeface="DejaVu Sans Mono"/>
              </a:rPr>
              <a:t>public</a:t>
            </a:r>
            <a:r>
              <a:rPr sz="1500">
                <a:solidFill>
                  <a:srgbClr val="FFFFFF"/>
                </a:solidFill>
                <a:latin typeface="DejaVu Sans Mono"/>
              </a:rPr>
              <a:t> String title;</a:t>
            </a:r>
            <a:endParaRPr/>
          </a:p>
          <a:p>
            <a:pPr>
              <a:spcBef>
                <a:spcPts val="0"/>
              </a:spcBef>
              <a:spcAft>
                <a:spcPts val="200"/>
              </a:spcAft>
              <a:defRPr/>
            </a:pPr>
            <a:r>
              <a:rPr sz="1500">
                <a:solidFill>
                  <a:srgbClr val="FFFFFF"/>
                </a:solidFill>
                <a:latin typeface="DejaVu Sans Mono"/>
              </a:rPr>
              <a:t>  </a:t>
            </a:r>
            <a:r>
              <a:rPr sz="1500">
                <a:solidFill>
                  <a:srgbClr val="2C9B65"/>
                </a:solidFill>
                <a:latin typeface="DejaVu Sans Mono"/>
              </a:rPr>
              <a:t>@ColumnInfo</a:t>
            </a:r>
            <a:r>
              <a:rPr sz="1500">
                <a:solidFill>
                  <a:srgbClr val="FFFFFF"/>
                </a:solidFill>
                <a:latin typeface="DejaVu Sans Mono"/>
              </a:rPr>
              <a:t>(defaultValue = </a:t>
            </a:r>
            <a:r>
              <a:rPr sz="1500">
                <a:solidFill>
                  <a:srgbClr val="C68532"/>
                </a:solidFill>
                <a:latin typeface="DejaVu Sans Mono"/>
              </a:rPr>
              <a:t>"0"</a:t>
            </a:r>
            <a:r>
              <a:rPr sz="1500">
                <a:solidFill>
                  <a:srgbClr val="FFFFFF"/>
                </a:solidFill>
                <a:latin typeface="DejaVu Sans Mono"/>
              </a:rPr>
              <a:t>)</a:t>
            </a:r>
            <a:endParaRPr/>
          </a:p>
          <a:p>
            <a:pPr>
              <a:spcBef>
                <a:spcPts val="0"/>
              </a:spcBef>
              <a:spcAft>
                <a:spcPts val="200"/>
              </a:spcAft>
              <a:defRPr/>
            </a:pPr>
            <a:r>
              <a:rPr sz="1500">
                <a:solidFill>
                  <a:srgbClr val="FFFFFF"/>
                </a:solidFill>
                <a:latin typeface="DejaVu Sans Mono"/>
              </a:rPr>
              <a:t>  </a:t>
            </a:r>
            <a:r>
              <a:rPr sz="1500">
                <a:solidFill>
                  <a:srgbClr val="DFEDF8"/>
                </a:solidFill>
                <a:latin typeface="DejaVu Sans Mono"/>
              </a:rPr>
              <a:t>public</a:t>
            </a:r>
            <a:r>
              <a:rPr sz="1500">
                <a:solidFill>
                  <a:srgbClr val="FFFFFF"/>
                </a:solidFill>
                <a:latin typeface="DejaVu Sans Mono"/>
              </a:rPr>
              <a:t> </a:t>
            </a:r>
            <a:r>
              <a:rPr sz="1500">
                <a:solidFill>
                  <a:srgbClr val="DFEDF8"/>
                </a:solidFill>
                <a:latin typeface="DejaVu Sans Mono"/>
              </a:rPr>
              <a:t>boolean</a:t>
            </a:r>
            <a:r>
              <a:rPr sz="1500">
                <a:solidFill>
                  <a:srgbClr val="FFFFFF"/>
                </a:solidFill>
                <a:latin typeface="DejaVu Sans Mono"/>
              </a:rPr>
              <a:t> completed;</a:t>
            </a:r>
            <a:endParaRPr/>
          </a:p>
          <a:p>
            <a:pPr>
              <a:spcBef>
                <a:spcPts val="0"/>
              </a:spcBef>
              <a:spcAft>
                <a:spcPts val="200"/>
              </a:spcAft>
              <a:defRPr/>
            </a:pPr>
            <a:r>
              <a:rPr sz="1500">
                <a:solidFill>
                  <a:srgbClr val="FFFFFF"/>
                </a:solidFill>
                <a:latin typeface="DejaVu Sans Mono"/>
              </a:rPr>
              <a:t>  </a:t>
            </a:r>
            <a:r>
              <a:rPr sz="1500">
                <a:solidFill>
                  <a:srgbClr val="DFEDF8"/>
                </a:solidFill>
                <a:latin typeface="DejaVu Sans Mono"/>
              </a:rPr>
              <a:t>public</a:t>
            </a:r>
            <a:r>
              <a:rPr sz="1500">
                <a:solidFill>
                  <a:srgbClr val="FFFFFF"/>
                </a:solidFill>
                <a:latin typeface="DejaVu Sans Mono"/>
              </a:rPr>
              <a:t> Task(</a:t>
            </a:r>
            <a:r>
              <a:rPr sz="1500">
                <a:solidFill>
                  <a:srgbClr val="2C9B65"/>
                </a:solidFill>
                <a:latin typeface="DejaVu Sans Mono"/>
              </a:rPr>
              <a:t>@NonNull</a:t>
            </a:r>
            <a:r>
              <a:rPr sz="1500">
                <a:solidFill>
                  <a:srgbClr val="FFFFFF"/>
                </a:solidFill>
                <a:latin typeface="DejaVu Sans Mono"/>
              </a:rPr>
              <a:t> String title) {</a:t>
            </a:r>
            <a:endParaRPr/>
          </a:p>
          <a:p>
            <a:pPr>
              <a:spcBef>
                <a:spcPts val="0"/>
              </a:spcBef>
              <a:spcAft>
                <a:spcPts val="200"/>
              </a:spcAft>
              <a:defRPr/>
            </a:pPr>
            <a:r>
              <a:rPr sz="1500">
                <a:solidFill>
                  <a:srgbClr val="FFFFFF"/>
                </a:solidFill>
                <a:latin typeface="DejaVu Sans Mono"/>
              </a:rPr>
              <a:t>    this.title = title;</a:t>
            </a:r>
            <a:endParaRPr/>
          </a:p>
          <a:p>
            <a:pPr>
              <a:spcBef>
                <a:spcPts val="0"/>
              </a:spcBef>
              <a:spcAft>
                <a:spcPts val="200"/>
              </a:spcAft>
              <a:defRPr/>
            </a:pPr>
            <a:r>
              <a:rPr sz="1500">
                <a:solidFill>
                  <a:srgbClr val="FFFFFF"/>
                </a:solidFill>
                <a:latin typeface="DejaVu Sans Mono"/>
              </a:rPr>
              <a:t>  }</a:t>
            </a:r>
            <a:endParaRPr/>
          </a:p>
          <a:p>
            <a:pPr>
              <a:spcBef>
                <a:spcPts val="0"/>
              </a:spcBef>
              <a:spcAft>
                <a:spcPts val="200"/>
              </a:spcAft>
              <a:defRPr/>
            </a:pPr>
            <a:r>
              <a:rPr sz="1500">
                <a:solidFill>
                  <a:srgbClr val="FFFFFF"/>
                </a:solidFill>
                <a:latin typeface="DejaVu Sans Mono"/>
              </a:rPr>
              <a:t>}</a:t>
            </a:r>
            <a:endParaRPr/>
          </a:p>
        </p:txBody>
      </p:sp>
      <p:sp>
        <p:nvSpPr>
          <p:cNvPr id="2068941944" name="Rounded Rectangle 9"/>
          <p:cNvSpPr/>
          <p:nvPr/>
        </p:nvSpPr>
        <p:spPr bwMode="auto">
          <a:xfrm>
            <a:off x="6675120" y="1627632"/>
            <a:ext cx="2057400" cy="630936"/>
          </a:xfrm>
          <a:prstGeom prst="roundRect">
            <a:avLst>
              <a:gd name="adj" fmla="val 6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79900" name="TextBox 10"/>
          <p:cNvSpPr txBox="1"/>
          <p:nvPr/>
        </p:nvSpPr>
        <p:spPr bwMode="auto">
          <a:xfrm>
            <a:off x="6803136" y="1792224"/>
            <a:ext cx="1801367" cy="310896"/>
          </a:xfrm>
          <a:prstGeom prst="rect">
            <a:avLst/>
          </a:prstGeom>
          <a:noFill/>
        </p:spPr>
        <p:txBody>
          <a:bodyPr wrap="square" lIns="18288" tIns="18288" rIns="18288" bIns="18288">
            <a:spAutoFit/>
          </a:bodyPr>
          <a:lstStyle/>
          <a:p>
            <a:pPr>
              <a:spcBef>
                <a:spcPts val="0"/>
              </a:spcBef>
              <a:spcAft>
                <a:spcPts val="0"/>
              </a:spcAft>
              <a:defRPr sz="1400" b="1">
                <a:solidFill>
                  <a:srgbClr val="FFFFFF"/>
                </a:solidFill>
                <a:latin typeface="Aptos"/>
              </a:defRPr>
            </a:pPr>
            <a:r>
              <a:rPr/>
              <a:t>id : long</a:t>
            </a:r>
            <a:endParaRPr/>
          </a:p>
        </p:txBody>
      </p:sp>
      <p:cxnSp>
        <p:nvCxnSpPr>
          <p:cNvPr id="467697522" name="Connector 11"/>
          <p:cNvCxnSpPr/>
          <p:nvPr/>
        </p:nvCxnSpPr>
        <p:spPr bwMode="auto">
          <a:xfrm>
            <a:off x="8787384" y="1947671"/>
            <a:ext cx="310896" cy="0"/>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sp>
        <p:nvSpPr>
          <p:cNvPr id="1241849945" name="Rounded Rectangle 12"/>
          <p:cNvSpPr/>
          <p:nvPr/>
        </p:nvSpPr>
        <p:spPr bwMode="auto">
          <a:xfrm>
            <a:off x="9180576" y="1627632"/>
            <a:ext cx="2221992" cy="630936"/>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4463558" name="TextBox 13"/>
          <p:cNvSpPr txBox="1"/>
          <p:nvPr/>
        </p:nvSpPr>
        <p:spPr bwMode="auto">
          <a:xfrm>
            <a:off x="9290304" y="1719072"/>
            <a:ext cx="2011680" cy="475488"/>
          </a:xfrm>
          <a:prstGeom prst="rect">
            <a:avLst/>
          </a:prstGeom>
          <a:noFill/>
        </p:spPr>
        <p:txBody>
          <a:bodyPr wrap="square" lIns="18288" tIns="18288" rIns="18288" bIns="18288">
            <a:spAutoFit/>
          </a:bodyPr>
          <a:lstStyle/>
          <a:p>
            <a:pPr>
              <a:spcBef>
                <a:spcPts val="0"/>
              </a:spcBef>
              <a:spcAft>
                <a:spcPts val="0"/>
              </a:spcAft>
              <a:defRPr sz="1200" b="1">
                <a:solidFill>
                  <a:srgbClr val="172A31"/>
                </a:solidFill>
                <a:latin typeface="Aptos"/>
              </a:defRPr>
            </a:pPr>
            <a:r>
              <a:rPr/>
              <a:t>id INTEGER PRIMARY KEY</a:t>
            </a:r>
            <a:endParaRPr/>
          </a:p>
        </p:txBody>
      </p:sp>
      <p:sp>
        <p:nvSpPr>
          <p:cNvPr id="1024465662" name="Rounded Rectangle 14"/>
          <p:cNvSpPr/>
          <p:nvPr/>
        </p:nvSpPr>
        <p:spPr bwMode="auto">
          <a:xfrm>
            <a:off x="6675120" y="2788920"/>
            <a:ext cx="2057400" cy="630936"/>
          </a:xfrm>
          <a:prstGeom prst="roundRect">
            <a:avLst>
              <a:gd name="adj" fmla="val 6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9769775" name="TextBox 15"/>
          <p:cNvSpPr txBox="1"/>
          <p:nvPr/>
        </p:nvSpPr>
        <p:spPr bwMode="auto">
          <a:xfrm>
            <a:off x="6803136" y="2953512"/>
            <a:ext cx="1801367" cy="310896"/>
          </a:xfrm>
          <a:prstGeom prst="rect">
            <a:avLst/>
          </a:prstGeom>
          <a:noFill/>
        </p:spPr>
        <p:txBody>
          <a:bodyPr wrap="square" lIns="18288" tIns="18288" rIns="18288" bIns="18288">
            <a:spAutoFit/>
          </a:bodyPr>
          <a:lstStyle/>
          <a:p>
            <a:pPr>
              <a:spcBef>
                <a:spcPts val="0"/>
              </a:spcBef>
              <a:spcAft>
                <a:spcPts val="0"/>
              </a:spcAft>
              <a:defRPr sz="1400" b="1">
                <a:solidFill>
                  <a:srgbClr val="FFFFFF"/>
                </a:solidFill>
                <a:latin typeface="Aptos"/>
              </a:defRPr>
            </a:pPr>
            <a:r>
              <a:rPr/>
              <a:t>title : String</a:t>
            </a:r>
            <a:endParaRPr/>
          </a:p>
        </p:txBody>
      </p:sp>
      <p:cxnSp>
        <p:nvCxnSpPr>
          <p:cNvPr id="1019781114" name="Connector 16"/>
          <p:cNvCxnSpPr/>
          <p:nvPr/>
        </p:nvCxnSpPr>
        <p:spPr bwMode="auto">
          <a:xfrm>
            <a:off x="8787384" y="3108960"/>
            <a:ext cx="310896" cy="0"/>
          </a:xfrm>
          <a:prstGeom prst="line">
            <a:avLst/>
          </a:prstGeom>
          <a:ln w="25400">
            <a:solidFill>
              <a:srgbClr val="2C9B65"/>
            </a:solidFill>
            <a:tailEnd type="triangle"/>
          </a:ln>
        </p:spPr>
        <p:style>
          <a:lnRef idx="2">
            <a:schemeClr val="accent1"/>
          </a:lnRef>
          <a:fillRef idx="0">
            <a:schemeClr val="accent1"/>
          </a:fillRef>
          <a:effectRef idx="1">
            <a:schemeClr val="accent1"/>
          </a:effectRef>
          <a:fontRef idx="minor">
            <a:schemeClr val="tx1"/>
          </a:fontRef>
        </p:style>
      </p:cxnSp>
      <p:sp>
        <p:nvSpPr>
          <p:cNvPr id="1585892717" name="Rounded Rectangle 17"/>
          <p:cNvSpPr/>
          <p:nvPr/>
        </p:nvSpPr>
        <p:spPr bwMode="auto">
          <a:xfrm>
            <a:off x="9180576" y="2788920"/>
            <a:ext cx="2221992" cy="630936"/>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2296321" name="TextBox 18"/>
          <p:cNvSpPr txBox="1"/>
          <p:nvPr/>
        </p:nvSpPr>
        <p:spPr bwMode="auto">
          <a:xfrm>
            <a:off x="9299448" y="2944368"/>
            <a:ext cx="2011680" cy="475488"/>
          </a:xfrm>
          <a:prstGeom prst="rect">
            <a:avLst/>
          </a:prstGeom>
          <a:noFill/>
        </p:spPr>
        <p:txBody>
          <a:bodyPr wrap="square" lIns="18288" tIns="18288" rIns="18288" bIns="18288">
            <a:spAutoFit/>
          </a:bodyPr>
          <a:lstStyle/>
          <a:p>
            <a:pPr>
              <a:spcBef>
                <a:spcPts val="0"/>
              </a:spcBef>
              <a:spcAft>
                <a:spcPts val="0"/>
              </a:spcAft>
              <a:defRPr sz="1200" b="1">
                <a:solidFill>
                  <a:srgbClr val="172A31"/>
                </a:solidFill>
                <a:latin typeface="Aptos"/>
              </a:defRPr>
            </a:pPr>
            <a:r>
              <a:rPr/>
              <a:t>title TEXT NOT NULL</a:t>
            </a:r>
            <a:endParaRPr/>
          </a:p>
        </p:txBody>
      </p:sp>
      <p:sp>
        <p:nvSpPr>
          <p:cNvPr id="222218750" name="Rounded Rectangle 19"/>
          <p:cNvSpPr/>
          <p:nvPr/>
        </p:nvSpPr>
        <p:spPr bwMode="auto">
          <a:xfrm>
            <a:off x="6675120" y="3950208"/>
            <a:ext cx="2057400" cy="630936"/>
          </a:xfrm>
          <a:prstGeom prst="roundRect">
            <a:avLst>
              <a:gd name="adj" fmla="val 6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4205262" name="TextBox 20"/>
          <p:cNvSpPr txBox="1"/>
          <p:nvPr/>
        </p:nvSpPr>
        <p:spPr bwMode="auto">
          <a:xfrm>
            <a:off x="6803136" y="4114800"/>
            <a:ext cx="1801367" cy="310896"/>
          </a:xfrm>
          <a:prstGeom prst="rect">
            <a:avLst/>
          </a:prstGeom>
          <a:noFill/>
        </p:spPr>
        <p:txBody>
          <a:bodyPr wrap="square" lIns="18288" tIns="18288" rIns="18288" bIns="18288">
            <a:spAutoFit/>
          </a:bodyPr>
          <a:lstStyle/>
          <a:p>
            <a:pPr>
              <a:spcBef>
                <a:spcPts val="0"/>
              </a:spcBef>
              <a:spcAft>
                <a:spcPts val="0"/>
              </a:spcAft>
              <a:defRPr sz="1400" b="1">
                <a:solidFill>
                  <a:srgbClr val="FFFFFF"/>
                </a:solidFill>
                <a:latin typeface="Aptos"/>
              </a:defRPr>
            </a:pPr>
            <a:r>
              <a:rPr/>
              <a:t>completed : boolean</a:t>
            </a:r>
            <a:endParaRPr/>
          </a:p>
        </p:txBody>
      </p:sp>
      <p:cxnSp>
        <p:nvCxnSpPr>
          <p:cNvPr id="1854062753" name="Connector 21"/>
          <p:cNvCxnSpPr/>
          <p:nvPr/>
        </p:nvCxnSpPr>
        <p:spPr bwMode="auto">
          <a:xfrm>
            <a:off x="8787384" y="4270248"/>
            <a:ext cx="310896" cy="0"/>
          </a:xfrm>
          <a:prstGeom prst="line">
            <a:avLst/>
          </a:prstGeom>
          <a:ln w="2540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940335099" name="Rounded Rectangle 22"/>
          <p:cNvSpPr/>
          <p:nvPr/>
        </p:nvSpPr>
        <p:spPr bwMode="auto">
          <a:xfrm>
            <a:off x="9180576" y="3950208"/>
            <a:ext cx="2221992" cy="630936"/>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8051471" name="TextBox 23"/>
          <p:cNvSpPr txBox="1"/>
          <p:nvPr/>
        </p:nvSpPr>
        <p:spPr bwMode="auto">
          <a:xfrm>
            <a:off x="9290304" y="4041648"/>
            <a:ext cx="2011680" cy="475488"/>
          </a:xfrm>
          <a:prstGeom prst="rect">
            <a:avLst/>
          </a:prstGeom>
          <a:noFill/>
        </p:spPr>
        <p:txBody>
          <a:bodyPr wrap="square" lIns="18288" tIns="18288" rIns="18288" bIns="18288">
            <a:spAutoFit/>
          </a:bodyPr>
          <a:lstStyle/>
          <a:p>
            <a:pPr>
              <a:spcBef>
                <a:spcPts val="0"/>
              </a:spcBef>
              <a:spcAft>
                <a:spcPts val="0"/>
              </a:spcAft>
              <a:defRPr sz="1200" b="1">
                <a:solidFill>
                  <a:srgbClr val="172A31"/>
                </a:solidFill>
                <a:latin typeface="Aptos"/>
              </a:defRPr>
            </a:pPr>
            <a:r>
              <a:rPr/>
              <a:t>completed INTEGER DEFAULT 0</a:t>
            </a:r>
            <a:endParaRPr/>
          </a:p>
        </p:txBody>
      </p:sp>
      <p:sp>
        <p:nvSpPr>
          <p:cNvPr id="1592287155" name="TextBox 24"/>
          <p:cNvSpPr txBox="1"/>
          <p:nvPr/>
        </p:nvSpPr>
        <p:spPr bwMode="auto">
          <a:xfrm>
            <a:off x="6757416" y="5422392"/>
            <a:ext cx="4553712" cy="301752"/>
          </a:xfrm>
          <a:prstGeom prst="rect">
            <a:avLst/>
          </a:prstGeom>
          <a:noFill/>
        </p:spPr>
        <p:txBody>
          <a:bodyPr wrap="square" lIns="18288" tIns="18288" rIns="18288" bIns="18288">
            <a:spAutoFit/>
          </a:bodyPr>
          <a:lstStyle/>
          <a:p>
            <a:pPr>
              <a:spcBef>
                <a:spcPts val="0"/>
              </a:spcBef>
              <a:spcAft>
                <a:spcPts val="0"/>
              </a:spcAft>
              <a:defRPr sz="1700" b="1">
                <a:solidFill>
                  <a:srgbClr val="2C9B65"/>
                </a:solidFill>
                <a:latin typeface="Aptos"/>
              </a:defRPr>
            </a:pPr>
            <a:r>
              <a:rPr/>
              <a:t>@Entity  →  table « tasks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117963841"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Le DAO exprime les opérations autorisées</a:t>
            </a:r>
            <a:endParaRPr/>
          </a:p>
        </p:txBody>
      </p:sp>
      <p:sp>
        <p:nvSpPr>
          <p:cNvPr id="385199885" name="TextBox 2"/>
          <p:cNvSpPr txBox="1"/>
          <p:nvPr/>
        </p:nvSpPr>
        <p:spPr bwMode="auto">
          <a:xfrm>
            <a:off x="585215"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Lecture observable et écritures explicites</a:t>
            </a:r>
            <a:endParaRPr sz="1600"/>
          </a:p>
        </p:txBody>
      </p:sp>
      <p:cxnSp>
        <p:nvCxnSpPr>
          <p:cNvPr id="997901951"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895725364"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631526208"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644759793"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09</a:t>
            </a:r>
            <a:endParaRPr/>
          </a:p>
        </p:txBody>
      </p:sp>
      <p:sp>
        <p:nvSpPr>
          <p:cNvPr id="1346229907" name="Rounded Rectangle 7"/>
          <p:cNvSpPr/>
          <p:nvPr/>
        </p:nvSpPr>
        <p:spPr bwMode="auto">
          <a:xfrm>
            <a:off x="713232" y="1362455"/>
            <a:ext cx="7315200" cy="4462272"/>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447029" name="TextBox 8"/>
          <p:cNvSpPr txBox="1"/>
          <p:nvPr/>
        </p:nvSpPr>
        <p:spPr bwMode="auto">
          <a:xfrm>
            <a:off x="886968" y="1671827"/>
            <a:ext cx="6967728" cy="4261104"/>
          </a:xfrm>
          <a:prstGeom prst="rect">
            <a:avLst/>
          </a:prstGeom>
          <a:noFill/>
        </p:spPr>
        <p:txBody>
          <a:bodyPr wrap="none" lIns="0" tIns="0" rIns="0" bIns="0">
            <a:spAutoFit/>
          </a:bodyPr>
          <a:lstStyle/>
          <a:p>
            <a:pPr>
              <a:spcBef>
                <a:spcPts val="0"/>
              </a:spcBef>
              <a:spcAft>
                <a:spcPts val="200"/>
              </a:spcAft>
              <a:defRPr/>
            </a:pPr>
            <a:r>
              <a:rPr sz="1400">
                <a:solidFill>
                  <a:srgbClr val="2C9B65"/>
                </a:solidFill>
                <a:latin typeface="DejaVu Sans Mono"/>
              </a:rPr>
              <a:t>@Dao</a:t>
            </a:r>
            <a:endParaRPr/>
          </a:p>
          <a:p>
            <a:pPr>
              <a:spcBef>
                <a:spcPts val="0"/>
              </a:spcBef>
              <a:spcAft>
                <a:spcPts val="200"/>
              </a:spcAft>
              <a:defRPr/>
            </a:pPr>
            <a:r>
              <a:rPr sz="1400">
                <a:solidFill>
                  <a:srgbClr val="DFEDF8"/>
                </a:solidFill>
                <a:latin typeface="DejaVu Sans Mono"/>
              </a:rPr>
              <a:t>public</a:t>
            </a:r>
            <a:r>
              <a:rPr sz="1400">
                <a:solidFill>
                  <a:srgbClr val="FFFFFF"/>
                </a:solidFill>
                <a:latin typeface="DejaVu Sans Mono"/>
              </a:rPr>
              <a:t> </a:t>
            </a:r>
            <a:r>
              <a:rPr sz="1400">
                <a:solidFill>
                  <a:srgbClr val="DFEDF8"/>
                </a:solidFill>
                <a:latin typeface="DejaVu Sans Mono"/>
              </a:rPr>
              <a:t>interface</a:t>
            </a:r>
            <a:r>
              <a:rPr sz="1400">
                <a:solidFill>
                  <a:srgbClr val="FFFFFF"/>
                </a:solidFill>
                <a:latin typeface="DejaVu Sans Mono"/>
              </a:rPr>
              <a:t> TaskDao {</a:t>
            </a:r>
            <a:endParaRPr/>
          </a:p>
          <a:p>
            <a:pPr>
              <a:spcBef>
                <a:spcPts val="0"/>
              </a:spcBef>
              <a:spcAft>
                <a:spcPts val="200"/>
              </a:spcAft>
              <a:defRPr/>
            </a:pPr>
            <a:r>
              <a:rPr sz="1400">
                <a:solidFill>
                  <a:srgbClr val="FFFFFF"/>
                </a:solidFill>
                <a:latin typeface="DejaVu Sans Mono"/>
              </a:rPr>
              <a:t>  </a:t>
            </a:r>
            <a:r>
              <a:rPr sz="1400">
                <a:solidFill>
                  <a:srgbClr val="2C9B65"/>
                </a:solidFill>
                <a:latin typeface="DejaVu Sans Mono"/>
              </a:rPr>
              <a:t>@Query</a:t>
            </a:r>
            <a:r>
              <a:rPr sz="1400">
                <a:solidFill>
                  <a:srgbClr val="FFFFFF"/>
                </a:solidFill>
                <a:latin typeface="DejaVu Sans Mono"/>
              </a:rPr>
              <a:t>(</a:t>
            </a:r>
            <a:r>
              <a:rPr sz="1400">
                <a:solidFill>
                  <a:srgbClr val="C68532"/>
                </a:solidFill>
                <a:latin typeface="DejaVu Sans Mono"/>
              </a:rPr>
              <a:t>"SELECT * FROM tasks ORDER BY id DESC"</a:t>
            </a:r>
            <a:r>
              <a:rPr sz="1400">
                <a:solidFill>
                  <a:srgbClr val="FFFFFF"/>
                </a:solidFill>
                <a:latin typeface="DejaVu Sans Mono"/>
              </a:rPr>
              <a:t>)</a:t>
            </a:r>
            <a:endParaRPr/>
          </a:p>
          <a:p>
            <a:pPr>
              <a:spcBef>
                <a:spcPts val="0"/>
              </a:spcBef>
              <a:spcAft>
                <a:spcPts val="200"/>
              </a:spcAft>
              <a:defRPr/>
            </a:pPr>
            <a:r>
              <a:rPr sz="1400">
                <a:solidFill>
                  <a:srgbClr val="FFFFFF"/>
                </a:solidFill>
                <a:latin typeface="DejaVu Sans Mono"/>
              </a:rPr>
              <a:t>  LiveData&lt;List&lt;Task&gt;&gt; observeAll();</a:t>
            </a:r>
            <a:endParaRPr/>
          </a:p>
          <a:p>
            <a:pPr>
              <a:spcBef>
                <a:spcPts val="0"/>
              </a:spcBef>
              <a:spcAft>
                <a:spcPts val="200"/>
              </a:spcAft>
              <a:defRPr/>
            </a:pPr>
            <a:endParaRPr/>
          </a:p>
          <a:p>
            <a:pPr>
              <a:spcBef>
                <a:spcPts val="0"/>
              </a:spcBef>
              <a:spcAft>
                <a:spcPts val="200"/>
              </a:spcAft>
              <a:defRPr/>
            </a:pPr>
            <a:r>
              <a:rPr sz="1400">
                <a:solidFill>
                  <a:srgbClr val="FFFFFF"/>
                </a:solidFill>
                <a:latin typeface="DejaVu Sans Mono"/>
              </a:rPr>
              <a:t>  </a:t>
            </a:r>
            <a:r>
              <a:rPr sz="1400">
                <a:solidFill>
                  <a:srgbClr val="2C9B65"/>
                </a:solidFill>
                <a:latin typeface="DejaVu Sans Mono"/>
              </a:rPr>
              <a:t>@Insert</a:t>
            </a:r>
            <a:r>
              <a:rPr sz="1400">
                <a:solidFill>
                  <a:srgbClr val="FFFFFF"/>
                </a:solidFill>
                <a:latin typeface="DejaVu Sans Mono"/>
              </a:rPr>
              <a:t> </a:t>
            </a:r>
            <a:r>
              <a:rPr sz="1400">
                <a:solidFill>
                  <a:srgbClr val="DFEDF8"/>
                </a:solidFill>
                <a:latin typeface="DejaVu Sans Mono"/>
              </a:rPr>
              <a:t>long</a:t>
            </a:r>
            <a:r>
              <a:rPr sz="1400">
                <a:solidFill>
                  <a:srgbClr val="FFFFFF"/>
                </a:solidFill>
                <a:latin typeface="DejaVu Sans Mono"/>
              </a:rPr>
              <a:t> insert(Task task);</a:t>
            </a:r>
            <a:endParaRPr/>
          </a:p>
          <a:p>
            <a:pPr>
              <a:spcBef>
                <a:spcPts val="0"/>
              </a:spcBef>
              <a:spcAft>
                <a:spcPts val="200"/>
              </a:spcAft>
              <a:defRPr/>
            </a:pPr>
            <a:endParaRPr/>
          </a:p>
          <a:p>
            <a:pPr>
              <a:spcBef>
                <a:spcPts val="0"/>
              </a:spcBef>
              <a:spcAft>
                <a:spcPts val="200"/>
              </a:spcAft>
              <a:defRPr/>
            </a:pPr>
            <a:r>
              <a:rPr sz="1400">
                <a:solidFill>
                  <a:srgbClr val="FFFFFF"/>
                </a:solidFill>
                <a:latin typeface="DejaVu Sans Mono"/>
              </a:rPr>
              <a:t>  </a:t>
            </a:r>
            <a:r>
              <a:rPr sz="1400">
                <a:solidFill>
                  <a:srgbClr val="2C9B65"/>
                </a:solidFill>
                <a:latin typeface="DejaVu Sans Mono"/>
              </a:rPr>
              <a:t>@Query</a:t>
            </a:r>
            <a:r>
              <a:rPr sz="1400">
                <a:solidFill>
                  <a:srgbClr val="FFFFFF"/>
                </a:solidFill>
                <a:latin typeface="DejaVu Sans Mono"/>
              </a:rPr>
              <a:t>(</a:t>
            </a:r>
            <a:r>
              <a:rPr sz="1400">
                <a:solidFill>
                  <a:srgbClr val="C68532"/>
                </a:solidFill>
                <a:latin typeface="DejaVu Sans Mono"/>
              </a:rPr>
              <a:t>"UPDATE tasks SET completed = :done "</a:t>
            </a:r>
            <a:r>
              <a:rPr sz="1400">
                <a:solidFill>
                  <a:srgbClr val="FFFFFF"/>
                </a:solidFill>
                <a:latin typeface="DejaVu Sans Mono"/>
              </a:rPr>
              <a:t> +</a:t>
            </a:r>
            <a:endParaRPr/>
          </a:p>
          <a:p>
            <a:pPr>
              <a:spcBef>
                <a:spcPts val="0"/>
              </a:spcBef>
              <a:spcAft>
                <a:spcPts val="200"/>
              </a:spcAft>
              <a:defRPr/>
            </a:pPr>
            <a:r>
              <a:rPr sz="1400">
                <a:solidFill>
                  <a:srgbClr val="FFFFFF"/>
                </a:solidFill>
                <a:latin typeface="DejaVu Sans Mono"/>
              </a:rPr>
              <a:t>         </a:t>
            </a:r>
            <a:r>
              <a:rPr sz="1400">
                <a:solidFill>
                  <a:srgbClr val="C68532"/>
                </a:solidFill>
                <a:latin typeface="DejaVu Sans Mono"/>
              </a:rPr>
              <a:t>"WHERE id = :id"</a:t>
            </a:r>
            <a:r>
              <a:rPr sz="1400">
                <a:solidFill>
                  <a:srgbClr val="FFFFFF"/>
                </a:solidFill>
                <a:latin typeface="DejaVu Sans Mono"/>
              </a:rPr>
              <a:t>)</a:t>
            </a:r>
            <a:endParaRPr/>
          </a:p>
          <a:p>
            <a:pPr>
              <a:spcBef>
                <a:spcPts val="0"/>
              </a:spcBef>
              <a:spcAft>
                <a:spcPts val="200"/>
              </a:spcAft>
              <a:defRPr/>
            </a:pPr>
            <a:r>
              <a:rPr sz="1400">
                <a:solidFill>
                  <a:srgbClr val="FFFFFF"/>
                </a:solidFill>
                <a:latin typeface="DejaVu Sans Mono"/>
              </a:rPr>
              <a:t>  </a:t>
            </a:r>
            <a:r>
              <a:rPr sz="1400">
                <a:solidFill>
                  <a:srgbClr val="DFEDF8"/>
                </a:solidFill>
                <a:latin typeface="DejaVu Sans Mono"/>
              </a:rPr>
              <a:t>void</a:t>
            </a:r>
            <a:r>
              <a:rPr sz="1400">
                <a:solidFill>
                  <a:srgbClr val="FFFFFF"/>
                </a:solidFill>
                <a:latin typeface="DejaVu Sans Mono"/>
              </a:rPr>
              <a:t> setDone(</a:t>
            </a:r>
            <a:r>
              <a:rPr sz="1400">
                <a:solidFill>
                  <a:srgbClr val="DFEDF8"/>
                </a:solidFill>
                <a:latin typeface="DejaVu Sans Mono"/>
              </a:rPr>
              <a:t>long</a:t>
            </a:r>
            <a:r>
              <a:rPr sz="1400">
                <a:solidFill>
                  <a:srgbClr val="FFFFFF"/>
                </a:solidFill>
                <a:latin typeface="DejaVu Sans Mono"/>
              </a:rPr>
              <a:t> id, </a:t>
            </a:r>
            <a:r>
              <a:rPr sz="1400">
                <a:solidFill>
                  <a:srgbClr val="DFEDF8"/>
                </a:solidFill>
                <a:latin typeface="DejaVu Sans Mono"/>
              </a:rPr>
              <a:t>boolean</a:t>
            </a:r>
            <a:r>
              <a:rPr sz="1400">
                <a:solidFill>
                  <a:srgbClr val="FFFFFF"/>
                </a:solidFill>
                <a:latin typeface="DejaVu Sans Mono"/>
              </a:rPr>
              <a:t> done);</a:t>
            </a:r>
            <a:endParaRPr/>
          </a:p>
          <a:p>
            <a:pPr>
              <a:spcBef>
                <a:spcPts val="0"/>
              </a:spcBef>
              <a:spcAft>
                <a:spcPts val="200"/>
              </a:spcAft>
              <a:defRPr/>
            </a:pPr>
            <a:r>
              <a:rPr sz="1400">
                <a:solidFill>
                  <a:srgbClr val="FFFFFF"/>
                </a:solidFill>
                <a:latin typeface="DejaVu Sans Mono"/>
              </a:rPr>
              <a:t>}</a:t>
            </a:r>
            <a:endParaRPr/>
          </a:p>
        </p:txBody>
      </p:sp>
      <p:sp>
        <p:nvSpPr>
          <p:cNvPr id="680511742" name="Rounded Rectangle 9"/>
          <p:cNvSpPr/>
          <p:nvPr/>
        </p:nvSpPr>
        <p:spPr bwMode="auto">
          <a:xfrm>
            <a:off x="8330183" y="1591056"/>
            <a:ext cx="3063240" cy="850392"/>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8735127" name="Rounded Rectangle 10"/>
          <p:cNvSpPr/>
          <p:nvPr/>
        </p:nvSpPr>
        <p:spPr bwMode="auto">
          <a:xfrm>
            <a:off x="8522208" y="1728216"/>
            <a:ext cx="1078992" cy="320040"/>
          </a:xfrm>
          <a:prstGeom prst="roundRect">
            <a:avLst>
              <a:gd name="adj" fmla="val 18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598250" name="TextBox 11"/>
          <p:cNvSpPr txBox="1"/>
          <p:nvPr/>
        </p:nvSpPr>
        <p:spPr bwMode="auto">
          <a:xfrm>
            <a:off x="8613648" y="1778507"/>
            <a:ext cx="896112" cy="228600"/>
          </a:xfrm>
          <a:prstGeom prst="rect">
            <a:avLst/>
          </a:prstGeom>
          <a:noFill/>
        </p:spPr>
        <p:txBody>
          <a:bodyPr wrap="square" lIns="18288" tIns="18288" rIns="18288" bIns="18288">
            <a:spAutoFit/>
          </a:bodyPr>
          <a:lstStyle/>
          <a:p>
            <a:pPr>
              <a:spcBef>
                <a:spcPts val="0"/>
              </a:spcBef>
              <a:spcAft>
                <a:spcPts val="0"/>
              </a:spcAft>
              <a:defRPr sz="1200" b="1">
                <a:solidFill>
                  <a:srgbClr val="317AB5"/>
                </a:solidFill>
                <a:latin typeface="Aptos"/>
              </a:defRPr>
            </a:pPr>
            <a:r>
              <a:rPr/>
              <a:t>READ</a:t>
            </a:r>
            <a:endParaRPr/>
          </a:p>
        </p:txBody>
      </p:sp>
      <p:sp>
        <p:nvSpPr>
          <p:cNvPr id="353169138" name="TextBox 12"/>
          <p:cNvSpPr txBox="1"/>
          <p:nvPr/>
        </p:nvSpPr>
        <p:spPr bwMode="auto">
          <a:xfrm>
            <a:off x="8549640" y="2112264"/>
            <a:ext cx="2697480" cy="237744"/>
          </a:xfrm>
          <a:prstGeom prst="rect">
            <a:avLst/>
          </a:prstGeom>
          <a:noFill/>
        </p:spPr>
        <p:txBody>
          <a:bodyPr wrap="square" lIns="18288" tIns="18288" rIns="18288" bIns="18288">
            <a:spAutoFit/>
          </a:bodyPr>
          <a:lstStyle/>
          <a:p>
            <a:pPr>
              <a:spcBef>
                <a:spcPts val="0"/>
              </a:spcBef>
              <a:spcAft>
                <a:spcPts val="0"/>
              </a:spcAft>
              <a:defRPr sz="1300" b="0">
                <a:solidFill>
                  <a:srgbClr val="172A31"/>
                </a:solidFill>
                <a:latin typeface="Aptos"/>
              </a:defRPr>
            </a:pPr>
            <a:r>
              <a:rPr/>
              <a:t>observeAll()</a:t>
            </a:r>
            <a:endParaRPr/>
          </a:p>
        </p:txBody>
      </p:sp>
      <p:sp>
        <p:nvSpPr>
          <p:cNvPr id="34236791" name="Rounded Rectangle 13"/>
          <p:cNvSpPr/>
          <p:nvPr/>
        </p:nvSpPr>
        <p:spPr bwMode="auto">
          <a:xfrm>
            <a:off x="8330183" y="2862072"/>
            <a:ext cx="3063240" cy="850392"/>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9638922" name="Rounded Rectangle 14"/>
          <p:cNvSpPr/>
          <p:nvPr/>
        </p:nvSpPr>
        <p:spPr bwMode="auto">
          <a:xfrm>
            <a:off x="8522208" y="2999232"/>
            <a:ext cx="1078992" cy="320040"/>
          </a:xfrm>
          <a:prstGeom prst="roundRect">
            <a:avLst>
              <a:gd name="adj" fmla="val 18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9236338" name="TextBox 15"/>
          <p:cNvSpPr txBox="1"/>
          <p:nvPr/>
        </p:nvSpPr>
        <p:spPr bwMode="auto">
          <a:xfrm>
            <a:off x="8613648" y="3049524"/>
            <a:ext cx="896112" cy="228600"/>
          </a:xfrm>
          <a:prstGeom prst="rect">
            <a:avLst/>
          </a:prstGeom>
          <a:noFill/>
        </p:spPr>
        <p:txBody>
          <a:bodyPr wrap="square" lIns="18288" tIns="18288" rIns="18288" bIns="18288">
            <a:spAutoFit/>
          </a:bodyPr>
          <a:lstStyle/>
          <a:p>
            <a:pPr>
              <a:spcBef>
                <a:spcPts val="0"/>
              </a:spcBef>
              <a:spcAft>
                <a:spcPts val="0"/>
              </a:spcAft>
              <a:defRPr sz="1200" b="1">
                <a:solidFill>
                  <a:srgbClr val="2C9B65"/>
                </a:solidFill>
                <a:latin typeface="Aptos"/>
              </a:defRPr>
            </a:pPr>
            <a:r>
              <a:rPr/>
              <a:t>CREATE</a:t>
            </a:r>
            <a:endParaRPr/>
          </a:p>
        </p:txBody>
      </p:sp>
      <p:sp>
        <p:nvSpPr>
          <p:cNvPr id="695999156" name="TextBox 16"/>
          <p:cNvSpPr txBox="1"/>
          <p:nvPr/>
        </p:nvSpPr>
        <p:spPr bwMode="auto">
          <a:xfrm>
            <a:off x="8549640" y="3383279"/>
            <a:ext cx="2697480" cy="237744"/>
          </a:xfrm>
          <a:prstGeom prst="rect">
            <a:avLst/>
          </a:prstGeom>
          <a:noFill/>
        </p:spPr>
        <p:txBody>
          <a:bodyPr wrap="square" lIns="18288" tIns="18288" rIns="18288" bIns="18288">
            <a:spAutoFit/>
          </a:bodyPr>
          <a:lstStyle/>
          <a:p>
            <a:pPr>
              <a:spcBef>
                <a:spcPts val="0"/>
              </a:spcBef>
              <a:spcAft>
                <a:spcPts val="0"/>
              </a:spcAft>
              <a:defRPr sz="1300" b="0">
                <a:solidFill>
                  <a:srgbClr val="172A31"/>
                </a:solidFill>
                <a:latin typeface="Aptos"/>
              </a:defRPr>
            </a:pPr>
            <a:r>
              <a:rPr/>
              <a:t>insert(task)</a:t>
            </a:r>
            <a:endParaRPr/>
          </a:p>
        </p:txBody>
      </p:sp>
      <p:sp>
        <p:nvSpPr>
          <p:cNvPr id="1502069018" name="Rounded Rectangle 17"/>
          <p:cNvSpPr/>
          <p:nvPr/>
        </p:nvSpPr>
        <p:spPr bwMode="auto">
          <a:xfrm>
            <a:off x="8330183" y="4133087"/>
            <a:ext cx="3063240" cy="850392"/>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6212291" name="Rounded Rectangle 18"/>
          <p:cNvSpPr/>
          <p:nvPr/>
        </p:nvSpPr>
        <p:spPr bwMode="auto">
          <a:xfrm>
            <a:off x="8522208" y="4270248"/>
            <a:ext cx="1078992" cy="320040"/>
          </a:xfrm>
          <a:prstGeom prst="roundRect">
            <a:avLst>
              <a:gd name="adj" fmla="val 18000"/>
            </a:avLst>
          </a:prstGeom>
          <a:solidFill>
            <a:srgbClr val="FA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9677237" name="TextBox 19"/>
          <p:cNvSpPr txBox="1"/>
          <p:nvPr/>
        </p:nvSpPr>
        <p:spPr bwMode="auto">
          <a:xfrm>
            <a:off x="8613648" y="4320540"/>
            <a:ext cx="896112" cy="228600"/>
          </a:xfrm>
          <a:prstGeom prst="rect">
            <a:avLst/>
          </a:prstGeom>
          <a:noFill/>
        </p:spPr>
        <p:txBody>
          <a:bodyPr wrap="square" lIns="18288" tIns="18288" rIns="18288" bIns="18288">
            <a:spAutoFit/>
          </a:bodyPr>
          <a:lstStyle/>
          <a:p>
            <a:pPr>
              <a:spcBef>
                <a:spcPts val="0"/>
              </a:spcBef>
              <a:spcAft>
                <a:spcPts val="0"/>
              </a:spcAft>
              <a:defRPr sz="1200" b="1">
                <a:solidFill>
                  <a:srgbClr val="C68532"/>
                </a:solidFill>
                <a:latin typeface="Aptos"/>
              </a:defRPr>
            </a:pPr>
            <a:r>
              <a:rPr/>
              <a:t>UPDATE</a:t>
            </a:r>
            <a:endParaRPr/>
          </a:p>
        </p:txBody>
      </p:sp>
      <p:sp>
        <p:nvSpPr>
          <p:cNvPr id="1886439070" name="TextBox 20"/>
          <p:cNvSpPr txBox="1"/>
          <p:nvPr/>
        </p:nvSpPr>
        <p:spPr bwMode="auto">
          <a:xfrm>
            <a:off x="8549640" y="4654296"/>
            <a:ext cx="2697480" cy="237744"/>
          </a:xfrm>
          <a:prstGeom prst="rect">
            <a:avLst/>
          </a:prstGeom>
          <a:noFill/>
        </p:spPr>
        <p:txBody>
          <a:bodyPr wrap="square" lIns="18288" tIns="18288" rIns="18288" bIns="18288">
            <a:spAutoFit/>
          </a:bodyPr>
          <a:lstStyle/>
          <a:p>
            <a:pPr>
              <a:spcBef>
                <a:spcPts val="0"/>
              </a:spcBef>
              <a:spcAft>
                <a:spcPts val="0"/>
              </a:spcAft>
              <a:defRPr sz="1300" b="0">
                <a:solidFill>
                  <a:srgbClr val="172A31"/>
                </a:solidFill>
                <a:latin typeface="Aptos"/>
              </a:defRPr>
            </a:pPr>
            <a:r>
              <a:rPr/>
              <a:t>setDone(id, true)</a:t>
            </a:r>
            <a:endParaRPr/>
          </a:p>
        </p:txBody>
      </p:sp>
      <p:sp>
        <p:nvSpPr>
          <p:cNvPr id="673446193" name="TextBox 21"/>
          <p:cNvSpPr txBox="1"/>
          <p:nvPr/>
        </p:nvSpPr>
        <p:spPr bwMode="auto">
          <a:xfrm>
            <a:off x="758952" y="5980176"/>
            <a:ext cx="10808208" cy="301752"/>
          </a:xfrm>
          <a:prstGeom prst="rect">
            <a:avLst/>
          </a:prstGeom>
          <a:noFill/>
        </p:spPr>
        <p:txBody>
          <a:bodyPr wrap="square" lIns="18288" tIns="18288" rIns="18288" bIns="18288">
            <a:spAutoFit/>
          </a:bodyPr>
          <a:lstStyle/>
          <a:p>
            <a:pPr>
              <a:spcBef>
                <a:spcPts val="0"/>
              </a:spcBef>
              <a:spcAft>
                <a:spcPts val="0"/>
              </a:spcAft>
              <a:defRPr sz="1500" b="0">
                <a:solidFill>
                  <a:srgbClr val="53666D"/>
                </a:solidFill>
                <a:latin typeface="Aptos"/>
              </a:defRPr>
            </a:pPr>
            <a:r>
              <a:rPr/>
              <a:t>@Insert génère l’INSERT ; le long retourné est l’ID de la nouvelle ligne.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121411332"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AppDb définit le schéma et ouvre tasks.db</a:t>
            </a:r>
            <a:endParaRPr/>
          </a:p>
        </p:txBody>
      </p:sp>
      <p:sp>
        <p:nvSpPr>
          <p:cNvPr id="1901324650"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Une instance partagée dans un processus est généralement suffisante</a:t>
            </a:r>
            <a:endParaRPr sz="1600"/>
          </a:p>
        </p:txBody>
      </p:sp>
      <p:cxnSp>
        <p:nvCxnSpPr>
          <p:cNvPr id="508446979"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129877025"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Minh Hang PHAM</a:t>
            </a:r>
            <a:endParaRPr/>
          </a:p>
        </p:txBody>
      </p:sp>
      <p:sp>
        <p:nvSpPr>
          <p:cNvPr id="789971654"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572106716"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10</a:t>
            </a:r>
            <a:endParaRPr/>
          </a:p>
        </p:txBody>
      </p:sp>
      <p:sp>
        <p:nvSpPr>
          <p:cNvPr id="1368802972" name="Rounded Rectangle 7"/>
          <p:cNvSpPr/>
          <p:nvPr/>
        </p:nvSpPr>
        <p:spPr bwMode="auto">
          <a:xfrm>
            <a:off x="713232" y="1380744"/>
            <a:ext cx="6519672" cy="4535424"/>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6016943" name="TextBox 8"/>
          <p:cNvSpPr txBox="1"/>
          <p:nvPr/>
        </p:nvSpPr>
        <p:spPr bwMode="auto">
          <a:xfrm>
            <a:off x="896112" y="1773936"/>
            <a:ext cx="6172200" cy="4334256"/>
          </a:xfrm>
          <a:prstGeom prst="rect">
            <a:avLst/>
          </a:prstGeom>
          <a:noFill/>
        </p:spPr>
        <p:txBody>
          <a:bodyPr wrap="none" lIns="0" tIns="0" rIns="0" bIns="0">
            <a:spAutoFit/>
          </a:bodyPr>
          <a:lstStyle/>
          <a:p>
            <a:pPr>
              <a:spcBef>
                <a:spcPts val="0"/>
              </a:spcBef>
              <a:spcAft>
                <a:spcPts val="200"/>
              </a:spcAft>
              <a:defRPr/>
            </a:pPr>
            <a:r>
              <a:rPr sz="1500">
                <a:solidFill>
                  <a:srgbClr val="2C9B65"/>
                </a:solidFill>
                <a:latin typeface="DejaVu Sans Mono"/>
              </a:rPr>
              <a:t>@Database</a:t>
            </a:r>
            <a:r>
              <a:rPr sz="1500">
                <a:solidFill>
                  <a:srgbClr val="FFFFFF"/>
                </a:solidFill>
                <a:latin typeface="DejaVu Sans Mono"/>
              </a:rPr>
              <a:t>(entities = {Task.</a:t>
            </a:r>
            <a:r>
              <a:rPr sz="1500">
                <a:solidFill>
                  <a:srgbClr val="DFEDF8"/>
                </a:solidFill>
                <a:latin typeface="DejaVu Sans Mono"/>
              </a:rPr>
              <a:t>class</a:t>
            </a:r>
            <a:r>
              <a:rPr sz="1500">
                <a:solidFill>
                  <a:srgbClr val="FFFFFF"/>
                </a:solidFill>
                <a:latin typeface="DejaVu Sans Mono"/>
              </a:rPr>
              <a:t>},</a:t>
            </a:r>
            <a:endParaRPr/>
          </a:p>
          <a:p>
            <a:pPr>
              <a:spcBef>
                <a:spcPts val="0"/>
              </a:spcBef>
              <a:spcAft>
                <a:spcPts val="200"/>
              </a:spcAft>
              <a:defRPr/>
            </a:pPr>
            <a:r>
              <a:rPr sz="1500">
                <a:solidFill>
                  <a:srgbClr val="FFFFFF"/>
                </a:solidFill>
                <a:latin typeface="DejaVu Sans Mono"/>
              </a:rPr>
              <a:t>          version = 2, exportSchema = true)</a:t>
            </a:r>
            <a:endParaRPr/>
          </a:p>
          <a:p>
            <a:pPr>
              <a:spcBef>
                <a:spcPts val="0"/>
              </a:spcBef>
              <a:spcAft>
                <a:spcPts val="200"/>
              </a:spcAft>
              <a:defRPr/>
            </a:pPr>
            <a:r>
              <a:rPr sz="1500">
                <a:solidFill>
                  <a:srgbClr val="DFEDF8"/>
                </a:solidFill>
                <a:latin typeface="DejaVu Sans Mono"/>
              </a:rPr>
              <a:t>public</a:t>
            </a:r>
            <a:r>
              <a:rPr sz="1500">
                <a:solidFill>
                  <a:srgbClr val="FFFFFF"/>
                </a:solidFill>
                <a:latin typeface="DejaVu Sans Mono"/>
              </a:rPr>
              <a:t> </a:t>
            </a:r>
            <a:r>
              <a:rPr sz="1500">
                <a:solidFill>
                  <a:srgbClr val="DFEDF8"/>
                </a:solidFill>
                <a:latin typeface="DejaVu Sans Mono"/>
              </a:rPr>
              <a:t>abstract</a:t>
            </a:r>
            <a:r>
              <a:rPr sz="1500">
                <a:solidFill>
                  <a:srgbClr val="FFFFFF"/>
                </a:solidFill>
                <a:latin typeface="DejaVu Sans Mono"/>
              </a:rPr>
              <a:t> </a:t>
            </a:r>
            <a:r>
              <a:rPr sz="1500">
                <a:solidFill>
                  <a:srgbClr val="DFEDF8"/>
                </a:solidFill>
                <a:latin typeface="DejaVu Sans Mono"/>
              </a:rPr>
              <a:t>class</a:t>
            </a:r>
            <a:r>
              <a:rPr sz="1500">
                <a:solidFill>
                  <a:srgbClr val="FFFFFF"/>
                </a:solidFill>
                <a:latin typeface="DejaVu Sans Mono"/>
              </a:rPr>
              <a:t> AppDb </a:t>
            </a:r>
            <a:r>
              <a:rPr sz="1500">
                <a:solidFill>
                  <a:srgbClr val="DFEDF8"/>
                </a:solidFill>
                <a:latin typeface="DejaVu Sans Mono"/>
              </a:rPr>
              <a:t>extends</a:t>
            </a:r>
            <a:r>
              <a:rPr sz="1500">
                <a:solidFill>
                  <a:srgbClr val="FFFFFF"/>
                </a:solidFill>
                <a:latin typeface="DejaVu Sans Mono"/>
              </a:rPr>
              <a:t> RoomDatabase {</a:t>
            </a:r>
            <a:endParaRPr/>
          </a:p>
          <a:p>
            <a:pPr>
              <a:spcBef>
                <a:spcPts val="0"/>
              </a:spcBef>
              <a:spcAft>
                <a:spcPts val="200"/>
              </a:spcAft>
              <a:defRPr/>
            </a:pPr>
            <a:r>
              <a:rPr sz="1500">
                <a:solidFill>
                  <a:srgbClr val="FFFFFF"/>
                </a:solidFill>
                <a:latin typeface="DejaVu Sans Mono"/>
              </a:rPr>
              <a:t>  </a:t>
            </a:r>
            <a:r>
              <a:rPr sz="1500">
                <a:solidFill>
                  <a:srgbClr val="DFEDF8"/>
                </a:solidFill>
                <a:latin typeface="DejaVu Sans Mono"/>
              </a:rPr>
              <a:t>public</a:t>
            </a:r>
            <a:r>
              <a:rPr sz="1500">
                <a:solidFill>
                  <a:srgbClr val="FFFFFF"/>
                </a:solidFill>
                <a:latin typeface="DejaVu Sans Mono"/>
              </a:rPr>
              <a:t> </a:t>
            </a:r>
            <a:r>
              <a:rPr sz="1500">
                <a:solidFill>
                  <a:srgbClr val="DFEDF8"/>
                </a:solidFill>
                <a:latin typeface="DejaVu Sans Mono"/>
              </a:rPr>
              <a:t>abstract</a:t>
            </a:r>
            <a:r>
              <a:rPr sz="1500">
                <a:solidFill>
                  <a:srgbClr val="FFFFFF"/>
                </a:solidFill>
                <a:latin typeface="DejaVu Sans Mono"/>
              </a:rPr>
              <a:t> TaskDao taskDao();</a:t>
            </a:r>
            <a:endParaRPr/>
          </a:p>
          <a:p>
            <a:pPr>
              <a:spcBef>
                <a:spcPts val="0"/>
              </a:spcBef>
              <a:spcAft>
                <a:spcPts val="200"/>
              </a:spcAft>
              <a:defRPr/>
            </a:pPr>
            <a:r>
              <a:rPr sz="1500">
                <a:solidFill>
                  <a:srgbClr val="FFFFFF"/>
                </a:solidFill>
                <a:latin typeface="DejaVu Sans Mono"/>
              </a:rPr>
              <a:t>}</a:t>
            </a:r>
            <a:endParaRPr/>
          </a:p>
          <a:p>
            <a:pPr>
              <a:spcBef>
                <a:spcPts val="0"/>
              </a:spcBef>
              <a:spcAft>
                <a:spcPts val="200"/>
              </a:spcAft>
              <a:defRPr/>
            </a:pPr>
            <a:endParaRPr/>
          </a:p>
          <a:p>
            <a:pPr>
              <a:spcBef>
                <a:spcPts val="0"/>
              </a:spcBef>
              <a:spcAft>
                <a:spcPts val="200"/>
              </a:spcAft>
              <a:defRPr/>
            </a:pPr>
            <a:r>
              <a:rPr sz="1500">
                <a:solidFill>
                  <a:srgbClr val="FFFFFF"/>
                </a:solidFill>
                <a:latin typeface="DejaVu Sans Mono"/>
              </a:rPr>
              <a:t>Room.databaseBuilder(context, AppDb.</a:t>
            </a:r>
            <a:r>
              <a:rPr sz="1500">
                <a:solidFill>
                  <a:srgbClr val="DFEDF8"/>
                </a:solidFill>
                <a:latin typeface="DejaVu Sans Mono"/>
              </a:rPr>
              <a:t>class</a:t>
            </a:r>
            <a:r>
              <a:rPr sz="1500">
                <a:solidFill>
                  <a:srgbClr val="FFFFFF"/>
                </a:solidFill>
                <a:latin typeface="DejaVu Sans Mono"/>
              </a:rPr>
              <a:t>,</a:t>
            </a:r>
            <a:endParaRPr/>
          </a:p>
          <a:p>
            <a:pPr>
              <a:spcBef>
                <a:spcPts val="0"/>
              </a:spcBef>
              <a:spcAft>
                <a:spcPts val="200"/>
              </a:spcAft>
              <a:defRPr/>
            </a:pPr>
            <a:r>
              <a:rPr sz="1500">
                <a:solidFill>
                  <a:srgbClr val="FFFFFF"/>
                </a:solidFill>
                <a:latin typeface="DejaVu Sans Mono"/>
              </a:rPr>
              <a:t>                     </a:t>
            </a:r>
            <a:r>
              <a:rPr sz="1500">
                <a:solidFill>
                  <a:srgbClr val="C68532"/>
                </a:solidFill>
                <a:latin typeface="DejaVu Sans Mono"/>
              </a:rPr>
              <a:t>"tasks.db"</a:t>
            </a:r>
            <a:r>
              <a:rPr sz="1500">
                <a:solidFill>
                  <a:srgbClr val="FFFFFF"/>
                </a:solidFill>
                <a:latin typeface="DejaVu Sans Mono"/>
              </a:rPr>
              <a:t>)</a:t>
            </a:r>
            <a:endParaRPr/>
          </a:p>
          <a:p>
            <a:pPr>
              <a:spcBef>
                <a:spcPts val="0"/>
              </a:spcBef>
              <a:spcAft>
                <a:spcPts val="200"/>
              </a:spcAft>
              <a:defRPr/>
            </a:pPr>
            <a:r>
              <a:rPr sz="1500">
                <a:solidFill>
                  <a:srgbClr val="FFFFFF"/>
                </a:solidFill>
                <a:latin typeface="DejaVu Sans Mono"/>
              </a:rPr>
              <a:t>    .addMigrations(MIGRATION_1_2)</a:t>
            </a:r>
            <a:endParaRPr/>
          </a:p>
          <a:p>
            <a:pPr>
              <a:spcBef>
                <a:spcPts val="0"/>
              </a:spcBef>
              <a:spcAft>
                <a:spcPts val="200"/>
              </a:spcAft>
              <a:defRPr/>
            </a:pPr>
            <a:r>
              <a:rPr sz="1500">
                <a:solidFill>
                  <a:srgbClr val="FFFFFF"/>
                </a:solidFill>
                <a:latin typeface="DejaVu Sans Mono"/>
              </a:rPr>
              <a:t>    .build();</a:t>
            </a:r>
            <a:endParaRPr/>
          </a:p>
        </p:txBody>
      </p:sp>
      <p:sp>
        <p:nvSpPr>
          <p:cNvPr id="1391765689" name="Rounded Rectangle 9"/>
          <p:cNvSpPr/>
          <p:nvPr/>
        </p:nvSpPr>
        <p:spPr bwMode="auto">
          <a:xfrm>
            <a:off x="7635240" y="1545336"/>
            <a:ext cx="1609344" cy="612648"/>
          </a:xfrm>
          <a:prstGeom prst="roundRect">
            <a:avLst>
              <a:gd name="adj" fmla="val 5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8094529" name="TextBox 10"/>
          <p:cNvSpPr txBox="1"/>
          <p:nvPr/>
        </p:nvSpPr>
        <p:spPr bwMode="auto">
          <a:xfrm>
            <a:off x="7754112" y="1709928"/>
            <a:ext cx="1362455" cy="329184"/>
          </a:xfrm>
          <a:prstGeom prst="rect">
            <a:avLst/>
          </a:prstGeom>
          <a:noFill/>
        </p:spPr>
        <p:txBody>
          <a:bodyPr wrap="square" lIns="18288" tIns="18288" rIns="18288" bIns="18288">
            <a:spAutoFit/>
          </a:bodyPr>
          <a:lstStyle/>
          <a:p>
            <a:pPr>
              <a:spcBef>
                <a:spcPts val="0"/>
              </a:spcBef>
              <a:spcAft>
                <a:spcPts val="0"/>
              </a:spcAft>
              <a:defRPr sz="1400" b="1">
                <a:solidFill>
                  <a:srgbClr val="6A60AC"/>
                </a:solidFill>
                <a:latin typeface="Aptos"/>
              </a:defRPr>
            </a:pPr>
            <a:r>
              <a:rPr/>
              <a:t>entities</a:t>
            </a:r>
            <a:endParaRPr/>
          </a:p>
        </p:txBody>
      </p:sp>
      <p:cxnSp>
        <p:nvCxnSpPr>
          <p:cNvPr id="1774492398" name="Connector 11"/>
          <p:cNvCxnSpPr/>
          <p:nvPr/>
        </p:nvCxnSpPr>
        <p:spPr bwMode="auto">
          <a:xfrm>
            <a:off x="9308592" y="1847088"/>
            <a:ext cx="256032" cy="0"/>
          </a:xfrm>
          <a:prstGeom prst="line">
            <a:avLst/>
          </a:prstGeom>
          <a:ln w="17780">
            <a:solidFill>
              <a:srgbClr val="6A60AC"/>
            </a:solidFill>
            <a:tailEnd type="triangle"/>
          </a:ln>
        </p:spPr>
        <p:style>
          <a:lnRef idx="2">
            <a:schemeClr val="accent1"/>
          </a:lnRef>
          <a:fillRef idx="0">
            <a:schemeClr val="accent1"/>
          </a:fillRef>
          <a:effectRef idx="1">
            <a:schemeClr val="accent1"/>
          </a:effectRef>
          <a:fontRef idx="minor">
            <a:schemeClr val="tx1"/>
          </a:fontRef>
        </p:style>
      </p:cxnSp>
      <p:sp>
        <p:nvSpPr>
          <p:cNvPr id="568032613" name="Rounded Rectangle 12"/>
          <p:cNvSpPr/>
          <p:nvPr/>
        </p:nvSpPr>
        <p:spPr bwMode="auto">
          <a:xfrm>
            <a:off x="9665208" y="1545336"/>
            <a:ext cx="1682496" cy="612648"/>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8372820" name="TextBox 13"/>
          <p:cNvSpPr txBox="1"/>
          <p:nvPr/>
        </p:nvSpPr>
        <p:spPr bwMode="auto">
          <a:xfrm>
            <a:off x="9774936" y="1700784"/>
            <a:ext cx="1490472" cy="320040"/>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table tasks</a:t>
            </a:r>
            <a:endParaRPr/>
          </a:p>
        </p:txBody>
      </p:sp>
      <p:sp>
        <p:nvSpPr>
          <p:cNvPr id="882441605" name="Rounded Rectangle 14"/>
          <p:cNvSpPr/>
          <p:nvPr/>
        </p:nvSpPr>
        <p:spPr bwMode="auto">
          <a:xfrm>
            <a:off x="7635240" y="2496312"/>
            <a:ext cx="1609344" cy="612648"/>
          </a:xfrm>
          <a:prstGeom prst="roundRect">
            <a:avLst>
              <a:gd name="adj" fmla="val 5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7748465" name="TextBox 15"/>
          <p:cNvSpPr txBox="1"/>
          <p:nvPr/>
        </p:nvSpPr>
        <p:spPr bwMode="auto">
          <a:xfrm>
            <a:off x="7754112" y="2660904"/>
            <a:ext cx="1362455" cy="329184"/>
          </a:xfrm>
          <a:prstGeom prst="rect">
            <a:avLst/>
          </a:prstGeom>
          <a:noFill/>
        </p:spPr>
        <p:txBody>
          <a:bodyPr wrap="square" lIns="18288" tIns="18288" rIns="18288" bIns="18288">
            <a:spAutoFit/>
          </a:bodyPr>
          <a:lstStyle/>
          <a:p>
            <a:pPr>
              <a:spcBef>
                <a:spcPts val="0"/>
              </a:spcBef>
              <a:spcAft>
                <a:spcPts val="0"/>
              </a:spcAft>
              <a:defRPr sz="1400" b="1">
                <a:solidFill>
                  <a:srgbClr val="6A60AC"/>
                </a:solidFill>
                <a:latin typeface="Aptos"/>
              </a:defRPr>
            </a:pPr>
            <a:r>
              <a:rPr/>
              <a:t>version = 2</a:t>
            </a:r>
            <a:endParaRPr/>
          </a:p>
        </p:txBody>
      </p:sp>
      <p:cxnSp>
        <p:nvCxnSpPr>
          <p:cNvPr id="1456878033" name="Connector 16"/>
          <p:cNvCxnSpPr/>
          <p:nvPr/>
        </p:nvCxnSpPr>
        <p:spPr bwMode="auto">
          <a:xfrm>
            <a:off x="9308592" y="2798064"/>
            <a:ext cx="256032" cy="0"/>
          </a:xfrm>
          <a:prstGeom prst="line">
            <a:avLst/>
          </a:prstGeom>
          <a:ln w="17780">
            <a:solidFill>
              <a:srgbClr val="6A60AC"/>
            </a:solidFill>
            <a:tailEnd type="triangle"/>
          </a:ln>
        </p:spPr>
        <p:style>
          <a:lnRef idx="2">
            <a:schemeClr val="accent1"/>
          </a:lnRef>
          <a:fillRef idx="0">
            <a:schemeClr val="accent1"/>
          </a:fillRef>
          <a:effectRef idx="1">
            <a:schemeClr val="accent1"/>
          </a:effectRef>
          <a:fontRef idx="minor">
            <a:schemeClr val="tx1"/>
          </a:fontRef>
        </p:style>
      </p:cxnSp>
      <p:sp>
        <p:nvSpPr>
          <p:cNvPr id="861401029" name="Rounded Rectangle 17"/>
          <p:cNvSpPr/>
          <p:nvPr/>
        </p:nvSpPr>
        <p:spPr bwMode="auto">
          <a:xfrm>
            <a:off x="9665208" y="2496312"/>
            <a:ext cx="1682496" cy="612648"/>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1790955" name="TextBox 18"/>
          <p:cNvSpPr txBox="1"/>
          <p:nvPr/>
        </p:nvSpPr>
        <p:spPr bwMode="auto">
          <a:xfrm>
            <a:off x="9774936" y="2651760"/>
            <a:ext cx="1490472" cy="320040"/>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schéma actuel</a:t>
            </a:r>
            <a:endParaRPr/>
          </a:p>
        </p:txBody>
      </p:sp>
      <p:sp>
        <p:nvSpPr>
          <p:cNvPr id="263447811" name="Rounded Rectangle 19"/>
          <p:cNvSpPr/>
          <p:nvPr/>
        </p:nvSpPr>
        <p:spPr bwMode="auto">
          <a:xfrm>
            <a:off x="7635240" y="3447288"/>
            <a:ext cx="1609344" cy="612648"/>
          </a:xfrm>
          <a:prstGeom prst="roundRect">
            <a:avLst>
              <a:gd name="adj" fmla="val 5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0765593" name="TextBox 20"/>
          <p:cNvSpPr txBox="1"/>
          <p:nvPr/>
        </p:nvSpPr>
        <p:spPr bwMode="auto">
          <a:xfrm>
            <a:off x="7754112" y="3611880"/>
            <a:ext cx="1362455" cy="329184"/>
          </a:xfrm>
          <a:prstGeom prst="rect">
            <a:avLst/>
          </a:prstGeom>
          <a:noFill/>
        </p:spPr>
        <p:txBody>
          <a:bodyPr wrap="square" lIns="18288" tIns="18288" rIns="18288" bIns="18288">
            <a:spAutoFit/>
          </a:bodyPr>
          <a:lstStyle/>
          <a:p>
            <a:pPr>
              <a:spcBef>
                <a:spcPts val="0"/>
              </a:spcBef>
              <a:spcAft>
                <a:spcPts val="0"/>
              </a:spcAft>
              <a:defRPr sz="1400" b="1">
                <a:solidFill>
                  <a:srgbClr val="6A60AC"/>
                </a:solidFill>
                <a:latin typeface="Aptos"/>
              </a:defRPr>
            </a:pPr>
            <a:r>
              <a:rPr/>
              <a:t>taskDao()</a:t>
            </a:r>
            <a:endParaRPr/>
          </a:p>
        </p:txBody>
      </p:sp>
      <p:cxnSp>
        <p:nvCxnSpPr>
          <p:cNvPr id="1609343907" name="Connector 21"/>
          <p:cNvCxnSpPr/>
          <p:nvPr/>
        </p:nvCxnSpPr>
        <p:spPr bwMode="auto">
          <a:xfrm>
            <a:off x="9308592" y="3749039"/>
            <a:ext cx="256032" cy="0"/>
          </a:xfrm>
          <a:prstGeom prst="line">
            <a:avLst/>
          </a:prstGeom>
          <a:ln w="17780">
            <a:solidFill>
              <a:srgbClr val="6A60AC"/>
            </a:solidFill>
            <a:tailEnd type="triangle"/>
          </a:ln>
        </p:spPr>
        <p:style>
          <a:lnRef idx="2">
            <a:schemeClr val="accent1"/>
          </a:lnRef>
          <a:fillRef idx="0">
            <a:schemeClr val="accent1"/>
          </a:fillRef>
          <a:effectRef idx="1">
            <a:schemeClr val="accent1"/>
          </a:effectRef>
          <a:fontRef idx="minor">
            <a:schemeClr val="tx1"/>
          </a:fontRef>
        </p:style>
      </p:cxnSp>
      <p:sp>
        <p:nvSpPr>
          <p:cNvPr id="1223736039" name="Rounded Rectangle 22"/>
          <p:cNvSpPr/>
          <p:nvPr/>
        </p:nvSpPr>
        <p:spPr bwMode="auto">
          <a:xfrm>
            <a:off x="9665208" y="3447288"/>
            <a:ext cx="1682496" cy="612648"/>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4924044" name="TextBox 23"/>
          <p:cNvSpPr txBox="1"/>
          <p:nvPr/>
        </p:nvSpPr>
        <p:spPr bwMode="auto">
          <a:xfrm>
            <a:off x="9774936" y="3506724"/>
            <a:ext cx="1490472" cy="320040"/>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accès aux requêtes</a:t>
            </a:r>
            <a:endParaRPr/>
          </a:p>
        </p:txBody>
      </p:sp>
      <p:sp>
        <p:nvSpPr>
          <p:cNvPr id="1947864996" name="Rounded Rectangle 24"/>
          <p:cNvSpPr/>
          <p:nvPr/>
        </p:nvSpPr>
        <p:spPr bwMode="auto">
          <a:xfrm>
            <a:off x="7635240" y="4398264"/>
            <a:ext cx="1609344" cy="612648"/>
          </a:xfrm>
          <a:prstGeom prst="roundRect">
            <a:avLst>
              <a:gd name="adj" fmla="val 5000"/>
            </a:avLst>
          </a:prstGeom>
          <a:solidFill>
            <a:srgbClr val="EA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86257862" name="TextBox 25"/>
          <p:cNvSpPr txBox="1"/>
          <p:nvPr/>
        </p:nvSpPr>
        <p:spPr bwMode="auto">
          <a:xfrm flipH="0" flipV="0">
            <a:off x="7754112" y="4562856"/>
            <a:ext cx="1491191" cy="250295"/>
          </a:xfrm>
          <a:prstGeom prst="rect">
            <a:avLst/>
          </a:prstGeom>
          <a:noFill/>
        </p:spPr>
        <p:txBody>
          <a:bodyPr wrap="square" lIns="18288" tIns="18288" rIns="18288" bIns="18288">
            <a:spAutoFit/>
          </a:bodyPr>
          <a:lstStyle/>
          <a:p>
            <a:pPr>
              <a:spcBef>
                <a:spcPts val="0"/>
              </a:spcBef>
              <a:spcAft>
                <a:spcPts val="0"/>
              </a:spcAft>
              <a:defRPr sz="1200" b="1">
                <a:solidFill>
                  <a:srgbClr val="6A60AC"/>
                </a:solidFill>
                <a:latin typeface="Aptos"/>
              </a:defRPr>
            </a:pPr>
            <a:r>
              <a:rPr sz="1400"/>
              <a:t>databaseBuilder</a:t>
            </a:r>
            <a:endParaRPr/>
          </a:p>
        </p:txBody>
      </p:sp>
      <p:cxnSp>
        <p:nvCxnSpPr>
          <p:cNvPr id="284386148" name="Connector 26"/>
          <p:cNvCxnSpPr/>
          <p:nvPr/>
        </p:nvCxnSpPr>
        <p:spPr bwMode="auto">
          <a:xfrm>
            <a:off x="9308592" y="4700016"/>
            <a:ext cx="256032" cy="0"/>
          </a:xfrm>
          <a:prstGeom prst="line">
            <a:avLst/>
          </a:prstGeom>
          <a:ln w="17780">
            <a:solidFill>
              <a:srgbClr val="6A60AC"/>
            </a:solidFill>
            <a:tailEnd type="triangle"/>
          </a:ln>
        </p:spPr>
        <p:style>
          <a:lnRef idx="2">
            <a:schemeClr val="accent1"/>
          </a:lnRef>
          <a:fillRef idx="0">
            <a:schemeClr val="accent1"/>
          </a:fillRef>
          <a:effectRef idx="1">
            <a:schemeClr val="accent1"/>
          </a:effectRef>
          <a:fontRef idx="minor">
            <a:schemeClr val="tx1"/>
          </a:fontRef>
        </p:style>
      </p:cxnSp>
      <p:sp>
        <p:nvSpPr>
          <p:cNvPr id="1135139733" name="Rounded Rectangle 27"/>
          <p:cNvSpPr/>
          <p:nvPr/>
        </p:nvSpPr>
        <p:spPr bwMode="auto">
          <a:xfrm>
            <a:off x="9665208" y="4398264"/>
            <a:ext cx="1682496" cy="612648"/>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0114531" name="TextBox 28"/>
          <p:cNvSpPr txBox="1"/>
          <p:nvPr/>
        </p:nvSpPr>
        <p:spPr bwMode="auto">
          <a:xfrm>
            <a:off x="9774936" y="4553712"/>
            <a:ext cx="1490472" cy="320040"/>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ouvre tasks.db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9758381"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Le trajet complet d’une tâche</a:t>
            </a:r>
            <a:endParaRPr/>
          </a:p>
        </p:txBody>
      </p:sp>
      <p:sp>
        <p:nvSpPr>
          <p:cNvPr id="2018686268" name="TextBox 2"/>
          <p:cNvSpPr txBox="1"/>
          <p:nvPr/>
        </p:nvSpPr>
        <p:spPr bwMode="auto">
          <a:xfrm>
            <a:off x="634939" y="1043585"/>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Architecture recommandée et raccourci de la démo</a:t>
            </a:r>
            <a:endParaRPr sz="1600"/>
          </a:p>
        </p:txBody>
      </p:sp>
      <p:cxnSp>
        <p:nvCxnSpPr>
          <p:cNvPr id="894616221"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69353506"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1373800618"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962866096"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11</a:t>
            </a:r>
            <a:endParaRPr/>
          </a:p>
        </p:txBody>
      </p:sp>
      <p:sp>
        <p:nvSpPr>
          <p:cNvPr id="1011900270" name="Rounded Rectangle 7"/>
          <p:cNvSpPr/>
          <p:nvPr/>
        </p:nvSpPr>
        <p:spPr bwMode="auto">
          <a:xfrm>
            <a:off x="598904" y="1828800"/>
            <a:ext cx="1673352" cy="1088136"/>
          </a:xfrm>
          <a:prstGeom prst="roundRect">
            <a:avLst>
              <a:gd name="adj" fmla="val 8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4345518" name="TextBox 8"/>
          <p:cNvSpPr txBox="1"/>
          <p:nvPr/>
        </p:nvSpPr>
        <p:spPr bwMode="auto">
          <a:xfrm>
            <a:off x="708632"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UI · Activity / Fragment</a:t>
            </a:r>
            <a:endParaRPr/>
          </a:p>
        </p:txBody>
      </p:sp>
      <p:cxnSp>
        <p:nvCxnSpPr>
          <p:cNvPr id="1670003905" name="Connector 9"/>
          <p:cNvCxnSpPr/>
          <p:nvPr/>
        </p:nvCxnSpPr>
        <p:spPr bwMode="auto">
          <a:xfrm>
            <a:off x="2299688" y="2377440"/>
            <a:ext cx="128016" cy="0"/>
          </a:xfrm>
          <a:prstGeom prst="line">
            <a:avLst/>
          </a:prstGeom>
          <a:ln w="2159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183956167" name="Rounded Rectangle 10"/>
          <p:cNvSpPr/>
          <p:nvPr/>
        </p:nvSpPr>
        <p:spPr bwMode="auto">
          <a:xfrm>
            <a:off x="2445992" y="1828800"/>
            <a:ext cx="1673352" cy="1088136"/>
          </a:xfrm>
          <a:prstGeom prst="roundRect">
            <a:avLst>
              <a:gd name="adj" fmla="val 8000"/>
            </a:avLst>
          </a:prstGeom>
          <a:solidFill>
            <a:srgbClr val="6A60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8523619" name="TextBox 11"/>
          <p:cNvSpPr txBox="1"/>
          <p:nvPr/>
        </p:nvSpPr>
        <p:spPr bwMode="auto">
          <a:xfrm>
            <a:off x="2555720"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ViewModel</a:t>
            </a:r>
            <a:endParaRPr/>
          </a:p>
        </p:txBody>
      </p:sp>
      <p:cxnSp>
        <p:nvCxnSpPr>
          <p:cNvPr id="211647720" name="Connector 12"/>
          <p:cNvCxnSpPr/>
          <p:nvPr/>
        </p:nvCxnSpPr>
        <p:spPr bwMode="auto">
          <a:xfrm>
            <a:off x="4146776" y="2377440"/>
            <a:ext cx="128016" cy="0"/>
          </a:xfrm>
          <a:prstGeom prst="line">
            <a:avLst/>
          </a:prstGeom>
          <a:ln w="2159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1104708339" name="Rounded Rectangle 13"/>
          <p:cNvSpPr/>
          <p:nvPr/>
        </p:nvSpPr>
        <p:spPr bwMode="auto">
          <a:xfrm>
            <a:off x="4293080" y="1828800"/>
            <a:ext cx="1673352" cy="1088136"/>
          </a:xfrm>
          <a:prstGeom prst="roundRect">
            <a:avLst>
              <a:gd name="adj" fmla="val 8000"/>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4661458" name="TextBox 14"/>
          <p:cNvSpPr txBox="1"/>
          <p:nvPr/>
        </p:nvSpPr>
        <p:spPr bwMode="auto">
          <a:xfrm>
            <a:off x="4402808"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Repository</a:t>
            </a:r>
            <a:endParaRPr/>
          </a:p>
        </p:txBody>
      </p:sp>
      <p:cxnSp>
        <p:nvCxnSpPr>
          <p:cNvPr id="807252246" name="Connector 15"/>
          <p:cNvCxnSpPr/>
          <p:nvPr/>
        </p:nvCxnSpPr>
        <p:spPr bwMode="auto">
          <a:xfrm>
            <a:off x="5993864" y="2377440"/>
            <a:ext cx="128016" cy="0"/>
          </a:xfrm>
          <a:prstGeom prst="line">
            <a:avLst/>
          </a:prstGeom>
          <a:ln w="2159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533414585" name="Rounded Rectangle 16"/>
          <p:cNvSpPr/>
          <p:nvPr/>
        </p:nvSpPr>
        <p:spPr bwMode="auto">
          <a:xfrm>
            <a:off x="6140168" y="1828800"/>
            <a:ext cx="1673352" cy="1088136"/>
          </a:xfrm>
          <a:prstGeom prst="roundRect">
            <a:avLst>
              <a:gd name="adj" fmla="val 8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1312536" name="TextBox 17"/>
          <p:cNvSpPr txBox="1"/>
          <p:nvPr/>
        </p:nvSpPr>
        <p:spPr bwMode="auto">
          <a:xfrm>
            <a:off x="6249896"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DAO</a:t>
            </a:r>
            <a:endParaRPr/>
          </a:p>
        </p:txBody>
      </p:sp>
      <p:cxnSp>
        <p:nvCxnSpPr>
          <p:cNvPr id="1023658763" name="Connector 18"/>
          <p:cNvCxnSpPr/>
          <p:nvPr/>
        </p:nvCxnSpPr>
        <p:spPr bwMode="auto">
          <a:xfrm>
            <a:off x="7840952" y="2377440"/>
            <a:ext cx="128016" cy="0"/>
          </a:xfrm>
          <a:prstGeom prst="line">
            <a:avLst/>
          </a:prstGeom>
          <a:ln w="2159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1768453184" name="Rounded Rectangle 19"/>
          <p:cNvSpPr/>
          <p:nvPr/>
        </p:nvSpPr>
        <p:spPr bwMode="auto">
          <a:xfrm>
            <a:off x="7987256" y="1828800"/>
            <a:ext cx="1673352" cy="1088136"/>
          </a:xfrm>
          <a:prstGeom prst="roundRect">
            <a:avLst>
              <a:gd name="adj" fmla="val 8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9149159" name="TextBox 20"/>
          <p:cNvSpPr txBox="1"/>
          <p:nvPr/>
        </p:nvSpPr>
        <p:spPr bwMode="auto">
          <a:xfrm>
            <a:off x="8096983"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Room · code généré</a:t>
            </a:r>
            <a:endParaRPr/>
          </a:p>
        </p:txBody>
      </p:sp>
      <p:cxnSp>
        <p:nvCxnSpPr>
          <p:cNvPr id="1192333023" name="Connector 21"/>
          <p:cNvCxnSpPr/>
          <p:nvPr/>
        </p:nvCxnSpPr>
        <p:spPr bwMode="auto">
          <a:xfrm>
            <a:off x="9688039" y="2377440"/>
            <a:ext cx="128016" cy="0"/>
          </a:xfrm>
          <a:prstGeom prst="line">
            <a:avLst/>
          </a:prstGeom>
          <a:ln w="2159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1345573793" name="Rounded Rectangle 22"/>
          <p:cNvSpPr/>
          <p:nvPr/>
        </p:nvSpPr>
        <p:spPr bwMode="auto">
          <a:xfrm>
            <a:off x="9834343" y="1828800"/>
            <a:ext cx="1673352" cy="1088136"/>
          </a:xfrm>
          <a:prstGeom prst="roundRect">
            <a:avLst>
              <a:gd name="adj" fmla="val 8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8331607" name="TextBox 23"/>
          <p:cNvSpPr txBox="1"/>
          <p:nvPr/>
        </p:nvSpPr>
        <p:spPr bwMode="auto">
          <a:xfrm>
            <a:off x="9944071" y="2075688"/>
            <a:ext cx="1453896" cy="594360"/>
          </a:xfrm>
          <a:prstGeom prst="rect">
            <a:avLst/>
          </a:prstGeom>
          <a:noFill/>
        </p:spPr>
        <p:txBody>
          <a:bodyPr wrap="square" lIns="18288" tIns="18288" rIns="18288" bIns="18288">
            <a:spAutoFit/>
          </a:bodyPr>
          <a:lstStyle/>
          <a:p>
            <a:pPr algn="ctr">
              <a:spcBef>
                <a:spcPts val="0"/>
              </a:spcBef>
              <a:spcAft>
                <a:spcPts val="0"/>
              </a:spcAft>
              <a:defRPr sz="1600" b="1">
                <a:solidFill>
                  <a:srgbClr val="FFFFFF"/>
                </a:solidFill>
                <a:latin typeface="Aptos"/>
              </a:defRPr>
            </a:pPr>
            <a:r>
              <a:rPr/>
              <a:t>SQLite · tasks.db</a:t>
            </a:r>
            <a:endParaRPr/>
          </a:p>
        </p:txBody>
      </p:sp>
      <p:cxnSp>
        <p:nvCxnSpPr>
          <p:cNvPr id="52271079" name="Connector 24"/>
          <p:cNvCxnSpPr/>
          <p:nvPr/>
        </p:nvCxnSpPr>
        <p:spPr bwMode="auto">
          <a:xfrm flipH="1">
            <a:off x="1467583" y="3255264"/>
            <a:ext cx="8988553" cy="0"/>
          </a:xfrm>
          <a:prstGeom prst="line">
            <a:avLst/>
          </a:prstGeom>
          <a:ln w="25400">
            <a:solidFill>
              <a:srgbClr val="317AB5"/>
            </a:solidFill>
          </a:ln>
        </p:spPr>
        <p:style>
          <a:lnRef idx="2">
            <a:schemeClr val="accent1"/>
          </a:lnRef>
          <a:fillRef idx="0">
            <a:schemeClr val="accent1"/>
          </a:fillRef>
          <a:effectRef idx="1">
            <a:schemeClr val="accent1"/>
          </a:effectRef>
          <a:fontRef idx="minor">
            <a:schemeClr val="tx1"/>
          </a:fontRef>
        </p:style>
      </p:cxnSp>
      <p:cxnSp>
        <p:nvCxnSpPr>
          <p:cNvPr id="692791905" name="Connector 25"/>
          <p:cNvCxnSpPr/>
          <p:nvPr/>
        </p:nvCxnSpPr>
        <p:spPr bwMode="auto">
          <a:xfrm flipV="1">
            <a:off x="1467583" y="2971800"/>
            <a:ext cx="0" cy="283464"/>
          </a:xfrm>
          <a:prstGeom prst="line">
            <a:avLst/>
          </a:prstGeom>
          <a:ln w="2540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1697697485" name="TextBox 26"/>
          <p:cNvSpPr txBox="1"/>
          <p:nvPr/>
        </p:nvSpPr>
        <p:spPr bwMode="auto">
          <a:xfrm>
            <a:off x="2601440" y="3364992"/>
            <a:ext cx="6492240" cy="429768"/>
          </a:xfrm>
          <a:prstGeom prst="rect">
            <a:avLst/>
          </a:prstGeom>
          <a:noFill/>
        </p:spPr>
        <p:txBody>
          <a:bodyPr wrap="square" lIns="18288" tIns="18288" rIns="18288" bIns="18288">
            <a:spAutoFit/>
          </a:bodyPr>
          <a:lstStyle/>
          <a:p>
            <a:pPr algn="ctr">
              <a:spcBef>
                <a:spcPts val="0"/>
              </a:spcBef>
              <a:spcAft>
                <a:spcPts val="0"/>
              </a:spcAft>
              <a:defRPr sz="1700" b="1">
                <a:solidFill>
                  <a:srgbClr val="317AB5"/>
                </a:solidFill>
                <a:latin typeface="Aptos"/>
              </a:defRPr>
            </a:pPr>
            <a:r>
              <a:rPr/>
              <a:t>Résultat LiveData&lt;List&lt;Task&gt;&gt; observé par l’UI</a:t>
            </a:r>
            <a:endParaRPr/>
          </a:p>
        </p:txBody>
      </p:sp>
      <p:sp>
        <p:nvSpPr>
          <p:cNvPr id="1962987602" name="Rounded Rectangle 27"/>
          <p:cNvSpPr/>
          <p:nvPr/>
        </p:nvSpPr>
        <p:spPr bwMode="auto">
          <a:xfrm>
            <a:off x="580616" y="4169662"/>
            <a:ext cx="10222992" cy="1097280"/>
          </a:xfrm>
          <a:prstGeom prst="roundRect">
            <a:avLst>
              <a:gd name="adj" fmla="val 7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9540685" name="TextBox 28"/>
          <p:cNvSpPr txBox="1"/>
          <p:nvPr/>
        </p:nvSpPr>
        <p:spPr bwMode="auto">
          <a:xfrm>
            <a:off x="845792" y="4407408"/>
            <a:ext cx="1993392" cy="384048"/>
          </a:xfrm>
          <a:prstGeom prst="rect">
            <a:avLst/>
          </a:prstGeom>
          <a:noFill/>
        </p:spPr>
        <p:txBody>
          <a:bodyPr wrap="square" lIns="18288" tIns="18288" rIns="18288" bIns="18288">
            <a:spAutoFit/>
          </a:bodyPr>
          <a:lstStyle/>
          <a:p>
            <a:pPr>
              <a:spcBef>
                <a:spcPts val="0"/>
              </a:spcBef>
              <a:spcAft>
                <a:spcPts val="0"/>
              </a:spcAft>
              <a:defRPr sz="1800" b="1">
                <a:solidFill>
                  <a:srgbClr val="176D70"/>
                </a:solidFill>
                <a:latin typeface="Aptos"/>
              </a:defRPr>
            </a:pPr>
            <a:r>
              <a:rPr/>
              <a:t>Démo minimale</a:t>
            </a:r>
            <a:endParaRPr/>
          </a:p>
        </p:txBody>
      </p:sp>
      <p:sp>
        <p:nvSpPr>
          <p:cNvPr id="633466161" name="TextBox 29"/>
          <p:cNvSpPr txBox="1"/>
          <p:nvPr/>
        </p:nvSpPr>
        <p:spPr bwMode="auto">
          <a:xfrm>
            <a:off x="2958056" y="4398264"/>
            <a:ext cx="7388352" cy="457200"/>
          </a:xfrm>
          <a:prstGeom prst="rect">
            <a:avLst/>
          </a:prstGeom>
          <a:noFill/>
        </p:spPr>
        <p:txBody>
          <a:bodyPr wrap="square" lIns="18288" tIns="18288" rIns="18288" bIns="18288">
            <a:spAutoFit/>
          </a:bodyPr>
          <a:lstStyle/>
          <a:p>
            <a:pPr>
              <a:spcBef>
                <a:spcPts val="0"/>
              </a:spcBef>
              <a:spcAft>
                <a:spcPts val="0"/>
              </a:spcAft>
              <a:defRPr sz="2000" b="1">
                <a:solidFill>
                  <a:srgbClr val="172A31"/>
                </a:solidFill>
                <a:latin typeface="Aptos"/>
              </a:defRPr>
            </a:pPr>
            <a:r>
              <a:rPr/>
              <a:t>Activity  →  DAO  →  Room  →  SQLite</a:t>
            </a:r>
            <a:endParaRPr/>
          </a:p>
        </p:txBody>
      </p:sp>
      <p:sp>
        <p:nvSpPr>
          <p:cNvPr id="1664780721" name="TextBox 30"/>
          <p:cNvSpPr txBox="1"/>
          <p:nvPr/>
        </p:nvSpPr>
        <p:spPr bwMode="auto">
          <a:xfrm>
            <a:off x="681200" y="5715000"/>
            <a:ext cx="9966960" cy="393192"/>
          </a:xfrm>
          <a:prstGeom prst="rect">
            <a:avLst/>
          </a:prstGeom>
          <a:noFill/>
        </p:spPr>
        <p:txBody>
          <a:bodyPr wrap="square" lIns="18288" tIns="18288" rIns="18288" bIns="18288">
            <a:spAutoFit/>
          </a:bodyPr>
          <a:lstStyle/>
          <a:p>
            <a:pPr>
              <a:spcBef>
                <a:spcPts val="0"/>
              </a:spcBef>
              <a:spcAft>
                <a:spcPts val="0"/>
              </a:spcAft>
              <a:defRPr sz="1600" b="0">
                <a:solidFill>
                  <a:srgbClr val="53666D"/>
                </a:solidFill>
                <a:latin typeface="Aptos"/>
              </a:defRPr>
            </a:pPr>
            <a:r>
              <a:rPr/>
              <a:t>Le Repository coordonne les sources de données ; Room ne l’impose pas.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099468655"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Le disque travaille hors du thread UI</a:t>
            </a:r>
            <a:endParaRPr/>
          </a:p>
        </p:txBody>
      </p:sp>
      <p:sp>
        <p:nvSpPr>
          <p:cNvPr id="160671206"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600" b="1">
                <a:solidFill>
                  <a:srgbClr val="176D70"/>
                </a:solidFill>
                <a:latin typeface="Aptos"/>
              </a:defRPr>
            </a:pPr>
            <a:r>
              <a:rPr/>
              <a:t>Écriture hors du thread UI, observation réactive avec LiveData</a:t>
            </a:r>
            <a:endParaRPr sz="1600"/>
          </a:p>
        </p:txBody>
      </p:sp>
      <p:cxnSp>
        <p:nvCxnSpPr>
          <p:cNvPr id="1858861023"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299526121"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201741333"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855439377"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12</a:t>
            </a:r>
            <a:endParaRPr/>
          </a:p>
        </p:txBody>
      </p:sp>
      <p:sp>
        <p:nvSpPr>
          <p:cNvPr id="697888839" name="Rounded Rectangle 7"/>
          <p:cNvSpPr/>
          <p:nvPr/>
        </p:nvSpPr>
        <p:spPr bwMode="auto">
          <a:xfrm>
            <a:off x="713232" y="1389888"/>
            <a:ext cx="4928616" cy="1865376"/>
          </a:xfrm>
          <a:prstGeom prst="roundRect">
            <a:avLst>
              <a:gd name="adj" fmla="val 6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3607271" name="Rounded Rectangle 8"/>
          <p:cNvSpPr/>
          <p:nvPr/>
        </p:nvSpPr>
        <p:spPr bwMode="auto">
          <a:xfrm>
            <a:off x="6565392" y="1389888"/>
            <a:ext cx="4928616" cy="1865376"/>
          </a:xfrm>
          <a:prstGeom prst="roundRect">
            <a:avLst>
              <a:gd name="adj" fmla="val 6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1858820" name="TextBox 9"/>
          <p:cNvSpPr txBox="1"/>
          <p:nvPr/>
        </p:nvSpPr>
        <p:spPr bwMode="auto">
          <a:xfrm>
            <a:off x="987552" y="1636776"/>
            <a:ext cx="4526280" cy="310896"/>
          </a:xfrm>
          <a:prstGeom prst="rect">
            <a:avLst/>
          </a:prstGeom>
          <a:noFill/>
        </p:spPr>
        <p:txBody>
          <a:bodyPr wrap="square" lIns="18288" tIns="18288" rIns="18288" bIns="18288">
            <a:spAutoFit/>
          </a:bodyPr>
          <a:lstStyle/>
          <a:p>
            <a:pPr>
              <a:spcBef>
                <a:spcPts val="0"/>
              </a:spcBef>
              <a:spcAft>
                <a:spcPts val="0"/>
              </a:spcAft>
              <a:defRPr sz="1600" b="1">
                <a:solidFill>
                  <a:srgbClr val="317AB5"/>
                </a:solidFill>
                <a:latin typeface="Aptos"/>
              </a:defRPr>
            </a:pPr>
            <a:r>
              <a:rPr/>
              <a:t>MAIN / UI THREAD</a:t>
            </a:r>
            <a:endParaRPr/>
          </a:p>
        </p:txBody>
      </p:sp>
      <p:sp>
        <p:nvSpPr>
          <p:cNvPr id="198008560" name="TextBox 10"/>
          <p:cNvSpPr txBox="1"/>
          <p:nvPr/>
        </p:nvSpPr>
        <p:spPr bwMode="auto">
          <a:xfrm>
            <a:off x="6830568" y="1636776"/>
            <a:ext cx="4343400" cy="310896"/>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WORKER THREAD</a:t>
            </a:r>
            <a:endParaRPr/>
          </a:p>
        </p:txBody>
      </p:sp>
      <p:sp>
        <p:nvSpPr>
          <p:cNvPr id="1848010650" name="TextBox 11"/>
          <p:cNvSpPr txBox="1"/>
          <p:nvPr/>
        </p:nvSpPr>
        <p:spPr bwMode="auto">
          <a:xfrm>
            <a:off x="987552" y="2267712"/>
            <a:ext cx="4645152" cy="356616"/>
          </a:xfrm>
          <a:prstGeom prst="rect">
            <a:avLst/>
          </a:prstGeom>
          <a:noFill/>
        </p:spPr>
        <p:txBody>
          <a:bodyPr wrap="square" lIns="18288" tIns="18288" rIns="18288" bIns="18288">
            <a:spAutoFit/>
          </a:bodyPr>
          <a:lstStyle/>
          <a:p>
            <a:pPr>
              <a:spcBef>
                <a:spcPts val="0"/>
              </a:spcBef>
              <a:spcAft>
                <a:spcPts val="0"/>
              </a:spcAft>
              <a:defRPr sz="2000" b="1">
                <a:solidFill>
                  <a:srgbClr val="172A31"/>
                </a:solidFill>
                <a:latin typeface="Aptos"/>
              </a:defRPr>
            </a:pPr>
            <a:r>
              <a:rPr/>
              <a:t>clic  →  événement  →  rendu</a:t>
            </a:r>
            <a:endParaRPr/>
          </a:p>
        </p:txBody>
      </p:sp>
      <p:sp>
        <p:nvSpPr>
          <p:cNvPr id="1310506889" name="TextBox 12"/>
          <p:cNvSpPr txBox="1"/>
          <p:nvPr/>
        </p:nvSpPr>
        <p:spPr bwMode="auto">
          <a:xfrm>
            <a:off x="6830568" y="2267712"/>
            <a:ext cx="4343400" cy="356616"/>
          </a:xfrm>
          <a:prstGeom prst="rect">
            <a:avLst/>
          </a:prstGeom>
          <a:noFill/>
        </p:spPr>
        <p:txBody>
          <a:bodyPr wrap="square" lIns="18288" tIns="18288" rIns="18288" bIns="18288">
            <a:spAutoFit/>
          </a:bodyPr>
          <a:lstStyle/>
          <a:p>
            <a:pPr>
              <a:spcBef>
                <a:spcPts val="0"/>
              </a:spcBef>
              <a:spcAft>
                <a:spcPts val="0"/>
              </a:spcAft>
              <a:defRPr sz="2000" b="1">
                <a:solidFill>
                  <a:srgbClr val="172A31"/>
                </a:solidFill>
                <a:latin typeface="Aptos"/>
              </a:defRPr>
            </a:pPr>
            <a:r>
              <a:rPr/>
              <a:t>DAO  →  Room  →  SQLite</a:t>
            </a:r>
            <a:endParaRPr/>
          </a:p>
        </p:txBody>
      </p:sp>
      <p:cxnSp>
        <p:nvCxnSpPr>
          <p:cNvPr id="1143558193" name="Connector 13"/>
          <p:cNvCxnSpPr/>
          <p:nvPr/>
        </p:nvCxnSpPr>
        <p:spPr bwMode="auto">
          <a:xfrm>
            <a:off x="5696712" y="2423160"/>
            <a:ext cx="795528" cy="0"/>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sp>
        <p:nvSpPr>
          <p:cNvPr id="1645810411" name="Rounded Rectangle 14"/>
          <p:cNvSpPr/>
          <p:nvPr/>
        </p:nvSpPr>
        <p:spPr bwMode="auto">
          <a:xfrm>
            <a:off x="6565392" y="3557016"/>
            <a:ext cx="4928616" cy="1517904"/>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9721559" name="TextBox 15"/>
          <p:cNvSpPr txBox="1"/>
          <p:nvPr/>
        </p:nvSpPr>
        <p:spPr bwMode="auto">
          <a:xfrm>
            <a:off x="6729984" y="3675887"/>
            <a:ext cx="4608576" cy="1307592"/>
          </a:xfrm>
          <a:prstGeom prst="rect">
            <a:avLst/>
          </a:prstGeom>
          <a:noFill/>
        </p:spPr>
        <p:txBody>
          <a:bodyPr wrap="none" lIns="0" tIns="0" rIns="0" bIns="0">
            <a:spAutoFit/>
          </a:bodyPr>
          <a:lstStyle/>
          <a:p>
            <a:pPr>
              <a:spcBef>
                <a:spcPts val="0"/>
              </a:spcBef>
              <a:spcAft>
                <a:spcPts val="100"/>
              </a:spcAft>
              <a:defRPr/>
            </a:pPr>
            <a:r>
              <a:rPr sz="1350">
                <a:solidFill>
                  <a:srgbClr val="FFFFFF"/>
                </a:solidFill>
                <a:latin typeface="DejaVu Sans Mono"/>
              </a:rPr>
              <a:t>ExecutorService io =</a:t>
            </a:r>
            <a:endParaRPr/>
          </a:p>
          <a:p>
            <a:pPr>
              <a:spcBef>
                <a:spcPts val="0"/>
              </a:spcBef>
              <a:spcAft>
                <a:spcPts val="100"/>
              </a:spcAft>
              <a:defRPr/>
            </a:pPr>
            <a:r>
              <a:rPr sz="1350">
                <a:solidFill>
                  <a:srgbClr val="FFFFFF"/>
                </a:solidFill>
                <a:latin typeface="DejaVu Sans Mono"/>
              </a:rPr>
              <a:t>    Executors.newSingleThreadExecutor();</a:t>
            </a:r>
            <a:endParaRPr/>
          </a:p>
          <a:p>
            <a:pPr>
              <a:spcBef>
                <a:spcPts val="0"/>
              </a:spcBef>
              <a:spcAft>
                <a:spcPts val="100"/>
              </a:spcAft>
              <a:defRPr/>
            </a:pPr>
            <a:endParaRPr/>
          </a:p>
          <a:p>
            <a:pPr>
              <a:spcBef>
                <a:spcPts val="0"/>
              </a:spcBef>
              <a:spcAft>
                <a:spcPts val="100"/>
              </a:spcAft>
              <a:defRPr/>
            </a:pPr>
            <a:r>
              <a:rPr sz="1350">
                <a:solidFill>
                  <a:srgbClr val="FFFFFF"/>
                </a:solidFill>
                <a:latin typeface="DejaVu Sans Mono"/>
              </a:rPr>
              <a:t>io.execute(() -&gt;</a:t>
            </a:r>
            <a:endParaRPr/>
          </a:p>
          <a:p>
            <a:pPr>
              <a:spcBef>
                <a:spcPts val="0"/>
              </a:spcBef>
              <a:spcAft>
                <a:spcPts val="100"/>
              </a:spcAft>
              <a:defRPr/>
            </a:pPr>
            <a:r>
              <a:rPr sz="1350">
                <a:solidFill>
                  <a:srgbClr val="FFFFFF"/>
                </a:solidFill>
                <a:latin typeface="DejaVu Sans Mono"/>
              </a:rPr>
              <a:t>    taskDao.insert(task)</a:t>
            </a:r>
            <a:endParaRPr/>
          </a:p>
          <a:p>
            <a:pPr>
              <a:spcBef>
                <a:spcPts val="0"/>
              </a:spcBef>
              <a:spcAft>
                <a:spcPts val="100"/>
              </a:spcAft>
              <a:defRPr/>
            </a:pPr>
            <a:r>
              <a:rPr sz="1350">
                <a:solidFill>
                  <a:srgbClr val="FFFFFF"/>
                </a:solidFill>
                <a:latin typeface="DejaVu Sans Mono"/>
              </a:rPr>
              <a:t>);</a:t>
            </a:r>
            <a:endParaRPr/>
          </a:p>
        </p:txBody>
      </p:sp>
      <p:sp>
        <p:nvSpPr>
          <p:cNvPr id="391694347" name="Rounded Rectangle 16"/>
          <p:cNvSpPr/>
          <p:nvPr/>
        </p:nvSpPr>
        <p:spPr bwMode="auto">
          <a:xfrm>
            <a:off x="749808" y="3557016"/>
            <a:ext cx="4892039" cy="1517904"/>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5338690" name="TextBox 17"/>
          <p:cNvSpPr txBox="1"/>
          <p:nvPr/>
        </p:nvSpPr>
        <p:spPr bwMode="auto">
          <a:xfrm>
            <a:off x="923544" y="3675887"/>
            <a:ext cx="4553712" cy="1307592"/>
          </a:xfrm>
          <a:prstGeom prst="rect">
            <a:avLst/>
          </a:prstGeom>
          <a:noFill/>
        </p:spPr>
        <p:txBody>
          <a:bodyPr wrap="none" lIns="0" tIns="0" rIns="0" bIns="0">
            <a:spAutoFit/>
          </a:bodyPr>
          <a:lstStyle/>
          <a:p>
            <a:pPr>
              <a:spcBef>
                <a:spcPts val="0"/>
              </a:spcBef>
              <a:spcAft>
                <a:spcPts val="100"/>
              </a:spcAft>
              <a:defRPr/>
            </a:pPr>
            <a:r>
              <a:rPr sz="1500">
                <a:solidFill>
                  <a:srgbClr val="FFFFFF"/>
                </a:solidFill>
                <a:latin typeface="DejaVu Sans Mono"/>
              </a:rPr>
              <a:t>taskDao.observeAll().observe(this,</a:t>
            </a:r>
            <a:endParaRPr/>
          </a:p>
          <a:p>
            <a:pPr>
              <a:spcBef>
                <a:spcPts val="0"/>
              </a:spcBef>
              <a:spcAft>
                <a:spcPts val="100"/>
              </a:spcAft>
              <a:defRPr/>
            </a:pPr>
            <a:r>
              <a:rPr sz="1500">
                <a:solidFill>
                  <a:srgbClr val="FFFFFF"/>
                </a:solidFill>
                <a:latin typeface="DejaVu Sans Mono"/>
              </a:rPr>
              <a:t>    tasks -&gt; render(tasks)</a:t>
            </a:r>
            <a:endParaRPr/>
          </a:p>
          <a:p>
            <a:pPr>
              <a:spcBef>
                <a:spcPts val="0"/>
              </a:spcBef>
              <a:spcAft>
                <a:spcPts val="100"/>
              </a:spcAft>
              <a:defRPr/>
            </a:pPr>
            <a:r>
              <a:rPr sz="1500">
                <a:solidFill>
                  <a:srgbClr val="FFFFFF"/>
                </a:solidFill>
                <a:latin typeface="DejaVu Sans Mono"/>
              </a:rPr>
              <a:t>);</a:t>
            </a:r>
            <a:endParaRPr/>
          </a:p>
        </p:txBody>
      </p:sp>
      <p:sp>
        <p:nvSpPr>
          <p:cNvPr id="1851287712" name="Rounded Rectangle 18"/>
          <p:cNvSpPr/>
          <p:nvPr/>
        </p:nvSpPr>
        <p:spPr bwMode="auto">
          <a:xfrm>
            <a:off x="914400" y="5504687"/>
            <a:ext cx="10277856" cy="466344"/>
          </a:xfrm>
          <a:prstGeom prst="roundRect">
            <a:avLst>
              <a:gd name="adj" fmla="val 5000"/>
            </a:avLst>
          </a:prstGeom>
          <a:solidFill>
            <a:srgbClr val="F8E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9346481" name="TextBox 19"/>
          <p:cNvSpPr txBox="1"/>
          <p:nvPr/>
        </p:nvSpPr>
        <p:spPr bwMode="auto">
          <a:xfrm>
            <a:off x="1207008" y="5605272"/>
            <a:ext cx="9756647" cy="292608"/>
          </a:xfrm>
          <a:prstGeom prst="rect">
            <a:avLst/>
          </a:prstGeom>
          <a:noFill/>
        </p:spPr>
        <p:txBody>
          <a:bodyPr wrap="square" lIns="18288" tIns="18288" rIns="18288" bIns="18288">
            <a:spAutoFit/>
          </a:bodyPr>
          <a:lstStyle/>
          <a:p>
            <a:pPr algn="ctr">
              <a:spcBef>
                <a:spcPts val="0"/>
              </a:spcBef>
              <a:spcAft>
                <a:spcPts val="0"/>
              </a:spcAft>
              <a:defRPr sz="1600" b="1">
                <a:solidFill>
                  <a:srgbClr val="B94D4D"/>
                </a:solidFill>
                <a:latin typeface="Aptos"/>
              </a:defRPr>
            </a:pPr>
            <a:r>
              <a:rPr/>
              <a:t>I/O sur le thread UI  →  interface bloquée  →  risque d’ANR</a:t>
            </a:r>
            <a:endParaRPr/>
          </a:p>
        </p:txBody>
      </p:sp>
      <p:sp>
        <p:nvSpPr>
          <p:cNvPr id="1025198280" name="TextBox 2081631926"/>
          <p:cNvSpPr txBox="1"/>
          <p:nvPr/>
        </p:nvSpPr>
        <p:spPr bwMode="auto">
          <a:xfrm>
            <a:off x="5605272" y="1746504"/>
            <a:ext cx="1005840" cy="493776"/>
          </a:xfrm>
          <a:prstGeom prst="rect">
            <a:avLst/>
          </a:prstGeom>
          <a:noFill/>
        </p:spPr>
        <p:txBody>
          <a:bodyPr wrap="square" lIns="27432" tIns="9144" rIns="27432" bIns="9144">
            <a:spAutoFit/>
          </a:bodyPr>
          <a:lstStyle/>
          <a:p>
            <a:pPr algn="ctr">
              <a:spcBef>
                <a:spcPts val="0"/>
              </a:spcBef>
              <a:spcAft>
                <a:spcPts val="0"/>
              </a:spcAft>
              <a:defRPr/>
            </a:pPr>
            <a:r>
              <a:rPr sz="1050" b="1">
                <a:solidFill>
                  <a:srgbClr val="176D70"/>
                </a:solidFill>
                <a:latin typeface="Aptos"/>
              </a:rPr>
              <a:t>ÉCRITURE</a:t>
            </a:r>
            <a:endParaRPr/>
          </a:p>
          <a:p>
            <a:pPr algn="ctr">
              <a:spcBef>
                <a:spcPts val="0"/>
              </a:spcBef>
              <a:spcAft>
                <a:spcPts val="0"/>
              </a:spcAft>
              <a:defRPr/>
            </a:pPr>
            <a:r>
              <a:rPr sz="1050" b="1">
                <a:solidFill>
                  <a:srgbClr val="176D70"/>
                </a:solidFill>
                <a:latin typeface="Aptos"/>
              </a:rPr>
              <a:t>ASYNCHRONE</a:t>
            </a:r>
            <a:endParaRPr/>
          </a:p>
        </p:txBody>
      </p:sp>
      <p:cxnSp>
        <p:nvCxnSpPr>
          <p:cNvPr id="233745843" name="Connector 2081631927"/>
          <p:cNvCxnSpPr/>
          <p:nvPr/>
        </p:nvCxnSpPr>
        <p:spPr bwMode="auto">
          <a:xfrm flipH="1">
            <a:off x="8275320" y="5312664"/>
            <a:ext cx="2624328" cy="0"/>
          </a:xfrm>
          <a:prstGeom prst="line">
            <a:avLst/>
          </a:prstGeom>
          <a:ln w="25400">
            <a:solidFill>
              <a:srgbClr val="317AB5"/>
            </a:solidFill>
          </a:ln>
        </p:spPr>
        <p:style>
          <a:lnRef idx="2">
            <a:schemeClr val="accent1"/>
          </a:lnRef>
          <a:fillRef idx="0">
            <a:schemeClr val="accent1"/>
          </a:fillRef>
          <a:effectRef idx="1">
            <a:schemeClr val="accent1"/>
          </a:effectRef>
          <a:fontRef idx="minor">
            <a:schemeClr val="tx1"/>
          </a:fontRef>
        </p:style>
      </p:cxnSp>
      <p:cxnSp>
        <p:nvCxnSpPr>
          <p:cNvPr id="343899659" name="Connector 2081631928"/>
          <p:cNvCxnSpPr/>
          <p:nvPr/>
        </p:nvCxnSpPr>
        <p:spPr bwMode="auto">
          <a:xfrm flipH="1">
            <a:off x="1115568" y="5312664"/>
            <a:ext cx="2843784" cy="0"/>
          </a:xfrm>
          <a:prstGeom prst="line">
            <a:avLst/>
          </a:prstGeom>
          <a:ln w="25400">
            <a:solidFill>
              <a:srgbClr val="317AB5"/>
            </a:solidFill>
            <a:tailEnd type="triangle"/>
          </a:ln>
        </p:spPr>
        <p:style>
          <a:lnRef idx="2">
            <a:schemeClr val="accent1"/>
          </a:lnRef>
          <a:fillRef idx="0">
            <a:schemeClr val="accent1"/>
          </a:fillRef>
          <a:effectRef idx="1">
            <a:schemeClr val="accent1"/>
          </a:effectRef>
          <a:fontRef idx="minor">
            <a:schemeClr val="tx1"/>
          </a:fontRef>
        </p:style>
      </p:cxnSp>
      <p:sp>
        <p:nvSpPr>
          <p:cNvPr id="794943746" name="TextBox 2081631929"/>
          <p:cNvSpPr txBox="1"/>
          <p:nvPr/>
        </p:nvSpPr>
        <p:spPr bwMode="auto">
          <a:xfrm>
            <a:off x="4069080" y="5193792"/>
            <a:ext cx="4142232" cy="320040"/>
          </a:xfrm>
          <a:prstGeom prst="rect">
            <a:avLst/>
          </a:prstGeom>
          <a:noFill/>
        </p:spPr>
        <p:txBody>
          <a:bodyPr wrap="square" lIns="27432" tIns="9144" rIns="27432" bIns="9144">
            <a:spAutoFit/>
          </a:bodyPr>
          <a:lstStyle/>
          <a:p>
            <a:pPr algn="ctr">
              <a:spcBef>
                <a:spcPts val="0"/>
              </a:spcBef>
              <a:spcAft>
                <a:spcPts val="0"/>
              </a:spcAft>
              <a:defRPr/>
            </a:pPr>
            <a:r>
              <a:rPr sz="1150" b="1">
                <a:solidFill>
                  <a:srgbClr val="317AB5"/>
                </a:solidFill>
                <a:latin typeface="Aptos"/>
              </a:rPr>
              <a:t>OBSERVATION / RETOUR UI VIA LIVEDATA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710536470"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Une transaction rend l’opération atomique</a:t>
            </a:r>
            <a:endParaRPr/>
          </a:p>
        </p:txBody>
      </p:sp>
      <p:sp>
        <p:nvSpPr>
          <p:cNvPr id="533474828"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Compléter une tâche et écrire son historique</a:t>
            </a:r>
            <a:endParaRPr sz="1600"/>
          </a:p>
        </p:txBody>
      </p:sp>
      <p:cxnSp>
        <p:nvCxnSpPr>
          <p:cNvPr id="1725858969"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619813652"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720582723"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644127958"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13</a:t>
            </a:r>
            <a:endParaRPr/>
          </a:p>
        </p:txBody>
      </p:sp>
      <p:sp>
        <p:nvSpPr>
          <p:cNvPr id="577560214" name="Rounded Rectangle 7"/>
          <p:cNvSpPr/>
          <p:nvPr/>
        </p:nvSpPr>
        <p:spPr bwMode="auto">
          <a:xfrm>
            <a:off x="749808" y="1426464"/>
            <a:ext cx="5084064" cy="3264408"/>
          </a:xfrm>
          <a:prstGeom prst="roundRect">
            <a:avLst>
              <a:gd name="adj" fmla="val 7000"/>
            </a:avLst>
          </a:prstGeom>
          <a:solidFill>
            <a:srgbClr val="F8E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8414099" name="TextBox 8"/>
          <p:cNvSpPr txBox="1"/>
          <p:nvPr/>
        </p:nvSpPr>
        <p:spPr bwMode="auto">
          <a:xfrm>
            <a:off x="978407" y="1664208"/>
            <a:ext cx="4480560" cy="384048"/>
          </a:xfrm>
          <a:prstGeom prst="rect">
            <a:avLst/>
          </a:prstGeom>
          <a:noFill/>
        </p:spPr>
        <p:txBody>
          <a:bodyPr wrap="square" lIns="18288" tIns="18288" rIns="18288" bIns="18288">
            <a:spAutoFit/>
          </a:bodyPr>
          <a:lstStyle/>
          <a:p>
            <a:pPr>
              <a:spcBef>
                <a:spcPts val="0"/>
              </a:spcBef>
              <a:spcAft>
                <a:spcPts val="0"/>
              </a:spcAft>
              <a:defRPr sz="2300" b="1">
                <a:solidFill>
                  <a:srgbClr val="B94D4D"/>
                </a:solidFill>
                <a:latin typeface="Aptos"/>
              </a:defRPr>
            </a:pPr>
            <a:r>
              <a:rPr/>
              <a:t>Sans transaction</a:t>
            </a:r>
            <a:endParaRPr/>
          </a:p>
        </p:txBody>
      </p:sp>
      <p:sp>
        <p:nvSpPr>
          <p:cNvPr id="576793343" name="Rounded Rectangle 9"/>
          <p:cNvSpPr/>
          <p:nvPr/>
        </p:nvSpPr>
        <p:spPr bwMode="auto">
          <a:xfrm>
            <a:off x="6300216" y="1426464"/>
            <a:ext cx="5084064" cy="3264408"/>
          </a:xfrm>
          <a:prstGeom prst="roundRect">
            <a:avLst>
              <a:gd name="adj" fmla="val 7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5749522" name="TextBox 10"/>
          <p:cNvSpPr txBox="1"/>
          <p:nvPr/>
        </p:nvSpPr>
        <p:spPr bwMode="auto">
          <a:xfrm>
            <a:off x="6528816" y="1664208"/>
            <a:ext cx="4480560" cy="384048"/>
          </a:xfrm>
          <a:prstGeom prst="rect">
            <a:avLst/>
          </a:prstGeom>
          <a:noFill/>
        </p:spPr>
        <p:txBody>
          <a:bodyPr wrap="square" lIns="18288" tIns="18288" rIns="18288" bIns="18288">
            <a:spAutoFit/>
          </a:bodyPr>
          <a:lstStyle/>
          <a:p>
            <a:pPr>
              <a:spcBef>
                <a:spcPts val="0"/>
              </a:spcBef>
              <a:spcAft>
                <a:spcPts val="0"/>
              </a:spcAft>
              <a:defRPr sz="2300" b="1">
                <a:solidFill>
                  <a:srgbClr val="2C9B65"/>
                </a:solidFill>
                <a:latin typeface="Aptos"/>
              </a:defRPr>
            </a:pPr>
            <a:r>
              <a:rPr/>
              <a:t>Avec @Transaction</a:t>
            </a:r>
            <a:endParaRPr/>
          </a:p>
        </p:txBody>
      </p:sp>
      <p:sp>
        <p:nvSpPr>
          <p:cNvPr id="682732355" name="Rounded Rectangle 11"/>
          <p:cNvSpPr/>
          <p:nvPr/>
        </p:nvSpPr>
        <p:spPr bwMode="auto">
          <a:xfrm>
            <a:off x="1078992" y="2313432"/>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5212975" name="TextBox 12"/>
          <p:cNvSpPr txBox="1"/>
          <p:nvPr/>
        </p:nvSpPr>
        <p:spPr bwMode="auto">
          <a:xfrm>
            <a:off x="1188719" y="2423160"/>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B94D4D"/>
                </a:solidFill>
                <a:latin typeface="Aptos"/>
              </a:defRPr>
            </a:pPr>
            <a:r>
              <a:rPr/>
              <a:t>UPDATE task  ✓</a:t>
            </a:r>
            <a:endParaRPr/>
          </a:p>
        </p:txBody>
      </p:sp>
      <p:sp>
        <p:nvSpPr>
          <p:cNvPr id="1261888333" name="Rounded Rectangle 13"/>
          <p:cNvSpPr/>
          <p:nvPr/>
        </p:nvSpPr>
        <p:spPr bwMode="auto">
          <a:xfrm>
            <a:off x="6629400" y="2313432"/>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9199517" name="TextBox 14"/>
          <p:cNvSpPr txBox="1"/>
          <p:nvPr/>
        </p:nvSpPr>
        <p:spPr bwMode="auto">
          <a:xfrm>
            <a:off x="6739128" y="2423160"/>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BEGIN</a:t>
            </a:r>
            <a:endParaRPr/>
          </a:p>
        </p:txBody>
      </p:sp>
      <p:sp>
        <p:nvSpPr>
          <p:cNvPr id="292411841" name="Rounded Rectangle 15"/>
          <p:cNvSpPr/>
          <p:nvPr/>
        </p:nvSpPr>
        <p:spPr bwMode="auto">
          <a:xfrm>
            <a:off x="1078992" y="2953511"/>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3917550" name="TextBox 16"/>
          <p:cNvSpPr txBox="1"/>
          <p:nvPr/>
        </p:nvSpPr>
        <p:spPr bwMode="auto">
          <a:xfrm>
            <a:off x="1188719" y="3063238"/>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B94D4D"/>
                </a:solidFill>
                <a:latin typeface="Aptos"/>
              </a:defRPr>
            </a:pPr>
            <a:r>
              <a:rPr/>
              <a:t>INSERT journal  ✕</a:t>
            </a:r>
            <a:endParaRPr/>
          </a:p>
        </p:txBody>
      </p:sp>
      <p:sp>
        <p:nvSpPr>
          <p:cNvPr id="1051469662" name="Rounded Rectangle 17"/>
          <p:cNvSpPr/>
          <p:nvPr/>
        </p:nvSpPr>
        <p:spPr bwMode="auto">
          <a:xfrm>
            <a:off x="6629400" y="2953511"/>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9618315" name="TextBox 18"/>
          <p:cNvSpPr txBox="1"/>
          <p:nvPr/>
        </p:nvSpPr>
        <p:spPr bwMode="auto">
          <a:xfrm>
            <a:off x="6739128" y="3063238"/>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UPDATE + INSERT</a:t>
            </a:r>
            <a:endParaRPr/>
          </a:p>
        </p:txBody>
      </p:sp>
      <p:sp>
        <p:nvSpPr>
          <p:cNvPr id="397702325" name="Rounded Rectangle 19"/>
          <p:cNvSpPr/>
          <p:nvPr/>
        </p:nvSpPr>
        <p:spPr bwMode="auto">
          <a:xfrm>
            <a:off x="1078992" y="3593591"/>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6855460" name="TextBox 20"/>
          <p:cNvSpPr txBox="1"/>
          <p:nvPr/>
        </p:nvSpPr>
        <p:spPr bwMode="auto">
          <a:xfrm>
            <a:off x="1188719" y="3703320"/>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B94D4D"/>
                </a:solidFill>
                <a:latin typeface="Aptos"/>
              </a:defRPr>
            </a:pPr>
            <a:r>
              <a:rPr/>
              <a:t>état incohérent</a:t>
            </a:r>
            <a:endParaRPr/>
          </a:p>
        </p:txBody>
      </p:sp>
      <p:sp>
        <p:nvSpPr>
          <p:cNvPr id="406772409" name="Rounded Rectangle 21"/>
          <p:cNvSpPr/>
          <p:nvPr/>
        </p:nvSpPr>
        <p:spPr bwMode="auto">
          <a:xfrm>
            <a:off x="6629400" y="3593591"/>
            <a:ext cx="4370832" cy="4846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4301347" name="TextBox 22"/>
          <p:cNvSpPr txBox="1"/>
          <p:nvPr/>
        </p:nvSpPr>
        <p:spPr bwMode="auto">
          <a:xfrm>
            <a:off x="6739128" y="3703320"/>
            <a:ext cx="4151376" cy="338328"/>
          </a:xfrm>
          <a:prstGeom prst="rect">
            <a:avLst/>
          </a:prstGeom>
          <a:noFill/>
        </p:spPr>
        <p:txBody>
          <a:bodyPr wrap="square" lIns="18288" tIns="18288" rIns="18288" bIns="18288">
            <a:spAutoFit/>
          </a:bodyPr>
          <a:lstStyle/>
          <a:p>
            <a:pPr>
              <a:spcBef>
                <a:spcPts val="0"/>
              </a:spcBef>
              <a:spcAft>
                <a:spcPts val="0"/>
              </a:spcAft>
              <a:defRPr sz="1600" b="1">
                <a:solidFill>
                  <a:srgbClr val="2C9B65"/>
                </a:solidFill>
                <a:latin typeface="Aptos"/>
              </a:defRPr>
            </a:pPr>
            <a:r>
              <a:rPr/>
              <a:t>COMMIT ou ROLLBACK</a:t>
            </a:r>
            <a:endParaRPr/>
          </a:p>
        </p:txBody>
      </p:sp>
      <p:sp>
        <p:nvSpPr>
          <p:cNvPr id="92466113" name="Rounded Rectangle 23"/>
          <p:cNvSpPr/>
          <p:nvPr/>
        </p:nvSpPr>
        <p:spPr bwMode="auto">
          <a:xfrm>
            <a:off x="2423160" y="4910328"/>
            <a:ext cx="7342631" cy="1325880"/>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2140955" name="TextBox 24"/>
          <p:cNvSpPr txBox="1"/>
          <p:nvPr/>
        </p:nvSpPr>
        <p:spPr bwMode="auto">
          <a:xfrm>
            <a:off x="2606040" y="5029200"/>
            <a:ext cx="6995159" cy="1124712"/>
          </a:xfrm>
          <a:prstGeom prst="rect">
            <a:avLst/>
          </a:prstGeom>
          <a:noFill/>
        </p:spPr>
        <p:txBody>
          <a:bodyPr wrap="none" lIns="0" tIns="0" rIns="0" bIns="0">
            <a:spAutoFit/>
          </a:bodyPr>
          <a:lstStyle/>
          <a:p>
            <a:pPr>
              <a:spcBef>
                <a:spcPts val="0"/>
              </a:spcBef>
              <a:spcAft>
                <a:spcPts val="200"/>
              </a:spcAft>
              <a:defRPr/>
            </a:pPr>
            <a:r>
              <a:rPr sz="1200">
                <a:solidFill>
                  <a:srgbClr val="2C9B65"/>
                </a:solidFill>
                <a:latin typeface="DejaVu Sans Mono"/>
              </a:rPr>
              <a:t>@Transaction</a:t>
            </a:r>
            <a:r>
              <a:rPr sz="1200">
                <a:solidFill>
                  <a:srgbClr val="FFFFFF"/>
                </a:solidFill>
                <a:latin typeface="DejaVu Sans Mono"/>
              </a:rPr>
              <a:t> </a:t>
            </a:r>
            <a:r>
              <a:rPr sz="1200">
                <a:solidFill>
                  <a:srgbClr val="DFEDF8"/>
                </a:solidFill>
                <a:latin typeface="DejaVu Sans Mono"/>
              </a:rPr>
              <a:t>public</a:t>
            </a:r>
            <a:r>
              <a:rPr sz="1200">
                <a:solidFill>
                  <a:srgbClr val="FFFFFF"/>
                </a:solidFill>
                <a:latin typeface="DejaVu Sans Mono"/>
              </a:rPr>
              <a:t> </a:t>
            </a:r>
            <a:r>
              <a:rPr sz="1200">
                <a:solidFill>
                  <a:srgbClr val="DFEDF8"/>
                </a:solidFill>
                <a:latin typeface="DejaVu Sans Mono"/>
              </a:rPr>
              <a:t>void</a:t>
            </a:r>
            <a:r>
              <a:rPr sz="1200">
                <a:solidFill>
                  <a:srgbClr val="FFFFFF"/>
                </a:solidFill>
                <a:latin typeface="DejaVu Sans Mono"/>
              </a:rPr>
              <a:t> completeAndLog(Task task) {</a:t>
            </a:r>
            <a:endParaRPr/>
          </a:p>
          <a:p>
            <a:pPr>
              <a:spcBef>
                <a:spcPts val="0"/>
              </a:spcBef>
              <a:spcAft>
                <a:spcPts val="200"/>
              </a:spcAft>
              <a:defRPr/>
            </a:pPr>
            <a:r>
              <a:rPr sz="1200">
                <a:solidFill>
                  <a:srgbClr val="FFFFFF"/>
                </a:solidFill>
                <a:latin typeface="DejaVu Sans Mono"/>
              </a:rPr>
              <a:t>  update(task);</a:t>
            </a:r>
            <a:endParaRPr/>
          </a:p>
          <a:p>
            <a:pPr>
              <a:spcBef>
                <a:spcPts val="0"/>
              </a:spcBef>
              <a:spcAft>
                <a:spcPts val="200"/>
              </a:spcAft>
              <a:defRPr/>
            </a:pPr>
            <a:r>
              <a:rPr sz="1200">
                <a:solidFill>
                  <a:srgbClr val="FFFFFF"/>
                </a:solidFill>
                <a:latin typeface="DejaVu Sans Mono"/>
              </a:rPr>
              <a:t>  insertLog(</a:t>
            </a:r>
            <a:r>
              <a:rPr sz="1200">
                <a:solidFill>
                  <a:srgbClr val="DFEDF8"/>
                </a:solidFill>
                <a:latin typeface="DejaVu Sans Mono"/>
              </a:rPr>
              <a:t>new</a:t>
            </a:r>
            <a:r>
              <a:rPr sz="1200">
                <a:solidFill>
                  <a:srgbClr val="FFFFFF"/>
                </a:solidFill>
                <a:latin typeface="DejaVu Sans Mono"/>
              </a:rPr>
              <a:t> AuditEntry(task.id, </a:t>
            </a:r>
            <a:r>
              <a:rPr sz="1200">
                <a:solidFill>
                  <a:srgbClr val="C68532"/>
                </a:solidFill>
                <a:latin typeface="DejaVu Sans Mono"/>
              </a:rPr>
              <a:t>"completed"</a:t>
            </a:r>
            <a:r>
              <a:rPr sz="1200">
                <a:solidFill>
                  <a:srgbClr val="FFFFFF"/>
                </a:solidFill>
                <a:latin typeface="DejaVu Sans Mono"/>
              </a:rPr>
              <a:t>));</a:t>
            </a:r>
            <a:endParaRPr/>
          </a:p>
          <a:p>
            <a:pPr>
              <a:spcBef>
                <a:spcPts val="0"/>
              </a:spcBef>
              <a:spcAft>
                <a:spcPts val="200"/>
              </a:spcAft>
              <a:defRPr/>
            </a:pPr>
            <a:r>
              <a:rPr sz="1200">
                <a:solidFill>
                  <a:srgbClr val="FFFFFF"/>
                </a:solidFill>
                <a:latin typeface="DejaVu Sans Mono"/>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173280857"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Une migration conserve les tâches existantes</a:t>
            </a:r>
            <a:endParaRPr/>
          </a:p>
        </p:txBody>
      </p:sp>
      <p:sp>
        <p:nvSpPr>
          <p:cNvPr id="407198109"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Version 1 → 2 : nouvelle colonne completed</a:t>
            </a:r>
            <a:endParaRPr sz="1600"/>
          </a:p>
        </p:txBody>
      </p:sp>
      <p:cxnSp>
        <p:nvCxnSpPr>
          <p:cNvPr id="353779239"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215357882"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926029659"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813239795"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14</a:t>
            </a:r>
            <a:endParaRPr/>
          </a:p>
        </p:txBody>
      </p:sp>
      <p:sp>
        <p:nvSpPr>
          <p:cNvPr id="510164241" name="Rounded Rectangle 7"/>
          <p:cNvSpPr/>
          <p:nvPr/>
        </p:nvSpPr>
        <p:spPr bwMode="auto">
          <a:xfrm>
            <a:off x="731520" y="1435608"/>
            <a:ext cx="2971800" cy="1810512"/>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7653807" name="Rectangle 8"/>
          <p:cNvSpPr/>
          <p:nvPr/>
        </p:nvSpPr>
        <p:spPr bwMode="auto">
          <a:xfrm>
            <a:off x="731520" y="1435608"/>
            <a:ext cx="2971800" cy="429768"/>
          </a:xfrm>
          <a:prstGeom prst="rect">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7379371" name="TextBox 9"/>
          <p:cNvSpPr txBox="1"/>
          <p:nvPr/>
        </p:nvSpPr>
        <p:spPr bwMode="auto">
          <a:xfrm>
            <a:off x="877824" y="1527048"/>
            <a:ext cx="2651760" cy="246888"/>
          </a:xfrm>
          <a:prstGeom prst="rect">
            <a:avLst/>
          </a:prstGeom>
          <a:noFill/>
        </p:spPr>
        <p:txBody>
          <a:bodyPr wrap="square" lIns="18288" tIns="18288" rIns="18288" bIns="18288">
            <a:spAutoFit/>
          </a:bodyPr>
          <a:lstStyle/>
          <a:p>
            <a:pPr>
              <a:spcBef>
                <a:spcPts val="0"/>
              </a:spcBef>
              <a:spcAft>
                <a:spcPts val="0"/>
              </a:spcAft>
              <a:defRPr sz="1500" b="1">
                <a:solidFill>
                  <a:srgbClr val="FFFFFF"/>
                </a:solidFill>
                <a:latin typeface="Aptos"/>
              </a:defRPr>
            </a:pPr>
            <a:r>
              <a:rPr/>
              <a:t>tasks · v1</a:t>
            </a:r>
            <a:endParaRPr/>
          </a:p>
        </p:txBody>
      </p:sp>
      <p:sp>
        <p:nvSpPr>
          <p:cNvPr id="1187931333" name="TextBox 10"/>
          <p:cNvSpPr txBox="1"/>
          <p:nvPr/>
        </p:nvSpPr>
        <p:spPr bwMode="auto">
          <a:xfrm>
            <a:off x="896112" y="2011680"/>
            <a:ext cx="2615184" cy="365760"/>
          </a:xfrm>
          <a:prstGeom prst="rect">
            <a:avLst/>
          </a:prstGeom>
          <a:noFill/>
        </p:spPr>
        <p:txBody>
          <a:bodyPr wrap="square" lIns="18288" tIns="18288" rIns="18288" bIns="18288">
            <a:spAutoFit/>
          </a:bodyPr>
          <a:lstStyle/>
          <a:p>
            <a:pPr>
              <a:spcBef>
                <a:spcPts val="0"/>
              </a:spcBef>
              <a:spcAft>
                <a:spcPts val="0"/>
              </a:spcAft>
              <a:defRPr sz="1300" b="1">
                <a:solidFill>
                  <a:srgbClr val="172A31"/>
                </a:solidFill>
                <a:latin typeface="DejaVu Sans Mono"/>
              </a:defRPr>
            </a:pPr>
            <a:r>
              <a:rPr/>
              <a:t>id  |  title</a:t>
            </a:r>
            <a:endParaRPr/>
          </a:p>
        </p:txBody>
      </p:sp>
      <p:sp>
        <p:nvSpPr>
          <p:cNvPr id="941149903" name="TextBox 11"/>
          <p:cNvSpPr txBox="1"/>
          <p:nvPr/>
        </p:nvSpPr>
        <p:spPr bwMode="auto">
          <a:xfrm>
            <a:off x="896112" y="2514600"/>
            <a:ext cx="2615184" cy="365760"/>
          </a:xfrm>
          <a:prstGeom prst="rect">
            <a:avLst/>
          </a:prstGeom>
          <a:noFill/>
        </p:spPr>
        <p:txBody>
          <a:bodyPr wrap="square" lIns="18288" tIns="18288" rIns="18288" bIns="18288">
            <a:spAutoFit/>
          </a:bodyPr>
          <a:lstStyle/>
          <a:p>
            <a:pPr>
              <a:spcBef>
                <a:spcPts val="0"/>
              </a:spcBef>
              <a:spcAft>
                <a:spcPts val="0"/>
              </a:spcAft>
              <a:defRPr sz="1300" b="0">
                <a:solidFill>
                  <a:srgbClr val="172A31"/>
                </a:solidFill>
                <a:latin typeface="DejaVu Sans Mono"/>
              </a:defRPr>
            </a:pPr>
            <a:r>
              <a:rPr/>
              <a:t>1   |  Préparer le TP</a:t>
            </a:r>
            <a:endParaRPr/>
          </a:p>
        </p:txBody>
      </p:sp>
      <p:sp>
        <p:nvSpPr>
          <p:cNvPr id="557903955" name="Rounded Rectangle 12"/>
          <p:cNvSpPr/>
          <p:nvPr/>
        </p:nvSpPr>
        <p:spPr bwMode="auto">
          <a:xfrm>
            <a:off x="7900416" y="1435608"/>
            <a:ext cx="3547872" cy="1810512"/>
          </a:xfrm>
          <a:prstGeom prst="roundRect">
            <a:avLst>
              <a:gd name="adj" fmla="val 5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5422959" name="Rectangle 13"/>
          <p:cNvSpPr/>
          <p:nvPr/>
        </p:nvSpPr>
        <p:spPr bwMode="auto">
          <a:xfrm>
            <a:off x="7900416" y="1435608"/>
            <a:ext cx="3547872" cy="429768"/>
          </a:xfrm>
          <a:prstGeom prst="rect">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5255309" name="TextBox 14"/>
          <p:cNvSpPr txBox="1"/>
          <p:nvPr/>
        </p:nvSpPr>
        <p:spPr bwMode="auto">
          <a:xfrm>
            <a:off x="8046720" y="1527048"/>
            <a:ext cx="3227832" cy="246888"/>
          </a:xfrm>
          <a:prstGeom prst="rect">
            <a:avLst/>
          </a:prstGeom>
          <a:noFill/>
        </p:spPr>
        <p:txBody>
          <a:bodyPr wrap="square" lIns="18288" tIns="18288" rIns="18288" bIns="18288">
            <a:spAutoFit/>
          </a:bodyPr>
          <a:lstStyle/>
          <a:p>
            <a:pPr>
              <a:spcBef>
                <a:spcPts val="0"/>
              </a:spcBef>
              <a:spcAft>
                <a:spcPts val="0"/>
              </a:spcAft>
              <a:defRPr sz="1500" b="1">
                <a:solidFill>
                  <a:srgbClr val="FFFFFF"/>
                </a:solidFill>
                <a:latin typeface="Aptos"/>
              </a:defRPr>
            </a:pPr>
            <a:r>
              <a:rPr/>
              <a:t>tasks · v2</a:t>
            </a:r>
            <a:endParaRPr/>
          </a:p>
        </p:txBody>
      </p:sp>
      <p:sp>
        <p:nvSpPr>
          <p:cNvPr id="1031794882" name="TextBox 15"/>
          <p:cNvSpPr txBox="1"/>
          <p:nvPr/>
        </p:nvSpPr>
        <p:spPr bwMode="auto">
          <a:xfrm>
            <a:off x="8065008" y="2011680"/>
            <a:ext cx="3191256" cy="365760"/>
          </a:xfrm>
          <a:prstGeom prst="rect">
            <a:avLst/>
          </a:prstGeom>
          <a:noFill/>
        </p:spPr>
        <p:txBody>
          <a:bodyPr wrap="square" lIns="18288" tIns="18288" rIns="18288" bIns="18288">
            <a:spAutoFit/>
          </a:bodyPr>
          <a:lstStyle/>
          <a:p>
            <a:pPr>
              <a:spcBef>
                <a:spcPts val="0"/>
              </a:spcBef>
              <a:spcAft>
                <a:spcPts val="0"/>
              </a:spcAft>
              <a:defRPr sz="1200" b="1">
                <a:solidFill>
                  <a:srgbClr val="172A31"/>
                </a:solidFill>
                <a:latin typeface="DejaVu Sans Mono"/>
              </a:defRPr>
            </a:pPr>
            <a:r>
              <a:rPr/>
              <a:t>id  |  title  |  completed</a:t>
            </a:r>
            <a:endParaRPr/>
          </a:p>
        </p:txBody>
      </p:sp>
      <p:sp>
        <p:nvSpPr>
          <p:cNvPr id="2001007955" name="TextBox 16"/>
          <p:cNvSpPr txBox="1"/>
          <p:nvPr/>
        </p:nvSpPr>
        <p:spPr bwMode="auto">
          <a:xfrm>
            <a:off x="8065008" y="2514600"/>
            <a:ext cx="3191256" cy="365760"/>
          </a:xfrm>
          <a:prstGeom prst="rect">
            <a:avLst/>
          </a:prstGeom>
          <a:noFill/>
        </p:spPr>
        <p:txBody>
          <a:bodyPr wrap="square" lIns="18288" tIns="18288" rIns="18288" bIns="18288">
            <a:spAutoFit/>
          </a:bodyPr>
          <a:lstStyle/>
          <a:p>
            <a:pPr>
              <a:spcBef>
                <a:spcPts val="0"/>
              </a:spcBef>
              <a:spcAft>
                <a:spcPts val="0"/>
              </a:spcAft>
              <a:defRPr sz="1200" b="0">
                <a:solidFill>
                  <a:srgbClr val="172A31"/>
                </a:solidFill>
                <a:latin typeface="DejaVu Sans Mono"/>
              </a:defRPr>
            </a:pPr>
            <a:r>
              <a:rPr/>
              <a:t>1  |  Préparer le TP  |  0</a:t>
            </a:r>
            <a:endParaRPr/>
          </a:p>
        </p:txBody>
      </p:sp>
      <p:sp>
        <p:nvSpPr>
          <p:cNvPr id="1611246150" name="Rounded Rectangle 17"/>
          <p:cNvSpPr/>
          <p:nvPr/>
        </p:nvSpPr>
        <p:spPr bwMode="auto">
          <a:xfrm flipH="0" flipV="0">
            <a:off x="4178808" y="2039112"/>
            <a:ext cx="3383280" cy="475487"/>
          </a:xfrm>
          <a:prstGeom prst="roundRect">
            <a:avLst>
              <a:gd name="adj" fmla="val 18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0152410" name="TextBox 18"/>
          <p:cNvSpPr txBox="1"/>
          <p:nvPr/>
        </p:nvSpPr>
        <p:spPr bwMode="auto">
          <a:xfrm>
            <a:off x="4270248" y="2089404"/>
            <a:ext cx="3200760" cy="296015"/>
          </a:xfrm>
          <a:prstGeom prst="rect">
            <a:avLst/>
          </a:prstGeom>
          <a:noFill/>
        </p:spPr>
        <p:txBody>
          <a:bodyPr wrap="square" lIns="18288" tIns="18288" rIns="18288" bIns="18288">
            <a:spAutoFit/>
          </a:bodyPr>
          <a:lstStyle/>
          <a:p>
            <a:pPr algn="ctr">
              <a:spcBef>
                <a:spcPts val="0"/>
              </a:spcBef>
              <a:spcAft>
                <a:spcPts val="0"/>
              </a:spcAft>
              <a:defRPr sz="1700" b="1">
                <a:solidFill>
                  <a:srgbClr val="176D70"/>
                </a:solidFill>
                <a:latin typeface="Aptos"/>
              </a:defRPr>
            </a:pPr>
            <a:r>
              <a:rPr/>
              <a:t>MIGRATION 1 → 2</a:t>
            </a:r>
            <a:endParaRPr/>
          </a:p>
        </p:txBody>
      </p:sp>
      <p:sp>
        <p:nvSpPr>
          <p:cNvPr id="1900597808" name="Rounded Rectangle 19"/>
          <p:cNvSpPr/>
          <p:nvPr/>
        </p:nvSpPr>
        <p:spPr bwMode="auto">
          <a:xfrm>
            <a:off x="914400" y="3675887"/>
            <a:ext cx="10469880" cy="2029968"/>
          </a:xfrm>
          <a:prstGeom prst="roundRect">
            <a:avLst>
              <a:gd name="adj" fmla="val 8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9631425" name="TextBox 20"/>
          <p:cNvSpPr txBox="1"/>
          <p:nvPr/>
        </p:nvSpPr>
        <p:spPr bwMode="auto">
          <a:xfrm>
            <a:off x="1097280" y="3794759"/>
            <a:ext cx="10122406" cy="1828800"/>
          </a:xfrm>
          <a:prstGeom prst="rect">
            <a:avLst/>
          </a:prstGeom>
          <a:noFill/>
        </p:spPr>
        <p:txBody>
          <a:bodyPr wrap="none" lIns="0" tIns="0" rIns="0" bIns="0">
            <a:spAutoFit/>
          </a:bodyPr>
          <a:lstStyle/>
          <a:p>
            <a:pPr>
              <a:spcBef>
                <a:spcPts val="0"/>
              </a:spcBef>
              <a:spcAft>
                <a:spcPts val="200"/>
              </a:spcAft>
              <a:defRPr/>
            </a:pPr>
            <a:r>
              <a:rPr sz="1400">
                <a:solidFill>
                  <a:srgbClr val="FFFFFF"/>
                </a:solidFill>
                <a:latin typeface="DejaVu Sans Mono"/>
              </a:rPr>
              <a:t>Migration MIGRATION_1_2 = </a:t>
            </a:r>
            <a:r>
              <a:rPr sz="1400">
                <a:solidFill>
                  <a:srgbClr val="DFEDF8"/>
                </a:solidFill>
                <a:latin typeface="DejaVu Sans Mono"/>
              </a:rPr>
              <a:t>new</a:t>
            </a:r>
            <a:r>
              <a:rPr sz="1400">
                <a:solidFill>
                  <a:srgbClr val="FFFFFF"/>
                </a:solidFill>
                <a:latin typeface="DejaVu Sans Mono"/>
              </a:rPr>
              <a:t> Migration(1, 2) {</a:t>
            </a:r>
            <a:endParaRPr/>
          </a:p>
          <a:p>
            <a:pPr>
              <a:spcBef>
                <a:spcPts val="0"/>
              </a:spcBef>
              <a:spcAft>
                <a:spcPts val="200"/>
              </a:spcAft>
              <a:defRPr/>
            </a:pPr>
            <a:r>
              <a:rPr sz="1400">
                <a:solidFill>
                  <a:srgbClr val="FFFFFF"/>
                </a:solidFill>
                <a:latin typeface="DejaVu Sans Mono"/>
              </a:rPr>
              <a:t>  </a:t>
            </a:r>
            <a:r>
              <a:rPr sz="1400">
                <a:solidFill>
                  <a:srgbClr val="2C9B65"/>
                </a:solidFill>
                <a:latin typeface="DejaVu Sans Mono"/>
              </a:rPr>
              <a:t>@Override</a:t>
            </a:r>
            <a:r>
              <a:rPr sz="1400">
                <a:solidFill>
                  <a:srgbClr val="FFFFFF"/>
                </a:solidFill>
                <a:latin typeface="DejaVu Sans Mono"/>
              </a:rPr>
              <a:t> </a:t>
            </a:r>
            <a:r>
              <a:rPr sz="1400">
                <a:solidFill>
                  <a:srgbClr val="DFEDF8"/>
                </a:solidFill>
                <a:latin typeface="DejaVu Sans Mono"/>
              </a:rPr>
              <a:t>public</a:t>
            </a:r>
            <a:r>
              <a:rPr sz="1400">
                <a:solidFill>
                  <a:srgbClr val="FFFFFF"/>
                </a:solidFill>
                <a:latin typeface="DejaVu Sans Mono"/>
              </a:rPr>
              <a:t> </a:t>
            </a:r>
            <a:r>
              <a:rPr sz="1400">
                <a:solidFill>
                  <a:srgbClr val="DFEDF8"/>
                </a:solidFill>
                <a:latin typeface="DejaVu Sans Mono"/>
              </a:rPr>
              <a:t>void</a:t>
            </a:r>
            <a:r>
              <a:rPr sz="1400">
                <a:solidFill>
                  <a:srgbClr val="FFFFFF"/>
                </a:solidFill>
                <a:latin typeface="DejaVu Sans Mono"/>
              </a:rPr>
              <a:t> migrate(</a:t>
            </a:r>
            <a:endParaRPr/>
          </a:p>
          <a:p>
            <a:pPr>
              <a:spcBef>
                <a:spcPts val="0"/>
              </a:spcBef>
              <a:spcAft>
                <a:spcPts val="200"/>
              </a:spcAft>
              <a:defRPr/>
            </a:pPr>
            <a:r>
              <a:rPr sz="1400">
                <a:solidFill>
                  <a:srgbClr val="FFFFFF"/>
                </a:solidFill>
                <a:latin typeface="DejaVu Sans Mono"/>
              </a:rPr>
              <a:t>      </a:t>
            </a:r>
            <a:r>
              <a:rPr sz="1400">
                <a:solidFill>
                  <a:srgbClr val="2C9B65"/>
                </a:solidFill>
                <a:latin typeface="DejaVu Sans Mono"/>
              </a:rPr>
              <a:t>@NonNull</a:t>
            </a:r>
            <a:r>
              <a:rPr sz="1400">
                <a:solidFill>
                  <a:srgbClr val="FFFFFF"/>
                </a:solidFill>
                <a:latin typeface="DejaVu Sans Mono"/>
              </a:rPr>
              <a:t> SupportSQLiteDatabase db) {</a:t>
            </a:r>
            <a:endParaRPr/>
          </a:p>
          <a:p>
            <a:pPr>
              <a:spcBef>
                <a:spcPts val="0"/>
              </a:spcBef>
              <a:spcAft>
                <a:spcPts val="200"/>
              </a:spcAft>
              <a:defRPr/>
            </a:pPr>
            <a:r>
              <a:rPr sz="1400">
                <a:solidFill>
                  <a:srgbClr val="FFFFFF"/>
                </a:solidFill>
                <a:latin typeface="DejaVu Sans Mono"/>
              </a:rPr>
              <a:t>    db.execSQL(</a:t>
            </a:r>
            <a:r>
              <a:rPr sz="1400">
                <a:solidFill>
                  <a:srgbClr val="C68532"/>
                </a:solidFill>
                <a:latin typeface="DejaVu Sans Mono"/>
              </a:rPr>
              <a:t>"ALTER TABLE tasks ADD COLUMN "</a:t>
            </a:r>
            <a:r>
              <a:rPr sz="1400">
                <a:solidFill>
                  <a:srgbClr val="FFFFFF"/>
                </a:solidFill>
                <a:latin typeface="DejaVu Sans Mono"/>
              </a:rPr>
              <a:t> +</a:t>
            </a:r>
            <a:endParaRPr/>
          </a:p>
          <a:p>
            <a:pPr>
              <a:spcBef>
                <a:spcPts val="0"/>
              </a:spcBef>
              <a:spcAft>
                <a:spcPts val="200"/>
              </a:spcAft>
              <a:defRPr/>
            </a:pPr>
            <a:r>
              <a:rPr sz="1400">
                <a:solidFill>
                  <a:srgbClr val="FFFFFF"/>
                </a:solidFill>
                <a:latin typeface="DejaVu Sans Mono"/>
              </a:rPr>
              <a:t>      </a:t>
            </a:r>
            <a:r>
              <a:rPr sz="1400">
                <a:solidFill>
                  <a:srgbClr val="C68532"/>
                </a:solidFill>
                <a:latin typeface="DejaVu Sans Mono"/>
              </a:rPr>
              <a:t>"completed INTEGER NOT NULL DEFAULT 0"</a:t>
            </a:r>
            <a:r>
              <a:rPr sz="1400">
                <a:solidFill>
                  <a:srgbClr val="FFFFFF"/>
                </a:solidFill>
                <a:latin typeface="DejaVu Sans Mono"/>
              </a:rPr>
              <a:t>);</a:t>
            </a:r>
            <a:endParaRPr/>
          </a:p>
          <a:p>
            <a:pPr>
              <a:spcBef>
                <a:spcPts val="0"/>
              </a:spcBef>
              <a:spcAft>
                <a:spcPts val="200"/>
              </a:spcAft>
              <a:defRPr/>
            </a:pPr>
            <a:r>
              <a:rPr sz="1400">
                <a:solidFill>
                  <a:srgbClr val="FFFFFF"/>
                </a:solidFill>
                <a:latin typeface="DejaVu Sans Mono"/>
              </a:rPr>
              <a:t>  }</a:t>
            </a:r>
            <a:endParaRPr/>
          </a:p>
          <a:p>
            <a:pPr>
              <a:spcBef>
                <a:spcPts val="0"/>
              </a:spcBef>
              <a:spcAft>
                <a:spcPts val="200"/>
              </a:spcAft>
              <a:defRPr/>
            </a:pPr>
            <a:r>
              <a:rPr sz="1400">
                <a:solidFill>
                  <a:srgbClr val="FFFFFF"/>
                </a:solidFill>
                <a:latin typeface="DejaVu Sans Mono"/>
              </a:rPr>
              <a:t>};</a:t>
            </a:r>
            <a:endParaRPr/>
          </a:p>
        </p:txBody>
      </p:sp>
      <p:sp>
        <p:nvSpPr>
          <p:cNvPr id="1547937826" name="TextBox 21"/>
          <p:cNvSpPr txBox="1"/>
          <p:nvPr/>
        </p:nvSpPr>
        <p:spPr bwMode="auto">
          <a:xfrm>
            <a:off x="987552" y="5971032"/>
            <a:ext cx="10287000" cy="310896"/>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a:t>NOT NULL exige une valeur pour chaque ancienne ligne : DEFAULT 0 la fournit.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1318963093"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Démonstration : la ligne survit au redémarrage</a:t>
            </a:r>
            <a:endParaRPr/>
          </a:p>
        </p:txBody>
      </p:sp>
      <p:sp>
        <p:nvSpPr>
          <p:cNvPr id="1765351888"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Android Studio  ·  environ 4 minutes</a:t>
            </a:r>
            <a:endParaRPr sz="1600"/>
          </a:p>
        </p:txBody>
      </p:sp>
      <p:cxnSp>
        <p:nvCxnSpPr>
          <p:cNvPr id="874260727"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549327735"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821924606"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87785057"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15</a:t>
            </a:r>
            <a:endParaRPr/>
          </a:p>
        </p:txBody>
      </p:sp>
      <p:sp>
        <p:nvSpPr>
          <p:cNvPr id="1378029793" name="Rounded Rectangle 7"/>
          <p:cNvSpPr/>
          <p:nvPr/>
        </p:nvSpPr>
        <p:spPr bwMode="auto">
          <a:xfrm>
            <a:off x="731520" y="1691640"/>
            <a:ext cx="2679192" cy="1901952"/>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1177966" name="Rectangle 8"/>
          <p:cNvSpPr/>
          <p:nvPr/>
        </p:nvSpPr>
        <p:spPr bwMode="auto">
          <a:xfrm>
            <a:off x="731520" y="1691640"/>
            <a:ext cx="2679192" cy="164592"/>
          </a:xfrm>
          <a:prstGeom prst="rect">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3700702" name="Rounded Rectangle 9"/>
          <p:cNvSpPr/>
          <p:nvPr/>
        </p:nvSpPr>
        <p:spPr bwMode="auto">
          <a:xfrm>
            <a:off x="905256" y="1947671"/>
            <a:ext cx="502920" cy="320040"/>
          </a:xfrm>
          <a:prstGeom prst="roundRect">
            <a:avLst>
              <a:gd name="adj" fmla="val 18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213872" name="TextBox 10"/>
          <p:cNvSpPr txBox="1"/>
          <p:nvPr/>
        </p:nvSpPr>
        <p:spPr bwMode="auto">
          <a:xfrm>
            <a:off x="996696" y="1997964"/>
            <a:ext cx="320040" cy="228600"/>
          </a:xfrm>
          <a:prstGeom prst="rect">
            <a:avLst/>
          </a:prstGeom>
          <a:noFill/>
        </p:spPr>
        <p:txBody>
          <a:bodyPr wrap="square" lIns="18288" tIns="18288" rIns="18288" bIns="18288">
            <a:spAutoFit/>
          </a:bodyPr>
          <a:lstStyle/>
          <a:p>
            <a:pPr>
              <a:spcBef>
                <a:spcPts val="0"/>
              </a:spcBef>
              <a:spcAft>
                <a:spcPts val="0"/>
              </a:spcAft>
              <a:defRPr sz="1400" b="1">
                <a:solidFill>
                  <a:srgbClr val="317AB5"/>
                </a:solidFill>
                <a:latin typeface="Aptos"/>
              </a:defRPr>
            </a:pPr>
            <a:r>
              <a:rPr/>
              <a:t>1</a:t>
            </a:r>
            <a:endParaRPr/>
          </a:p>
        </p:txBody>
      </p:sp>
      <p:sp>
        <p:nvSpPr>
          <p:cNvPr id="1716458404" name="TextBox 11"/>
          <p:cNvSpPr txBox="1"/>
          <p:nvPr/>
        </p:nvSpPr>
        <p:spPr bwMode="auto">
          <a:xfrm>
            <a:off x="905256" y="2450592"/>
            <a:ext cx="2350008" cy="347472"/>
          </a:xfrm>
          <a:prstGeom prst="rect">
            <a:avLst/>
          </a:prstGeom>
          <a:noFill/>
        </p:spPr>
        <p:txBody>
          <a:bodyPr wrap="square" lIns="18288" tIns="18288" rIns="18288" bIns="18288">
            <a:spAutoFit/>
          </a:bodyPr>
          <a:lstStyle/>
          <a:p>
            <a:pPr>
              <a:spcBef>
                <a:spcPts val="0"/>
              </a:spcBef>
              <a:spcAft>
                <a:spcPts val="0"/>
              </a:spcAft>
              <a:defRPr sz="1800" b="1">
                <a:solidFill>
                  <a:srgbClr val="317AB5"/>
                </a:solidFill>
                <a:latin typeface="Aptos"/>
              </a:defRPr>
            </a:pPr>
            <a:r>
              <a:rPr/>
              <a:t>MiniTodo</a:t>
            </a:r>
            <a:endParaRPr/>
          </a:p>
        </p:txBody>
      </p:sp>
      <p:sp>
        <p:nvSpPr>
          <p:cNvPr id="977934149" name="TextBox 12"/>
          <p:cNvSpPr txBox="1"/>
          <p:nvPr/>
        </p:nvSpPr>
        <p:spPr bwMode="auto">
          <a:xfrm>
            <a:off x="905256" y="2889504"/>
            <a:ext cx="2350008" cy="539496"/>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Ajouter « Préparer le TP »</a:t>
            </a:r>
            <a:endParaRPr/>
          </a:p>
        </p:txBody>
      </p:sp>
      <p:cxnSp>
        <p:nvCxnSpPr>
          <p:cNvPr id="1052467075" name="Connector 13"/>
          <p:cNvCxnSpPr/>
          <p:nvPr/>
        </p:nvCxnSpPr>
        <p:spPr bwMode="auto">
          <a:xfrm>
            <a:off x="3429000" y="2569464"/>
            <a:ext cx="118872" cy="0"/>
          </a:xfrm>
          <a:prstGeom prst="line">
            <a:avLst/>
          </a:prstGeom>
          <a:ln w="19050">
            <a:solidFill>
              <a:srgbClr val="53666D"/>
            </a:solidFill>
            <a:tailEnd type="triangle"/>
          </a:ln>
        </p:spPr>
        <p:style>
          <a:lnRef idx="2">
            <a:schemeClr val="accent1"/>
          </a:lnRef>
          <a:fillRef idx="0">
            <a:schemeClr val="accent1"/>
          </a:fillRef>
          <a:effectRef idx="1">
            <a:schemeClr val="accent1"/>
          </a:effectRef>
          <a:fontRef idx="minor">
            <a:schemeClr val="tx1"/>
          </a:fontRef>
        </p:style>
      </p:cxnSp>
      <p:sp>
        <p:nvSpPr>
          <p:cNvPr id="889782046" name="Rounded Rectangle 14"/>
          <p:cNvSpPr/>
          <p:nvPr/>
        </p:nvSpPr>
        <p:spPr bwMode="auto">
          <a:xfrm>
            <a:off x="3584448" y="1691640"/>
            <a:ext cx="2679192" cy="1901952"/>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2428638" name="Rectangle 15"/>
          <p:cNvSpPr/>
          <p:nvPr/>
        </p:nvSpPr>
        <p:spPr bwMode="auto">
          <a:xfrm>
            <a:off x="3584448" y="1691640"/>
            <a:ext cx="2679192" cy="164592"/>
          </a:xfrm>
          <a:prstGeom prst="rect">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1286634" name="Rounded Rectangle 16"/>
          <p:cNvSpPr/>
          <p:nvPr/>
        </p:nvSpPr>
        <p:spPr bwMode="auto">
          <a:xfrm>
            <a:off x="3758184" y="1947671"/>
            <a:ext cx="502920" cy="320040"/>
          </a:xfrm>
          <a:prstGeom prst="roundRect">
            <a:avLst>
              <a:gd name="adj" fmla="val 18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2842453" name="TextBox 17"/>
          <p:cNvSpPr txBox="1"/>
          <p:nvPr/>
        </p:nvSpPr>
        <p:spPr bwMode="auto">
          <a:xfrm>
            <a:off x="3849624" y="1997964"/>
            <a:ext cx="320040" cy="228600"/>
          </a:xfrm>
          <a:prstGeom prst="rect">
            <a:avLst/>
          </a:prstGeom>
          <a:noFill/>
        </p:spPr>
        <p:txBody>
          <a:bodyPr wrap="square" lIns="18288" tIns="18288" rIns="18288" bIns="18288">
            <a:spAutoFit/>
          </a:bodyPr>
          <a:lstStyle/>
          <a:p>
            <a:pPr>
              <a:spcBef>
                <a:spcPts val="0"/>
              </a:spcBef>
              <a:spcAft>
                <a:spcPts val="0"/>
              </a:spcAft>
              <a:defRPr sz="1400" b="1">
                <a:solidFill>
                  <a:srgbClr val="2C9B65"/>
                </a:solidFill>
                <a:latin typeface="Aptos"/>
              </a:defRPr>
            </a:pPr>
            <a:r>
              <a:rPr/>
              <a:t>2</a:t>
            </a:r>
            <a:endParaRPr/>
          </a:p>
        </p:txBody>
      </p:sp>
      <p:sp>
        <p:nvSpPr>
          <p:cNvPr id="704595401" name="TextBox 18"/>
          <p:cNvSpPr txBox="1"/>
          <p:nvPr/>
        </p:nvSpPr>
        <p:spPr bwMode="auto">
          <a:xfrm>
            <a:off x="3758184" y="2450592"/>
            <a:ext cx="2350008" cy="347472"/>
          </a:xfrm>
          <a:prstGeom prst="rect">
            <a:avLst/>
          </a:prstGeom>
          <a:noFill/>
        </p:spPr>
        <p:txBody>
          <a:bodyPr wrap="square" lIns="18288" tIns="18288" rIns="18288" bIns="18288">
            <a:spAutoFit/>
          </a:bodyPr>
          <a:lstStyle/>
          <a:p>
            <a:pPr>
              <a:spcBef>
                <a:spcPts val="0"/>
              </a:spcBef>
              <a:spcAft>
                <a:spcPts val="0"/>
              </a:spcAft>
              <a:defRPr sz="1800" b="1">
                <a:solidFill>
                  <a:srgbClr val="2C9B65"/>
                </a:solidFill>
                <a:latin typeface="Aptos"/>
              </a:defRPr>
            </a:pPr>
            <a:r>
              <a:rPr/>
              <a:t>Database Inspector</a:t>
            </a:r>
            <a:endParaRPr/>
          </a:p>
        </p:txBody>
      </p:sp>
      <p:sp>
        <p:nvSpPr>
          <p:cNvPr id="2038953070" name="TextBox 19"/>
          <p:cNvSpPr txBox="1"/>
          <p:nvPr/>
        </p:nvSpPr>
        <p:spPr bwMode="auto">
          <a:xfrm>
            <a:off x="3758184" y="2889504"/>
            <a:ext cx="2350008" cy="539496"/>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Ouvrir tasks.db &gt; tasks</a:t>
            </a:r>
            <a:endParaRPr/>
          </a:p>
        </p:txBody>
      </p:sp>
      <p:cxnSp>
        <p:nvCxnSpPr>
          <p:cNvPr id="47981679" name="Connector 20"/>
          <p:cNvCxnSpPr/>
          <p:nvPr/>
        </p:nvCxnSpPr>
        <p:spPr bwMode="auto">
          <a:xfrm>
            <a:off x="6281928" y="2569464"/>
            <a:ext cx="118872" cy="0"/>
          </a:xfrm>
          <a:prstGeom prst="line">
            <a:avLst/>
          </a:prstGeom>
          <a:ln w="19050">
            <a:solidFill>
              <a:srgbClr val="53666D"/>
            </a:solidFill>
            <a:tailEnd type="triangle"/>
          </a:ln>
        </p:spPr>
        <p:style>
          <a:lnRef idx="2">
            <a:schemeClr val="accent1"/>
          </a:lnRef>
          <a:fillRef idx="0">
            <a:schemeClr val="accent1"/>
          </a:fillRef>
          <a:effectRef idx="1">
            <a:schemeClr val="accent1"/>
          </a:effectRef>
          <a:fontRef idx="minor">
            <a:schemeClr val="tx1"/>
          </a:fontRef>
        </p:style>
      </p:cxnSp>
      <p:sp>
        <p:nvSpPr>
          <p:cNvPr id="1599414819" name="Rounded Rectangle 21"/>
          <p:cNvSpPr/>
          <p:nvPr/>
        </p:nvSpPr>
        <p:spPr bwMode="auto">
          <a:xfrm>
            <a:off x="6437376" y="1691640"/>
            <a:ext cx="2679192" cy="1901952"/>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6850653" name="Rectangle 22"/>
          <p:cNvSpPr/>
          <p:nvPr/>
        </p:nvSpPr>
        <p:spPr bwMode="auto">
          <a:xfrm>
            <a:off x="6437376" y="1691640"/>
            <a:ext cx="2679192" cy="164592"/>
          </a:xfrm>
          <a:prstGeom prst="rect">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4008096" name="Rounded Rectangle 23"/>
          <p:cNvSpPr/>
          <p:nvPr/>
        </p:nvSpPr>
        <p:spPr bwMode="auto">
          <a:xfrm>
            <a:off x="6611112" y="1947671"/>
            <a:ext cx="502920" cy="320040"/>
          </a:xfrm>
          <a:prstGeom prst="roundRect">
            <a:avLst>
              <a:gd name="adj" fmla="val 18000"/>
            </a:avLst>
          </a:prstGeom>
          <a:solidFill>
            <a:srgbClr val="FA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2966578" name="TextBox 24"/>
          <p:cNvSpPr txBox="1"/>
          <p:nvPr/>
        </p:nvSpPr>
        <p:spPr bwMode="auto">
          <a:xfrm>
            <a:off x="6702552" y="1997964"/>
            <a:ext cx="320040" cy="228600"/>
          </a:xfrm>
          <a:prstGeom prst="rect">
            <a:avLst/>
          </a:prstGeom>
          <a:noFill/>
        </p:spPr>
        <p:txBody>
          <a:bodyPr wrap="square" lIns="18288" tIns="18288" rIns="18288" bIns="18288">
            <a:spAutoFit/>
          </a:bodyPr>
          <a:lstStyle/>
          <a:p>
            <a:pPr>
              <a:spcBef>
                <a:spcPts val="0"/>
              </a:spcBef>
              <a:spcAft>
                <a:spcPts val="0"/>
              </a:spcAft>
              <a:defRPr sz="1400" b="1">
                <a:solidFill>
                  <a:srgbClr val="C68532"/>
                </a:solidFill>
                <a:latin typeface="Aptos"/>
              </a:defRPr>
            </a:pPr>
            <a:r>
              <a:rPr/>
              <a:t>3</a:t>
            </a:r>
            <a:endParaRPr/>
          </a:p>
        </p:txBody>
      </p:sp>
      <p:sp>
        <p:nvSpPr>
          <p:cNvPr id="467842988" name="TextBox 25"/>
          <p:cNvSpPr txBox="1"/>
          <p:nvPr/>
        </p:nvSpPr>
        <p:spPr bwMode="auto">
          <a:xfrm>
            <a:off x="6611112" y="2450592"/>
            <a:ext cx="2350008" cy="347472"/>
          </a:xfrm>
          <a:prstGeom prst="rect">
            <a:avLst/>
          </a:prstGeom>
          <a:noFill/>
        </p:spPr>
        <p:txBody>
          <a:bodyPr wrap="square" lIns="18288" tIns="18288" rIns="18288" bIns="18288">
            <a:spAutoFit/>
          </a:bodyPr>
          <a:lstStyle/>
          <a:p>
            <a:pPr>
              <a:spcBef>
                <a:spcPts val="0"/>
              </a:spcBef>
              <a:spcAft>
                <a:spcPts val="0"/>
              </a:spcAft>
              <a:defRPr sz="1800" b="1">
                <a:solidFill>
                  <a:srgbClr val="C68532"/>
                </a:solidFill>
                <a:latin typeface="Aptos"/>
              </a:defRPr>
            </a:pPr>
            <a:r>
              <a:rPr/>
              <a:t>Modifier</a:t>
            </a:r>
            <a:endParaRPr/>
          </a:p>
        </p:txBody>
      </p:sp>
      <p:sp>
        <p:nvSpPr>
          <p:cNvPr id="1729183933" name="TextBox 26"/>
          <p:cNvSpPr txBox="1"/>
          <p:nvPr/>
        </p:nvSpPr>
        <p:spPr bwMode="auto">
          <a:xfrm>
            <a:off x="6611112" y="2889504"/>
            <a:ext cx="2350008" cy="539496"/>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Cocher ; vérifier completed = 1</a:t>
            </a:r>
            <a:endParaRPr/>
          </a:p>
        </p:txBody>
      </p:sp>
      <p:cxnSp>
        <p:nvCxnSpPr>
          <p:cNvPr id="1611528747" name="Connector 27"/>
          <p:cNvCxnSpPr/>
          <p:nvPr/>
        </p:nvCxnSpPr>
        <p:spPr bwMode="auto">
          <a:xfrm>
            <a:off x="9134856" y="2569464"/>
            <a:ext cx="118872" cy="0"/>
          </a:xfrm>
          <a:prstGeom prst="line">
            <a:avLst/>
          </a:prstGeom>
          <a:ln w="19050">
            <a:solidFill>
              <a:srgbClr val="53666D"/>
            </a:solidFill>
            <a:tailEnd type="triangle"/>
          </a:ln>
        </p:spPr>
        <p:style>
          <a:lnRef idx="2">
            <a:schemeClr val="accent1"/>
          </a:lnRef>
          <a:fillRef idx="0">
            <a:schemeClr val="accent1"/>
          </a:fillRef>
          <a:effectRef idx="1">
            <a:schemeClr val="accent1"/>
          </a:effectRef>
          <a:fontRef idx="minor">
            <a:schemeClr val="tx1"/>
          </a:fontRef>
        </p:style>
      </p:cxnSp>
      <p:sp>
        <p:nvSpPr>
          <p:cNvPr id="300727375" name="Rounded Rectangle 28"/>
          <p:cNvSpPr/>
          <p:nvPr/>
        </p:nvSpPr>
        <p:spPr bwMode="auto">
          <a:xfrm>
            <a:off x="9290304" y="1691640"/>
            <a:ext cx="2679192" cy="1901952"/>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8631705" name="Rectangle 29"/>
          <p:cNvSpPr/>
          <p:nvPr/>
        </p:nvSpPr>
        <p:spPr bwMode="auto">
          <a:xfrm>
            <a:off x="9290304" y="1691640"/>
            <a:ext cx="2679192" cy="164592"/>
          </a:xfrm>
          <a:prstGeom prst="rect">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279387" name="Rounded Rectangle 30"/>
          <p:cNvSpPr/>
          <p:nvPr/>
        </p:nvSpPr>
        <p:spPr bwMode="auto">
          <a:xfrm>
            <a:off x="9464040" y="1947671"/>
            <a:ext cx="502920" cy="320040"/>
          </a:xfrm>
          <a:prstGeom prst="roundRect">
            <a:avLst>
              <a:gd name="adj" fmla="val 18000"/>
            </a:avLst>
          </a:prstGeom>
          <a:solidFill>
            <a:srgbClr val="D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9851986" name="TextBox 31"/>
          <p:cNvSpPr txBox="1"/>
          <p:nvPr/>
        </p:nvSpPr>
        <p:spPr bwMode="auto">
          <a:xfrm>
            <a:off x="9555480" y="1997964"/>
            <a:ext cx="320040" cy="228600"/>
          </a:xfrm>
          <a:prstGeom prst="rect">
            <a:avLst/>
          </a:prstGeom>
          <a:noFill/>
        </p:spPr>
        <p:txBody>
          <a:bodyPr wrap="square" lIns="18288" tIns="18288" rIns="18288" bIns="18288">
            <a:spAutoFit/>
          </a:bodyPr>
          <a:lstStyle/>
          <a:p>
            <a:pPr>
              <a:spcBef>
                <a:spcPts val="0"/>
              </a:spcBef>
              <a:spcAft>
                <a:spcPts val="0"/>
              </a:spcAft>
              <a:defRPr sz="1400" b="1">
                <a:solidFill>
                  <a:srgbClr val="176D70"/>
                </a:solidFill>
                <a:latin typeface="Aptos"/>
              </a:defRPr>
            </a:pPr>
            <a:r>
              <a:rPr/>
              <a:t>4</a:t>
            </a:r>
            <a:endParaRPr/>
          </a:p>
        </p:txBody>
      </p:sp>
      <p:sp>
        <p:nvSpPr>
          <p:cNvPr id="1140906353" name="TextBox 32"/>
          <p:cNvSpPr txBox="1"/>
          <p:nvPr/>
        </p:nvSpPr>
        <p:spPr bwMode="auto">
          <a:xfrm>
            <a:off x="9464040" y="2450592"/>
            <a:ext cx="2350008" cy="347472"/>
          </a:xfrm>
          <a:prstGeom prst="rect">
            <a:avLst/>
          </a:prstGeom>
          <a:noFill/>
        </p:spPr>
        <p:txBody>
          <a:bodyPr wrap="square" lIns="18288" tIns="18288" rIns="18288" bIns="18288">
            <a:spAutoFit/>
          </a:bodyPr>
          <a:lstStyle/>
          <a:p>
            <a:pPr>
              <a:spcBef>
                <a:spcPts val="0"/>
              </a:spcBef>
              <a:spcAft>
                <a:spcPts val="0"/>
              </a:spcAft>
              <a:defRPr sz="1800" b="1">
                <a:solidFill>
                  <a:srgbClr val="176D70"/>
                </a:solidFill>
                <a:latin typeface="Aptos"/>
              </a:defRPr>
            </a:pPr>
            <a:r>
              <a:rPr/>
              <a:t>Force-stop + rouvrir</a:t>
            </a:r>
            <a:endParaRPr/>
          </a:p>
        </p:txBody>
      </p:sp>
      <p:sp>
        <p:nvSpPr>
          <p:cNvPr id="154323169" name="TextBox 33"/>
          <p:cNvSpPr txBox="1"/>
          <p:nvPr/>
        </p:nvSpPr>
        <p:spPr bwMode="auto">
          <a:xfrm>
            <a:off x="9464040" y="2889504"/>
            <a:ext cx="2350008" cy="539496"/>
          </a:xfrm>
          <a:prstGeom prst="rect">
            <a:avLst/>
          </a:prstGeom>
          <a:noFill/>
        </p:spPr>
        <p:txBody>
          <a:bodyPr wrap="square" lIns="18288" tIns="18288" rIns="18288" bIns="18288">
            <a:spAutoFit/>
          </a:bodyPr>
          <a:lstStyle/>
          <a:p>
            <a:pPr>
              <a:spcBef>
                <a:spcPts val="0"/>
              </a:spcBef>
              <a:spcAft>
                <a:spcPts val="0"/>
              </a:spcAft>
              <a:defRPr sz="1400" b="0">
                <a:solidFill>
                  <a:srgbClr val="172A31"/>
                </a:solidFill>
                <a:latin typeface="Aptos"/>
              </a:defRPr>
            </a:pPr>
            <a:r>
              <a:rPr/>
              <a:t>Retrouver la même ligne</a:t>
            </a:r>
            <a:endParaRPr/>
          </a:p>
        </p:txBody>
      </p:sp>
      <p:sp>
        <p:nvSpPr>
          <p:cNvPr id="1650884184" name="Rounded Rectangle 34"/>
          <p:cNvSpPr/>
          <p:nvPr/>
        </p:nvSpPr>
        <p:spPr bwMode="auto">
          <a:xfrm>
            <a:off x="822960" y="4151376"/>
            <a:ext cx="10506456" cy="1207008"/>
          </a:xfrm>
          <a:prstGeom prst="roundRect">
            <a:avLst>
              <a:gd name="adj" fmla="val 6000"/>
            </a:avLst>
          </a:prstGeom>
          <a:solidFill>
            <a:srgbClr val="102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6956318" name="TextBox 35"/>
          <p:cNvSpPr txBox="1"/>
          <p:nvPr/>
        </p:nvSpPr>
        <p:spPr bwMode="auto">
          <a:xfrm>
            <a:off x="1088136" y="4398264"/>
            <a:ext cx="1143000" cy="338328"/>
          </a:xfrm>
          <a:prstGeom prst="rect">
            <a:avLst/>
          </a:prstGeom>
          <a:noFill/>
        </p:spPr>
        <p:txBody>
          <a:bodyPr wrap="square" lIns="18288" tIns="18288" rIns="18288" bIns="18288">
            <a:spAutoFit/>
          </a:bodyPr>
          <a:lstStyle/>
          <a:p>
            <a:pPr>
              <a:spcBef>
                <a:spcPts val="0"/>
              </a:spcBef>
              <a:spcAft>
                <a:spcPts val="0"/>
              </a:spcAft>
              <a:defRPr sz="1800" b="1">
                <a:solidFill>
                  <a:srgbClr val="DFEDF8"/>
                </a:solidFill>
                <a:latin typeface="Aptos"/>
              </a:defRPr>
            </a:pPr>
            <a:r>
              <a:rPr/>
              <a:t>Logcat</a:t>
            </a:r>
            <a:endParaRPr/>
          </a:p>
        </p:txBody>
      </p:sp>
      <p:sp>
        <p:nvSpPr>
          <p:cNvPr id="1741341212" name="TextBox 36"/>
          <p:cNvSpPr txBox="1"/>
          <p:nvPr/>
        </p:nvSpPr>
        <p:spPr bwMode="auto">
          <a:xfrm>
            <a:off x="2286000" y="4398264"/>
            <a:ext cx="4754880" cy="338328"/>
          </a:xfrm>
          <a:prstGeom prst="rect">
            <a:avLst/>
          </a:prstGeom>
          <a:noFill/>
        </p:spPr>
        <p:txBody>
          <a:bodyPr wrap="square" lIns="18288" tIns="18288" rIns="18288" bIns="18288">
            <a:spAutoFit/>
          </a:bodyPr>
          <a:lstStyle/>
          <a:p>
            <a:pPr>
              <a:spcBef>
                <a:spcPts val="0"/>
              </a:spcBef>
              <a:spcAft>
                <a:spcPts val="0"/>
              </a:spcAft>
              <a:defRPr sz="1600" b="0">
                <a:solidFill>
                  <a:srgbClr val="FFFFFF"/>
                </a:solidFill>
                <a:latin typeface="DejaVu Sans Mono"/>
              </a:defRPr>
            </a:pPr>
            <a:r>
              <a:rPr/>
              <a:t>PersistenceDemo: inserted id=1</a:t>
            </a:r>
            <a:endParaRPr/>
          </a:p>
        </p:txBody>
      </p:sp>
      <p:sp>
        <p:nvSpPr>
          <p:cNvPr id="819119449" name="TextBox 37"/>
          <p:cNvSpPr txBox="1"/>
          <p:nvPr/>
        </p:nvSpPr>
        <p:spPr bwMode="auto">
          <a:xfrm>
            <a:off x="1005840" y="5742432"/>
            <a:ext cx="10515600" cy="374904"/>
          </a:xfrm>
          <a:prstGeom prst="rect">
            <a:avLst/>
          </a:prstGeom>
          <a:noFill/>
        </p:spPr>
        <p:txBody>
          <a:bodyPr wrap="square" lIns="18288" tIns="18288" rIns="18288" bIns="18288">
            <a:spAutoFit/>
          </a:bodyPr>
          <a:lstStyle/>
          <a:p>
            <a:pPr algn="ctr">
              <a:spcBef>
                <a:spcPts val="0"/>
              </a:spcBef>
              <a:spcAft>
                <a:spcPts val="0"/>
              </a:spcAft>
              <a:defRPr sz="1700" b="1">
                <a:solidFill>
                  <a:srgbClr val="176D70"/>
                </a:solidFill>
                <a:latin typeface="Aptos"/>
              </a:defRPr>
            </a:pPr>
            <a:r>
              <a:rPr/>
              <a:t>Inspector = ligne sur disque   ·   Redémarrage = persistance observée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2031499790"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Le stockage local a des limites</a:t>
            </a:r>
            <a:endParaRPr/>
          </a:p>
        </p:txBody>
      </p:sp>
      <p:sp>
        <p:nvSpPr>
          <p:cNvPr id="1988274389" name="TextBox 2"/>
          <p:cNvSpPr txBox="1"/>
          <p:nvPr/>
        </p:nvSpPr>
        <p:spPr bwMode="auto">
          <a:xfrm>
            <a:off x="585215"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Le Repository peut relier API et base locale</a:t>
            </a:r>
            <a:endParaRPr sz="1600"/>
          </a:p>
        </p:txBody>
      </p:sp>
      <p:cxnSp>
        <p:nvCxnSpPr>
          <p:cNvPr id="1319362358"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486177172"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2009216681"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618385158"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16</a:t>
            </a:r>
            <a:endParaRPr/>
          </a:p>
        </p:txBody>
      </p:sp>
      <p:sp>
        <p:nvSpPr>
          <p:cNvPr id="964858814" name="Rounded Rectangle 7"/>
          <p:cNvSpPr/>
          <p:nvPr/>
        </p:nvSpPr>
        <p:spPr bwMode="auto">
          <a:xfrm>
            <a:off x="813816" y="1947671"/>
            <a:ext cx="2487168" cy="950976"/>
          </a:xfrm>
          <a:prstGeom prst="roundRect">
            <a:avLst>
              <a:gd name="adj" fmla="val 12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10013911" name="TextBox 8"/>
          <p:cNvSpPr txBox="1"/>
          <p:nvPr/>
        </p:nvSpPr>
        <p:spPr bwMode="auto">
          <a:xfrm>
            <a:off x="923544" y="2057400"/>
            <a:ext cx="2267712" cy="338328"/>
          </a:xfrm>
          <a:prstGeom prst="rect">
            <a:avLst/>
          </a:prstGeom>
          <a:noFill/>
        </p:spPr>
        <p:txBody>
          <a:bodyPr wrap="square" lIns="18288" tIns="18288" rIns="18288" bIns="18288">
            <a:spAutoFit/>
          </a:bodyPr>
          <a:lstStyle/>
          <a:p>
            <a:pPr>
              <a:spcBef>
                <a:spcPts val="0"/>
              </a:spcBef>
              <a:spcAft>
                <a:spcPts val="0"/>
              </a:spcAft>
              <a:defRPr sz="2000" b="1">
                <a:solidFill>
                  <a:srgbClr val="317AB5"/>
                </a:solidFill>
                <a:latin typeface="Aptos"/>
              </a:defRPr>
            </a:pPr>
            <a:r>
              <a:rPr/>
              <a:t>API distante</a:t>
            </a:r>
            <a:endParaRPr/>
          </a:p>
        </p:txBody>
      </p:sp>
      <p:sp>
        <p:nvSpPr>
          <p:cNvPr id="590014158" name="TextBox 9"/>
          <p:cNvSpPr txBox="1"/>
          <p:nvPr/>
        </p:nvSpPr>
        <p:spPr bwMode="auto">
          <a:xfrm>
            <a:off x="923544" y="2441448"/>
            <a:ext cx="2267712"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source réseau</a:t>
            </a:r>
            <a:endParaRPr/>
          </a:p>
        </p:txBody>
      </p:sp>
      <p:sp>
        <p:nvSpPr>
          <p:cNvPr id="1540454614" name="Rounded Rectangle 10"/>
          <p:cNvSpPr/>
          <p:nvPr/>
        </p:nvSpPr>
        <p:spPr bwMode="auto">
          <a:xfrm>
            <a:off x="3694176" y="1947671"/>
            <a:ext cx="2487168" cy="950976"/>
          </a:xfrm>
          <a:prstGeom prst="roundRect">
            <a:avLst>
              <a:gd name="adj" fmla="val 12000"/>
            </a:avLst>
          </a:prstGeom>
          <a:solidFill>
            <a:srgbClr val="FA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6730414" name="TextBox 11"/>
          <p:cNvSpPr txBox="1"/>
          <p:nvPr/>
        </p:nvSpPr>
        <p:spPr bwMode="auto">
          <a:xfrm>
            <a:off x="3803904" y="2057400"/>
            <a:ext cx="2267712" cy="338328"/>
          </a:xfrm>
          <a:prstGeom prst="rect">
            <a:avLst/>
          </a:prstGeom>
          <a:noFill/>
        </p:spPr>
        <p:txBody>
          <a:bodyPr wrap="square" lIns="18288" tIns="18288" rIns="18288" bIns="18288">
            <a:spAutoFit/>
          </a:bodyPr>
          <a:lstStyle/>
          <a:p>
            <a:pPr>
              <a:spcBef>
                <a:spcPts val="0"/>
              </a:spcBef>
              <a:spcAft>
                <a:spcPts val="0"/>
              </a:spcAft>
              <a:defRPr sz="2000" b="1">
                <a:solidFill>
                  <a:srgbClr val="C68532"/>
                </a:solidFill>
                <a:latin typeface="Aptos"/>
              </a:defRPr>
            </a:pPr>
            <a:r>
              <a:rPr/>
              <a:t>Repository</a:t>
            </a:r>
            <a:endParaRPr/>
          </a:p>
        </p:txBody>
      </p:sp>
      <p:sp>
        <p:nvSpPr>
          <p:cNvPr id="1749744949" name="TextBox 12"/>
          <p:cNvSpPr txBox="1"/>
          <p:nvPr/>
        </p:nvSpPr>
        <p:spPr bwMode="auto">
          <a:xfrm>
            <a:off x="3803904" y="2441448"/>
            <a:ext cx="2267712"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fusion / synchronisation</a:t>
            </a:r>
            <a:endParaRPr/>
          </a:p>
        </p:txBody>
      </p:sp>
      <p:sp>
        <p:nvSpPr>
          <p:cNvPr id="1033892501" name="Rounded Rectangle 13"/>
          <p:cNvSpPr/>
          <p:nvPr/>
        </p:nvSpPr>
        <p:spPr bwMode="auto">
          <a:xfrm>
            <a:off x="6574536" y="1947671"/>
            <a:ext cx="2487168" cy="950976"/>
          </a:xfrm>
          <a:prstGeom prst="roundRect">
            <a:avLst>
              <a:gd name="adj" fmla="val 12000"/>
            </a:avLst>
          </a:prstGeom>
          <a:solidFill>
            <a:srgbClr val="D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693667" name="TextBox 14"/>
          <p:cNvSpPr txBox="1"/>
          <p:nvPr/>
        </p:nvSpPr>
        <p:spPr bwMode="auto">
          <a:xfrm>
            <a:off x="6684264" y="2057400"/>
            <a:ext cx="2267712" cy="338328"/>
          </a:xfrm>
          <a:prstGeom prst="rect">
            <a:avLst/>
          </a:prstGeom>
          <a:noFill/>
        </p:spPr>
        <p:txBody>
          <a:bodyPr wrap="square" lIns="18288" tIns="18288" rIns="18288" bIns="18288">
            <a:spAutoFit/>
          </a:bodyPr>
          <a:lstStyle/>
          <a:p>
            <a:pPr>
              <a:spcBef>
                <a:spcPts val="0"/>
              </a:spcBef>
              <a:spcAft>
                <a:spcPts val="0"/>
              </a:spcAft>
              <a:defRPr sz="2000" b="1">
                <a:solidFill>
                  <a:srgbClr val="2C9B65"/>
                </a:solidFill>
                <a:latin typeface="Aptos"/>
              </a:defRPr>
            </a:pPr>
            <a:r>
              <a:rPr/>
              <a:t>Room / SQLite</a:t>
            </a:r>
            <a:endParaRPr/>
          </a:p>
        </p:txBody>
      </p:sp>
      <p:sp>
        <p:nvSpPr>
          <p:cNvPr id="1335555368" name="TextBox 15"/>
          <p:cNvSpPr txBox="1"/>
          <p:nvPr/>
        </p:nvSpPr>
        <p:spPr bwMode="auto">
          <a:xfrm>
            <a:off x="6684264" y="2441448"/>
            <a:ext cx="2267712"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source locale observée</a:t>
            </a:r>
            <a:endParaRPr/>
          </a:p>
        </p:txBody>
      </p:sp>
      <p:sp>
        <p:nvSpPr>
          <p:cNvPr id="973565465" name="Rounded Rectangle 16"/>
          <p:cNvSpPr/>
          <p:nvPr/>
        </p:nvSpPr>
        <p:spPr bwMode="auto">
          <a:xfrm>
            <a:off x="9454896" y="1947671"/>
            <a:ext cx="1929384" cy="950976"/>
          </a:xfrm>
          <a:prstGeom prst="roundRect">
            <a:avLst>
              <a:gd name="adj" fmla="val 12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5893762" name="TextBox 17"/>
          <p:cNvSpPr txBox="1"/>
          <p:nvPr/>
        </p:nvSpPr>
        <p:spPr bwMode="auto">
          <a:xfrm>
            <a:off x="9564624" y="2057400"/>
            <a:ext cx="1709928" cy="338328"/>
          </a:xfrm>
          <a:prstGeom prst="rect">
            <a:avLst/>
          </a:prstGeom>
          <a:noFill/>
        </p:spPr>
        <p:txBody>
          <a:bodyPr wrap="square" lIns="18288" tIns="18288" rIns="18288" bIns="18288">
            <a:spAutoFit/>
          </a:bodyPr>
          <a:lstStyle/>
          <a:p>
            <a:pPr>
              <a:spcBef>
                <a:spcPts val="0"/>
              </a:spcBef>
              <a:spcAft>
                <a:spcPts val="0"/>
              </a:spcAft>
              <a:defRPr sz="2000" b="1">
                <a:solidFill>
                  <a:srgbClr val="317AB5"/>
                </a:solidFill>
                <a:latin typeface="Aptos"/>
              </a:defRPr>
            </a:pPr>
            <a:r>
              <a:rPr/>
              <a:t>UI</a:t>
            </a:r>
            <a:endParaRPr/>
          </a:p>
        </p:txBody>
      </p:sp>
      <p:sp>
        <p:nvSpPr>
          <p:cNvPr id="1753341982" name="TextBox 18"/>
          <p:cNvSpPr txBox="1"/>
          <p:nvPr/>
        </p:nvSpPr>
        <p:spPr bwMode="auto">
          <a:xfrm>
            <a:off x="9564624" y="2441448"/>
            <a:ext cx="1709928" cy="411480"/>
          </a:xfrm>
          <a:prstGeom prst="rect">
            <a:avLst/>
          </a:prstGeom>
          <a:noFill/>
        </p:spPr>
        <p:txBody>
          <a:bodyPr wrap="square" lIns="18288" tIns="18288" rIns="18288" bIns="18288">
            <a:spAutoFit/>
          </a:bodyPr>
          <a:lstStyle/>
          <a:p>
            <a:pPr>
              <a:spcBef>
                <a:spcPts val="0"/>
              </a:spcBef>
              <a:spcAft>
                <a:spcPts val="0"/>
              </a:spcAft>
              <a:defRPr sz="1200" b="0">
                <a:solidFill>
                  <a:srgbClr val="53666D"/>
                </a:solidFill>
                <a:latin typeface="Aptos"/>
              </a:defRPr>
            </a:pPr>
            <a:r>
              <a:rPr/>
              <a:t>affichage</a:t>
            </a:r>
            <a:endParaRPr/>
          </a:p>
        </p:txBody>
      </p:sp>
      <p:cxnSp>
        <p:nvCxnSpPr>
          <p:cNvPr id="1022235099" name="Connector 21"/>
          <p:cNvCxnSpPr/>
          <p:nvPr/>
        </p:nvCxnSpPr>
        <p:spPr bwMode="auto">
          <a:xfrm>
            <a:off x="9107424" y="2414016"/>
            <a:ext cx="265176" cy="0"/>
          </a:xfrm>
          <a:prstGeom prst="line">
            <a:avLst/>
          </a:prstGeom>
          <a:ln w="25400">
            <a:solidFill>
              <a:srgbClr val="176D70"/>
            </a:solidFill>
            <a:tailEnd type="triangle"/>
          </a:ln>
        </p:spPr>
        <p:style>
          <a:lnRef idx="2">
            <a:schemeClr val="accent1"/>
          </a:lnRef>
          <a:fillRef idx="0">
            <a:schemeClr val="accent1"/>
          </a:fillRef>
          <a:effectRef idx="1">
            <a:schemeClr val="accent1"/>
          </a:effectRef>
          <a:fontRef idx="minor">
            <a:schemeClr val="tx1"/>
          </a:fontRef>
        </p:style>
      </p:cxnSp>
      <p:sp>
        <p:nvSpPr>
          <p:cNvPr id="191146513" name="Rounded Rectangle 22"/>
          <p:cNvSpPr/>
          <p:nvPr/>
        </p:nvSpPr>
        <p:spPr bwMode="auto">
          <a:xfrm>
            <a:off x="768096" y="3749039"/>
            <a:ext cx="10607040" cy="1417320"/>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4499436" name="TextBox 23"/>
          <p:cNvSpPr txBox="1"/>
          <p:nvPr/>
        </p:nvSpPr>
        <p:spPr bwMode="auto">
          <a:xfrm>
            <a:off x="1078992" y="4087368"/>
            <a:ext cx="3236976" cy="384048"/>
          </a:xfrm>
          <a:prstGeom prst="rect">
            <a:avLst/>
          </a:prstGeom>
          <a:noFill/>
        </p:spPr>
        <p:txBody>
          <a:bodyPr wrap="square" lIns="18288" tIns="18288" rIns="18288" bIns="18288">
            <a:spAutoFit/>
          </a:bodyPr>
          <a:lstStyle/>
          <a:p>
            <a:pPr>
              <a:spcBef>
                <a:spcPts val="0"/>
              </a:spcBef>
              <a:spcAft>
                <a:spcPts val="0"/>
              </a:spcAft>
              <a:defRPr sz="1800" b="1">
                <a:solidFill>
                  <a:srgbClr val="176D70"/>
                </a:solidFill>
                <a:latin typeface="Aptos"/>
              </a:defRPr>
            </a:pPr>
            <a:r>
              <a:rPr/>
              <a:t>Local ≠ synchronisé</a:t>
            </a:r>
            <a:endParaRPr/>
          </a:p>
        </p:txBody>
      </p:sp>
      <p:sp>
        <p:nvSpPr>
          <p:cNvPr id="1322168136" name="TextBox 24"/>
          <p:cNvSpPr txBox="1"/>
          <p:nvPr/>
        </p:nvSpPr>
        <p:spPr bwMode="auto">
          <a:xfrm>
            <a:off x="4379976" y="4087368"/>
            <a:ext cx="2862072" cy="384048"/>
          </a:xfrm>
          <a:prstGeom prst="rect">
            <a:avLst/>
          </a:prstGeom>
          <a:noFill/>
        </p:spPr>
        <p:txBody>
          <a:bodyPr wrap="square" lIns="18288" tIns="18288" rIns="18288" bIns="18288">
            <a:spAutoFit/>
          </a:bodyPr>
          <a:lstStyle/>
          <a:p>
            <a:pPr>
              <a:spcBef>
                <a:spcPts val="0"/>
              </a:spcBef>
              <a:spcAft>
                <a:spcPts val="0"/>
              </a:spcAft>
              <a:defRPr sz="1800" b="1">
                <a:solidFill>
                  <a:srgbClr val="176D70"/>
                </a:solidFill>
                <a:latin typeface="Aptos"/>
              </a:defRPr>
            </a:pPr>
            <a:r>
              <a:rPr/>
              <a:t>Local ≠ chiffré</a:t>
            </a:r>
            <a:endParaRPr/>
          </a:p>
        </p:txBody>
      </p:sp>
      <p:sp>
        <p:nvSpPr>
          <p:cNvPr id="538312462" name="TextBox 25"/>
          <p:cNvSpPr txBox="1"/>
          <p:nvPr/>
        </p:nvSpPr>
        <p:spPr bwMode="auto">
          <a:xfrm flipH="0" flipV="0">
            <a:off x="7406640" y="4087368"/>
            <a:ext cx="3531024" cy="768456"/>
          </a:xfrm>
          <a:prstGeom prst="rect">
            <a:avLst/>
          </a:prstGeom>
          <a:noFill/>
        </p:spPr>
        <p:txBody>
          <a:bodyPr wrap="square" lIns="18288" tIns="18288" rIns="18288" bIns="18288">
            <a:spAutoFit/>
          </a:bodyPr>
          <a:lstStyle/>
          <a:p>
            <a:pPr>
              <a:spcBef>
                <a:spcPts val="0"/>
              </a:spcBef>
              <a:spcAft>
                <a:spcPts val="0"/>
              </a:spcAft>
              <a:defRPr sz="1600" b="1">
                <a:solidFill>
                  <a:srgbClr val="176D70"/>
                </a:solidFill>
                <a:latin typeface="Aptos"/>
              </a:defRPr>
            </a:pPr>
            <a:r>
              <a:rPr/>
              <a:t>Désinstallation / effacement : </a:t>
            </a:r>
            <a:endParaRPr/>
          </a:p>
          <a:p>
            <a:pPr>
              <a:spcBef>
                <a:spcPts val="0"/>
              </a:spcBef>
              <a:spcAft>
                <a:spcPts val="0"/>
              </a:spcAft>
              <a:defRPr sz="1600" b="1">
                <a:solidFill>
                  <a:srgbClr val="176D70"/>
                </a:solidFill>
                <a:latin typeface="Aptos"/>
              </a:defRPr>
            </a:pPr>
            <a:endParaRPr/>
          </a:p>
          <a:p>
            <a:pPr>
              <a:spcBef>
                <a:spcPts val="0"/>
              </a:spcBef>
              <a:spcAft>
                <a:spcPts val="0"/>
              </a:spcAft>
              <a:defRPr sz="1600" b="1">
                <a:solidFill>
                  <a:srgbClr val="176D70"/>
                </a:solidFill>
                <a:latin typeface="Aptos"/>
              </a:defRPr>
            </a:pPr>
            <a:r>
              <a:rPr/>
              <a:t>données perdues</a:t>
            </a:r>
            <a:endParaRPr/>
          </a:p>
        </p:txBody>
      </p:sp>
      <p:sp>
        <p:nvSpPr>
          <p:cNvPr id="1846514597" name="TextBox 26"/>
          <p:cNvSpPr txBox="1"/>
          <p:nvPr/>
        </p:nvSpPr>
        <p:spPr bwMode="auto">
          <a:xfrm>
            <a:off x="1033271" y="5614416"/>
            <a:ext cx="10104120" cy="512064"/>
          </a:xfrm>
          <a:prstGeom prst="rect">
            <a:avLst/>
          </a:prstGeom>
          <a:noFill/>
        </p:spPr>
        <p:txBody>
          <a:bodyPr wrap="square" lIns="18288" tIns="18288" rIns="18288" bIns="18288">
            <a:spAutoFit/>
          </a:bodyPr>
          <a:lstStyle/>
          <a:p>
            <a:pPr>
              <a:spcBef>
                <a:spcPts val="0"/>
              </a:spcBef>
              <a:spcAft>
                <a:spcPts val="0"/>
              </a:spcAft>
              <a:defRPr sz="1700" b="0">
                <a:solidFill>
                  <a:srgbClr val="172A31"/>
                </a:solidFill>
                <a:latin typeface="Aptos"/>
              </a:defRPr>
            </a:pPr>
            <a:r>
              <a:rPr/>
              <a:t>La base sert de source locale ; le réseau met ses lignes à jour. Les gros fichiers restent des fichiers.</a:t>
            </a:r>
            <a:endParaRPr/>
          </a:p>
        </p:txBody>
      </p:sp>
      <p:sp>
        <p:nvSpPr>
          <p:cNvPr id="797760391" name=""/>
          <p:cNvSpPr/>
          <p:nvPr/>
        </p:nvSpPr>
        <p:spPr bwMode="auto">
          <a:xfrm>
            <a:off x="3191256" y="2006748"/>
            <a:ext cx="412677" cy="6404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3600" b="0" i="0" u="none">
                <a:solidFill>
                  <a:schemeClr val="accent5">
                    <a:lumMod val="50000"/>
                  </a:schemeClr>
                </a:solidFill>
                <a:latin typeface="Times New Roman"/>
                <a:ea typeface="Times New Roman"/>
                <a:cs typeface="Times New Roman"/>
              </a:rPr>
              <a:t>↔</a:t>
            </a:r>
            <a:endParaRPr sz="8000" b="1">
              <a:solidFill>
                <a:schemeClr val="accent5">
                  <a:lumMod val="50000"/>
                </a:schemeClr>
              </a:solidFill>
            </a:endParaRPr>
          </a:p>
        </p:txBody>
      </p:sp>
      <p:sp>
        <p:nvSpPr>
          <p:cNvPr id="200191043" name=""/>
          <p:cNvSpPr/>
          <p:nvPr/>
        </p:nvSpPr>
        <p:spPr bwMode="auto">
          <a:xfrm flipH="0" flipV="0">
            <a:off x="6048755" y="2006748"/>
            <a:ext cx="413757" cy="6404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3600" b="0" i="0" u="none">
                <a:solidFill>
                  <a:schemeClr val="accent5">
                    <a:lumMod val="50000"/>
                  </a:schemeClr>
                </a:solidFill>
                <a:latin typeface="Times New Roman"/>
                <a:ea typeface="Times New Roman"/>
                <a:cs typeface="Times New Roman"/>
              </a:rPr>
              <a:t>↔</a:t>
            </a:r>
            <a:endParaRPr sz="8000" b="1">
              <a:solidFill>
                <a:schemeClr val="accent5">
                  <a:lumMod val="50000"/>
                </a:schemeClr>
              </a:solidFill>
            </a:endParaRPr>
          </a:p>
        </p:txBody>
      </p:sp>
      <p:sp>
        <p:nvSpPr>
          <p:cNvPr id="539121525" name="Rounded Rectangle 16"/>
          <p:cNvSpPr/>
          <p:nvPr/>
        </p:nvSpPr>
        <p:spPr bwMode="auto">
          <a:xfrm flipH="0" flipV="0">
            <a:off x="7908413" y="1463366"/>
            <a:ext cx="2951479" cy="272142"/>
          </a:xfrm>
          <a:prstGeom prst="roundRect">
            <a:avLst>
              <a:gd name="adj" fmla="val 12000"/>
            </a:avLst>
          </a:prstGeom>
          <a:solidFill>
            <a:srgbClr val="DF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3164388" name=""/>
          <p:cNvSpPr txBox="1"/>
          <p:nvPr/>
        </p:nvSpPr>
        <p:spPr bwMode="auto">
          <a:xfrm rot="0" flipH="0" flipV="0">
            <a:off x="8096498" y="1416557"/>
            <a:ext cx="2582162"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600">
                <a:solidFill>
                  <a:schemeClr val="tx1">
                    <a:lumMod val="65000"/>
                    <a:lumOff val="35000"/>
                  </a:schemeClr>
                </a:solidFill>
                <a:latin typeface="Aptos"/>
                <a:ea typeface="Aptos"/>
                <a:cs typeface="Aptos"/>
              </a:rPr>
              <a:t>via ViewModel + LiveData</a:t>
            </a:r>
            <a:endParaRPr sz="1600">
              <a:solidFill>
                <a:schemeClr val="tx1">
                  <a:lumMod val="65000"/>
                  <a:lumOff val="35000"/>
                </a:schemeClr>
              </a:solidFill>
              <a:latin typeface="Aptos"/>
              <a:cs typeface="Aptos"/>
            </a:endParaRPr>
          </a:p>
        </p:txBody>
      </p:sp>
      <p:cxnSp>
        <p:nvCxnSpPr>
          <p:cNvPr id="928464144" name=""/>
          <p:cNvCxnSpPr/>
          <p:nvPr/>
        </p:nvCxnSpPr>
        <p:spPr bwMode="auto">
          <a:xfrm flipH="0" flipV="0">
            <a:off x="9240011" y="1768928"/>
            <a:ext cx="0" cy="625928"/>
          </a:xfrm>
          <a:prstGeom prst="line">
            <a:avLst/>
          </a:prstGeom>
        </p:spPr>
        <p:style>
          <a:lnRef idx="1">
            <a:schemeClr val="accent1"/>
          </a:lnRef>
          <a:fillRef idx="3">
            <a:schemeClr val="accent1"/>
          </a:fillRef>
          <a:effectRef idx="2">
            <a:schemeClr val="accent1"/>
          </a:effectRef>
          <a:fontRef idx="minor">
            <a:schemeClr val="lt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795882216"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À vous : quatre décisions pour MiniTodo</a:t>
            </a:r>
            <a:endParaRPr/>
          </a:p>
        </p:txBody>
      </p:sp>
      <p:cxnSp>
        <p:nvCxnSpPr>
          <p:cNvPr id="581047364"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826772584"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1154709540"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786160978"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17</a:t>
            </a:r>
            <a:endParaRPr/>
          </a:p>
        </p:txBody>
      </p:sp>
      <p:sp>
        <p:nvSpPr>
          <p:cNvPr id="1488956542" name="Rounded Rectangle 7"/>
          <p:cNvSpPr/>
          <p:nvPr/>
        </p:nvSpPr>
        <p:spPr bwMode="auto">
          <a:xfrm>
            <a:off x="740664" y="1426464"/>
            <a:ext cx="5340096" cy="1874519"/>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8519610" name="Rectangle 8"/>
          <p:cNvSpPr/>
          <p:nvPr/>
        </p:nvSpPr>
        <p:spPr bwMode="auto">
          <a:xfrm>
            <a:off x="740664" y="1426464"/>
            <a:ext cx="118872" cy="1874519"/>
          </a:xfrm>
          <a:prstGeom prst="rect">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6718809" name="TextBox 9"/>
          <p:cNvSpPr txBox="1"/>
          <p:nvPr/>
        </p:nvSpPr>
        <p:spPr bwMode="auto">
          <a:xfrm>
            <a:off x="1014984" y="1609344"/>
            <a:ext cx="502920" cy="320040"/>
          </a:xfrm>
          <a:prstGeom prst="rect">
            <a:avLst/>
          </a:prstGeom>
          <a:noFill/>
        </p:spPr>
        <p:txBody>
          <a:bodyPr wrap="square" lIns="18288" tIns="18288" rIns="18288" bIns="18288">
            <a:spAutoFit/>
          </a:bodyPr>
          <a:lstStyle/>
          <a:p>
            <a:pPr>
              <a:spcBef>
                <a:spcPts val="0"/>
              </a:spcBef>
              <a:spcAft>
                <a:spcPts val="0"/>
              </a:spcAft>
              <a:defRPr sz="1500" b="1">
                <a:solidFill>
                  <a:srgbClr val="2C9B65"/>
                </a:solidFill>
                <a:latin typeface="Aptos"/>
              </a:defRPr>
            </a:pPr>
            <a:r>
              <a:rPr/>
              <a:t>01</a:t>
            </a:r>
            <a:endParaRPr/>
          </a:p>
        </p:txBody>
      </p:sp>
      <p:sp>
        <p:nvSpPr>
          <p:cNvPr id="436710247" name="TextBox 10"/>
          <p:cNvSpPr txBox="1"/>
          <p:nvPr/>
        </p:nvSpPr>
        <p:spPr bwMode="auto">
          <a:xfrm>
            <a:off x="1655063" y="1618488"/>
            <a:ext cx="4087368" cy="612648"/>
          </a:xfrm>
          <a:prstGeom prst="rect">
            <a:avLst/>
          </a:prstGeom>
          <a:noFill/>
        </p:spPr>
        <p:txBody>
          <a:bodyPr wrap="square" lIns="18288" tIns="18288" rIns="18288" bIns="18288">
            <a:spAutoFit/>
          </a:bodyPr>
          <a:lstStyle/>
          <a:p>
            <a:pPr>
              <a:spcBef>
                <a:spcPts val="0"/>
              </a:spcBef>
              <a:spcAft>
                <a:spcPts val="0"/>
              </a:spcAft>
              <a:defRPr sz="1700" b="1">
                <a:solidFill>
                  <a:srgbClr val="172A31"/>
                </a:solidFill>
                <a:latin typeface="Aptos"/>
              </a:defRPr>
            </a:pPr>
            <a:r>
              <a:rPr/>
              <a:t>La tâche cochée doit rester après le redémarrage.</a:t>
            </a:r>
            <a:endParaRPr/>
          </a:p>
        </p:txBody>
      </p:sp>
      <p:sp>
        <p:nvSpPr>
          <p:cNvPr id="2085219472" name="TextBox 11"/>
          <p:cNvSpPr txBox="1"/>
          <p:nvPr/>
        </p:nvSpPr>
        <p:spPr bwMode="auto">
          <a:xfrm>
            <a:off x="1655063" y="2432303"/>
            <a:ext cx="4069080" cy="621792"/>
          </a:xfrm>
          <a:prstGeom prst="rect">
            <a:avLst/>
          </a:prstGeom>
          <a:noFill/>
        </p:spPr>
        <p:txBody>
          <a:bodyPr wrap="square" lIns="18288" tIns="18288" rIns="18288" bIns="18288">
            <a:spAutoFit/>
          </a:bodyPr>
          <a:lstStyle/>
          <a:p>
            <a:pPr>
              <a:spcBef>
                <a:spcPts val="0"/>
              </a:spcBef>
              <a:spcAft>
                <a:spcPts val="0"/>
              </a:spcAft>
              <a:defRPr sz="1600" b="0">
                <a:solidFill>
                  <a:srgbClr val="2C9B65"/>
                </a:solidFill>
                <a:latin typeface="Aptos"/>
              </a:defRPr>
            </a:pPr>
            <a:r>
              <a:rPr/>
              <a:t>Room, DataStore ou SavedStateHandle ?</a:t>
            </a:r>
            <a:endParaRPr/>
          </a:p>
        </p:txBody>
      </p:sp>
      <p:sp>
        <p:nvSpPr>
          <p:cNvPr id="393770891" name="Rounded Rectangle 12"/>
          <p:cNvSpPr/>
          <p:nvPr/>
        </p:nvSpPr>
        <p:spPr bwMode="auto">
          <a:xfrm>
            <a:off x="6345936" y="1426464"/>
            <a:ext cx="5340096" cy="1874519"/>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7622948" name="Rectangle 13"/>
          <p:cNvSpPr/>
          <p:nvPr/>
        </p:nvSpPr>
        <p:spPr bwMode="auto">
          <a:xfrm>
            <a:off x="6345936" y="1426464"/>
            <a:ext cx="118872" cy="1874519"/>
          </a:xfrm>
          <a:prstGeom prst="rect">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5400798" name="TextBox 14"/>
          <p:cNvSpPr txBox="1"/>
          <p:nvPr/>
        </p:nvSpPr>
        <p:spPr bwMode="auto">
          <a:xfrm>
            <a:off x="6620255" y="1609344"/>
            <a:ext cx="502920" cy="320040"/>
          </a:xfrm>
          <a:prstGeom prst="rect">
            <a:avLst/>
          </a:prstGeom>
          <a:noFill/>
        </p:spPr>
        <p:txBody>
          <a:bodyPr wrap="square" lIns="18288" tIns="18288" rIns="18288" bIns="18288">
            <a:spAutoFit/>
          </a:bodyPr>
          <a:lstStyle/>
          <a:p>
            <a:pPr>
              <a:spcBef>
                <a:spcPts val="0"/>
              </a:spcBef>
              <a:spcAft>
                <a:spcPts val="0"/>
              </a:spcAft>
              <a:defRPr sz="1500" b="1">
                <a:solidFill>
                  <a:srgbClr val="317AB5"/>
                </a:solidFill>
                <a:latin typeface="Aptos"/>
              </a:defRPr>
            </a:pPr>
            <a:r>
              <a:rPr/>
              <a:t>02</a:t>
            </a:r>
            <a:endParaRPr/>
          </a:p>
        </p:txBody>
      </p:sp>
      <p:sp>
        <p:nvSpPr>
          <p:cNvPr id="302011298" name="TextBox 15"/>
          <p:cNvSpPr txBox="1"/>
          <p:nvPr/>
        </p:nvSpPr>
        <p:spPr bwMode="auto">
          <a:xfrm>
            <a:off x="7260336" y="1618488"/>
            <a:ext cx="4087368" cy="612648"/>
          </a:xfrm>
          <a:prstGeom prst="rect">
            <a:avLst/>
          </a:prstGeom>
          <a:noFill/>
        </p:spPr>
        <p:txBody>
          <a:bodyPr wrap="square" lIns="18288" tIns="18288" rIns="18288" bIns="18288">
            <a:spAutoFit/>
          </a:bodyPr>
          <a:lstStyle/>
          <a:p>
            <a:pPr>
              <a:spcBef>
                <a:spcPts val="0"/>
              </a:spcBef>
              <a:spcAft>
                <a:spcPts val="0"/>
              </a:spcAft>
              <a:defRPr sz="1700" b="1">
                <a:solidFill>
                  <a:srgbClr val="172A31"/>
                </a:solidFill>
                <a:latin typeface="Aptos"/>
              </a:defRPr>
            </a:pPr>
            <a:r>
              <a:rPr/>
              <a:t>L’utilisateur choisit le thème sombre.</a:t>
            </a:r>
            <a:endParaRPr/>
          </a:p>
        </p:txBody>
      </p:sp>
      <p:sp>
        <p:nvSpPr>
          <p:cNvPr id="7238497" name="TextBox 16"/>
          <p:cNvSpPr txBox="1"/>
          <p:nvPr/>
        </p:nvSpPr>
        <p:spPr bwMode="auto">
          <a:xfrm>
            <a:off x="7260336" y="2432303"/>
            <a:ext cx="4069080" cy="621792"/>
          </a:xfrm>
          <a:prstGeom prst="rect">
            <a:avLst/>
          </a:prstGeom>
          <a:noFill/>
        </p:spPr>
        <p:txBody>
          <a:bodyPr wrap="square" lIns="18288" tIns="18288" rIns="18288" bIns="18288">
            <a:spAutoFit/>
          </a:bodyPr>
          <a:lstStyle/>
          <a:p>
            <a:pPr>
              <a:spcBef>
                <a:spcPts val="0"/>
              </a:spcBef>
              <a:spcAft>
                <a:spcPts val="0"/>
              </a:spcAft>
              <a:defRPr sz="1600" b="0">
                <a:solidFill>
                  <a:srgbClr val="317AB5"/>
                </a:solidFill>
                <a:latin typeface="Aptos"/>
              </a:defRPr>
            </a:pPr>
            <a:r>
              <a:rPr/>
              <a:t>Où garder ce choix ?</a:t>
            </a:r>
            <a:endParaRPr/>
          </a:p>
        </p:txBody>
      </p:sp>
      <p:sp>
        <p:nvSpPr>
          <p:cNvPr id="310593367" name="Rounded Rectangle 17"/>
          <p:cNvSpPr/>
          <p:nvPr/>
        </p:nvSpPr>
        <p:spPr bwMode="auto">
          <a:xfrm>
            <a:off x="740664" y="3593592"/>
            <a:ext cx="5340096" cy="1874519"/>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6555992" name="Rectangle 18"/>
          <p:cNvSpPr/>
          <p:nvPr/>
        </p:nvSpPr>
        <p:spPr bwMode="auto">
          <a:xfrm>
            <a:off x="740664" y="3593592"/>
            <a:ext cx="118872" cy="1874519"/>
          </a:xfrm>
          <a:prstGeom prst="rect">
            <a:avLst/>
          </a:prstGeom>
          <a:solidFill>
            <a:srgbClr val="6A60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3241408" name="TextBox 19"/>
          <p:cNvSpPr txBox="1"/>
          <p:nvPr/>
        </p:nvSpPr>
        <p:spPr bwMode="auto">
          <a:xfrm>
            <a:off x="1014984" y="3776472"/>
            <a:ext cx="502920" cy="320040"/>
          </a:xfrm>
          <a:prstGeom prst="rect">
            <a:avLst/>
          </a:prstGeom>
          <a:noFill/>
        </p:spPr>
        <p:txBody>
          <a:bodyPr wrap="square" lIns="18288" tIns="18288" rIns="18288" bIns="18288">
            <a:spAutoFit/>
          </a:bodyPr>
          <a:lstStyle/>
          <a:p>
            <a:pPr>
              <a:spcBef>
                <a:spcPts val="0"/>
              </a:spcBef>
              <a:spcAft>
                <a:spcPts val="0"/>
              </a:spcAft>
              <a:defRPr sz="1500" b="1">
                <a:solidFill>
                  <a:srgbClr val="6A60AC"/>
                </a:solidFill>
                <a:latin typeface="Aptos"/>
              </a:defRPr>
            </a:pPr>
            <a:r>
              <a:rPr/>
              <a:t>03</a:t>
            </a:r>
            <a:endParaRPr/>
          </a:p>
        </p:txBody>
      </p:sp>
      <p:sp>
        <p:nvSpPr>
          <p:cNvPr id="1890907805" name="TextBox 20"/>
          <p:cNvSpPr txBox="1"/>
          <p:nvPr/>
        </p:nvSpPr>
        <p:spPr bwMode="auto">
          <a:xfrm>
            <a:off x="1655063" y="3785616"/>
            <a:ext cx="4087368" cy="612648"/>
          </a:xfrm>
          <a:prstGeom prst="rect">
            <a:avLst/>
          </a:prstGeom>
          <a:noFill/>
        </p:spPr>
        <p:txBody>
          <a:bodyPr wrap="square" lIns="18288" tIns="18288" rIns="18288" bIns="18288">
            <a:spAutoFit/>
          </a:bodyPr>
          <a:lstStyle/>
          <a:p>
            <a:pPr>
              <a:spcBef>
                <a:spcPts val="0"/>
              </a:spcBef>
              <a:spcAft>
                <a:spcPts val="0"/>
              </a:spcAft>
              <a:defRPr sz="1700" b="1">
                <a:solidFill>
                  <a:srgbClr val="172A31"/>
                </a:solidFill>
                <a:latin typeface="Aptos"/>
              </a:defRPr>
            </a:pPr>
            <a:r>
              <a:rPr/>
              <a:t>Une recherche est en cours ; l’écran tourne.</a:t>
            </a:r>
            <a:endParaRPr/>
          </a:p>
        </p:txBody>
      </p:sp>
      <p:sp>
        <p:nvSpPr>
          <p:cNvPr id="1177563158" name="TextBox 21"/>
          <p:cNvSpPr txBox="1"/>
          <p:nvPr/>
        </p:nvSpPr>
        <p:spPr bwMode="auto">
          <a:xfrm>
            <a:off x="1655063" y="4599432"/>
            <a:ext cx="4069080" cy="621792"/>
          </a:xfrm>
          <a:prstGeom prst="rect">
            <a:avLst/>
          </a:prstGeom>
          <a:noFill/>
        </p:spPr>
        <p:txBody>
          <a:bodyPr wrap="square" lIns="18288" tIns="18288" rIns="18288" bIns="18288">
            <a:spAutoFit/>
          </a:bodyPr>
          <a:lstStyle/>
          <a:p>
            <a:pPr>
              <a:spcBef>
                <a:spcPts val="0"/>
              </a:spcBef>
              <a:spcAft>
                <a:spcPts val="0"/>
              </a:spcAft>
              <a:defRPr sz="1600" b="0">
                <a:solidFill>
                  <a:srgbClr val="6A60AC"/>
                </a:solidFill>
                <a:latin typeface="Aptos"/>
              </a:defRPr>
            </a:pPr>
            <a:r>
              <a:rPr/>
              <a:t>Que préserver, et comment ?</a:t>
            </a:r>
            <a:endParaRPr/>
          </a:p>
        </p:txBody>
      </p:sp>
      <p:sp>
        <p:nvSpPr>
          <p:cNvPr id="165404038" name="Rounded Rectangle 22"/>
          <p:cNvSpPr/>
          <p:nvPr/>
        </p:nvSpPr>
        <p:spPr bwMode="auto">
          <a:xfrm>
            <a:off x="6345936" y="3593592"/>
            <a:ext cx="5340096" cy="1874519"/>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1356746" name="Rectangle 23"/>
          <p:cNvSpPr/>
          <p:nvPr/>
        </p:nvSpPr>
        <p:spPr bwMode="auto">
          <a:xfrm>
            <a:off x="6345936" y="3593592"/>
            <a:ext cx="118872" cy="1874519"/>
          </a:xfrm>
          <a:prstGeom prst="rect">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9042629" name="TextBox 24"/>
          <p:cNvSpPr txBox="1"/>
          <p:nvPr/>
        </p:nvSpPr>
        <p:spPr bwMode="auto">
          <a:xfrm>
            <a:off x="6620255" y="3776472"/>
            <a:ext cx="502920" cy="320040"/>
          </a:xfrm>
          <a:prstGeom prst="rect">
            <a:avLst/>
          </a:prstGeom>
          <a:noFill/>
        </p:spPr>
        <p:txBody>
          <a:bodyPr wrap="square" lIns="18288" tIns="18288" rIns="18288" bIns="18288">
            <a:spAutoFit/>
          </a:bodyPr>
          <a:lstStyle/>
          <a:p>
            <a:pPr>
              <a:spcBef>
                <a:spcPts val="0"/>
              </a:spcBef>
              <a:spcAft>
                <a:spcPts val="0"/>
              </a:spcAft>
              <a:defRPr sz="1500" b="1">
                <a:solidFill>
                  <a:srgbClr val="C68532"/>
                </a:solidFill>
                <a:latin typeface="Aptos"/>
              </a:defRPr>
            </a:pPr>
            <a:r>
              <a:rPr/>
              <a:t>04</a:t>
            </a:r>
            <a:endParaRPr/>
          </a:p>
        </p:txBody>
      </p:sp>
      <p:sp>
        <p:nvSpPr>
          <p:cNvPr id="1352263464" name="TextBox 25"/>
          <p:cNvSpPr txBox="1"/>
          <p:nvPr/>
        </p:nvSpPr>
        <p:spPr bwMode="auto">
          <a:xfrm>
            <a:off x="7260336" y="3785616"/>
            <a:ext cx="4087368" cy="612648"/>
          </a:xfrm>
          <a:prstGeom prst="rect">
            <a:avLst/>
          </a:prstGeom>
          <a:noFill/>
        </p:spPr>
        <p:txBody>
          <a:bodyPr wrap="square" lIns="18288" tIns="18288" rIns="18288" bIns="18288">
            <a:spAutoFit/>
          </a:bodyPr>
          <a:lstStyle/>
          <a:p>
            <a:pPr>
              <a:spcBef>
                <a:spcPts val="0"/>
              </a:spcBef>
              <a:spcAft>
                <a:spcPts val="0"/>
              </a:spcAft>
              <a:defRPr sz="1700" b="1">
                <a:solidFill>
                  <a:srgbClr val="172A31"/>
                </a:solidFill>
                <a:latin typeface="Aptos"/>
              </a:defRPr>
            </a:pPr>
            <a:r>
              <a:rPr/>
              <a:t>On ajoute completed INTEGER NOT NULL.</a:t>
            </a:r>
            <a:endParaRPr/>
          </a:p>
        </p:txBody>
      </p:sp>
      <p:sp>
        <p:nvSpPr>
          <p:cNvPr id="1048821795" name="TextBox 26"/>
          <p:cNvSpPr txBox="1"/>
          <p:nvPr/>
        </p:nvSpPr>
        <p:spPr bwMode="auto">
          <a:xfrm>
            <a:off x="7260336" y="4599432"/>
            <a:ext cx="4069080" cy="621792"/>
          </a:xfrm>
          <a:prstGeom prst="rect">
            <a:avLst/>
          </a:prstGeom>
          <a:noFill/>
        </p:spPr>
        <p:txBody>
          <a:bodyPr wrap="square" lIns="18288" tIns="18288" rIns="18288" bIns="18288">
            <a:spAutoFit/>
          </a:bodyPr>
          <a:lstStyle/>
          <a:p>
            <a:pPr>
              <a:spcBef>
                <a:spcPts val="0"/>
              </a:spcBef>
              <a:spcAft>
                <a:spcPts val="0"/>
              </a:spcAft>
              <a:defRPr sz="1600" b="0">
                <a:solidFill>
                  <a:srgbClr val="C68532"/>
                </a:solidFill>
                <a:latin typeface="Aptos"/>
              </a:defRPr>
            </a:pPr>
            <a:r>
              <a:rPr/>
              <a:t>Pourquoi faut-il DEFAULT 0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9F6"/>
        </a:solidFill>
      </p:bgPr>
    </p:bg>
    <p:spTree>
      <p:nvGrpSpPr>
        <p:cNvPr id="1" name=""/>
        <p:cNvGrpSpPr/>
        <p:nvPr/>
      </p:nvGrpSpPr>
      <p:grpSpPr bwMode="auto">
        <a:xfrm>
          <a:off x="0" y="0"/>
          <a:ext cx="0" cy="0"/>
          <a:chOff x="0" y="0"/>
          <a:chExt cx="0" cy="0"/>
        </a:xfrm>
      </p:grpSpPr>
      <p:sp>
        <p:nvSpPr>
          <p:cNvPr id="378733647" name="TextBox 1"/>
          <p:cNvSpPr txBox="1"/>
          <p:nvPr/>
        </p:nvSpPr>
        <p:spPr bwMode="auto">
          <a:xfrm>
            <a:off x="585216" y="438912"/>
            <a:ext cx="10927079" cy="502920"/>
          </a:xfrm>
          <a:prstGeom prst="rect">
            <a:avLst/>
          </a:prstGeom>
          <a:noFill/>
        </p:spPr>
        <p:txBody>
          <a:bodyPr wrap="square" lIns="18288" tIns="18288" rIns="18288" bIns="18288">
            <a:spAutoFit/>
          </a:bodyPr>
          <a:lstStyle/>
          <a:p>
            <a:pPr>
              <a:spcBef>
                <a:spcPts val="0"/>
              </a:spcBef>
              <a:spcAft>
                <a:spcPts val="0"/>
              </a:spcAft>
              <a:defRPr sz="2900" b="1">
                <a:solidFill>
                  <a:srgbClr val="172A31"/>
                </a:solidFill>
                <a:latin typeface="Aptos"/>
              </a:defRPr>
            </a:pPr>
            <a:r>
              <a:rPr/>
              <a:t>À retenir</a:t>
            </a:r>
            <a:endParaRPr/>
          </a:p>
        </p:txBody>
      </p:sp>
      <p:sp>
        <p:nvSpPr>
          <p:cNvPr id="1973704841" name="TextBox 2"/>
          <p:cNvSpPr txBox="1"/>
          <p:nvPr/>
        </p:nvSpPr>
        <p:spPr bwMode="auto">
          <a:xfrm>
            <a:off x="603504" y="932688"/>
            <a:ext cx="10059479" cy="280775"/>
          </a:xfrm>
          <a:prstGeom prst="rect">
            <a:avLst/>
          </a:prstGeom>
          <a:noFill/>
        </p:spPr>
        <p:txBody>
          <a:bodyPr wrap="square" lIns="18288" tIns="18288" rIns="18288" bIns="18288">
            <a:spAutoFit/>
          </a:bodyPr>
          <a:lstStyle/>
          <a:p>
            <a:pPr>
              <a:spcBef>
                <a:spcPts val="0"/>
              </a:spcBef>
              <a:spcAft>
                <a:spcPts val="0"/>
              </a:spcAft>
              <a:defRPr sz="1100" b="1">
                <a:solidFill>
                  <a:srgbClr val="176D70"/>
                </a:solidFill>
                <a:latin typeface="Aptos"/>
              </a:defRPr>
            </a:pPr>
            <a:r>
              <a:rPr sz="1600"/>
              <a:t>Le parcours de « Préparer le TP »</a:t>
            </a:r>
            <a:endParaRPr sz="1600"/>
          </a:p>
        </p:txBody>
      </p:sp>
      <p:cxnSp>
        <p:nvCxnSpPr>
          <p:cNvPr id="702067728" name="Connector 3"/>
          <p:cNvCxnSpPr/>
          <p:nvPr/>
        </p:nvCxnSpPr>
        <p:spPr bwMode="auto">
          <a:xfrm>
            <a:off x="603504" y="6528816"/>
            <a:ext cx="10991088" cy="0"/>
          </a:xfrm>
          <a:prstGeom prst="line">
            <a:avLst/>
          </a:prstGeom>
          <a:ln w="8890">
            <a:solidFill>
              <a:srgbClr val="CCD8D5"/>
            </a:solidFill>
          </a:ln>
        </p:spPr>
        <p:style>
          <a:lnRef idx="2">
            <a:schemeClr val="accent1"/>
          </a:lnRef>
          <a:fillRef idx="0">
            <a:schemeClr val="accent1"/>
          </a:fillRef>
          <a:effectRef idx="1">
            <a:schemeClr val="accent1"/>
          </a:effectRef>
          <a:fontRef idx="minor">
            <a:schemeClr val="tx1"/>
          </a:fontRef>
        </p:style>
      </p:cxnSp>
      <p:sp>
        <p:nvSpPr>
          <p:cNvPr id="1591116538" name="TextBox 4"/>
          <p:cNvSpPr txBox="1"/>
          <p:nvPr/>
        </p:nvSpPr>
        <p:spPr bwMode="auto">
          <a:xfrm>
            <a:off x="621792" y="6574536"/>
            <a:ext cx="2926080" cy="164592"/>
          </a:xfrm>
          <a:prstGeom prst="rect">
            <a:avLst/>
          </a:prstGeom>
          <a:noFill/>
        </p:spPr>
        <p:txBody>
          <a:bodyPr wrap="square" lIns="18288" tIns="18288" rIns="18288" bIns="18288">
            <a:spAutoFit/>
          </a:bodyPr>
          <a:lstStyle/>
          <a:p>
            <a:pPr>
              <a:spcBef>
                <a:spcPts val="0"/>
              </a:spcBef>
              <a:spcAft>
                <a:spcPts val="0"/>
              </a:spcAft>
              <a:defRPr sz="900" b="0">
                <a:solidFill>
                  <a:srgbClr val="53666D"/>
                </a:solidFill>
                <a:latin typeface="Aptos"/>
              </a:defRPr>
            </a:pPr>
            <a:r>
              <a:rPr/>
              <a:t>Janna GUDUMAC</a:t>
            </a:r>
            <a:endParaRPr/>
          </a:p>
        </p:txBody>
      </p:sp>
      <p:sp>
        <p:nvSpPr>
          <p:cNvPr id="357564595" name="TextBox 5"/>
          <p:cNvSpPr txBox="1"/>
          <p:nvPr/>
        </p:nvSpPr>
        <p:spPr bwMode="auto">
          <a:xfrm>
            <a:off x="8650224" y="6574536"/>
            <a:ext cx="2606040" cy="164592"/>
          </a:xfrm>
          <a:prstGeom prst="rect">
            <a:avLst/>
          </a:prstGeom>
          <a:noFill/>
        </p:spPr>
        <p:txBody>
          <a:bodyPr wrap="square" lIns="18288" tIns="18288" rIns="18288" bIns="18288">
            <a:spAutoFit/>
          </a:bodyPr>
          <a:lstStyle/>
          <a:p>
            <a:pPr algn="r">
              <a:spcBef>
                <a:spcPts val="0"/>
              </a:spcBef>
              <a:spcAft>
                <a:spcPts val="0"/>
              </a:spcAft>
              <a:defRPr sz="900" b="0">
                <a:solidFill>
                  <a:srgbClr val="53666D"/>
                </a:solidFill>
                <a:latin typeface="Aptos"/>
              </a:defRPr>
            </a:pPr>
            <a:r>
              <a:rPr/>
              <a:t>MiniTodo  ·  Android / Java</a:t>
            </a:r>
            <a:endParaRPr/>
          </a:p>
        </p:txBody>
      </p:sp>
      <p:sp>
        <p:nvSpPr>
          <p:cNvPr id="1537393857" name="TextBox 6"/>
          <p:cNvSpPr txBox="1"/>
          <p:nvPr/>
        </p:nvSpPr>
        <p:spPr bwMode="auto">
          <a:xfrm>
            <a:off x="11365992" y="6547104"/>
            <a:ext cx="219456" cy="219456"/>
          </a:xfrm>
          <a:prstGeom prst="rect">
            <a:avLst/>
          </a:prstGeom>
          <a:noFill/>
        </p:spPr>
        <p:txBody>
          <a:bodyPr wrap="square" lIns="18288" tIns="18288" rIns="18288" bIns="18288">
            <a:spAutoFit/>
          </a:bodyPr>
          <a:lstStyle/>
          <a:p>
            <a:pPr algn="r">
              <a:spcBef>
                <a:spcPts val="0"/>
              </a:spcBef>
              <a:spcAft>
                <a:spcPts val="0"/>
              </a:spcAft>
              <a:defRPr sz="900" b="1">
                <a:solidFill>
                  <a:srgbClr val="176D70"/>
                </a:solidFill>
                <a:latin typeface="Aptos"/>
              </a:defRPr>
            </a:pPr>
            <a:r>
              <a:rPr/>
              <a:t>18</a:t>
            </a:r>
            <a:endParaRPr/>
          </a:p>
        </p:txBody>
      </p:sp>
      <p:sp>
        <p:nvSpPr>
          <p:cNvPr id="1526428020" name="Rounded Rectangle 7"/>
          <p:cNvSpPr/>
          <p:nvPr/>
        </p:nvSpPr>
        <p:spPr bwMode="auto">
          <a:xfrm>
            <a:off x="722376" y="1554480"/>
            <a:ext cx="1691640" cy="749808"/>
          </a:xfrm>
          <a:prstGeom prst="roundRect">
            <a:avLst>
              <a:gd name="adj" fmla="val 8000"/>
            </a:avLst>
          </a:prstGeom>
          <a:solidFill>
            <a:srgbClr val="31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82652400" name="TextBox 8"/>
          <p:cNvSpPr txBox="1"/>
          <p:nvPr/>
        </p:nvSpPr>
        <p:spPr bwMode="auto">
          <a:xfrm>
            <a:off x="768096"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UI</a:t>
            </a:r>
            <a:endParaRPr/>
          </a:p>
        </p:txBody>
      </p:sp>
      <p:cxnSp>
        <p:nvCxnSpPr>
          <p:cNvPr id="8938627" name="Connector 9"/>
          <p:cNvCxnSpPr/>
          <p:nvPr/>
        </p:nvCxnSpPr>
        <p:spPr bwMode="auto">
          <a:xfrm>
            <a:off x="2441448" y="1929384"/>
            <a:ext cx="182880" cy="0"/>
          </a:xfrm>
          <a:prstGeom prst="line">
            <a:avLst/>
          </a:prstGeom>
          <a:ln w="1905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2073634398" name="Rounded Rectangle 10"/>
          <p:cNvSpPr/>
          <p:nvPr/>
        </p:nvSpPr>
        <p:spPr bwMode="auto">
          <a:xfrm>
            <a:off x="2651760" y="1554480"/>
            <a:ext cx="1691640" cy="749808"/>
          </a:xfrm>
          <a:prstGeom prst="roundRect">
            <a:avLst>
              <a:gd name="adj" fmla="val 8000"/>
            </a:avLst>
          </a:prstGeom>
          <a:solidFill>
            <a:srgbClr val="6A60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6750842" name="TextBox 11"/>
          <p:cNvSpPr txBox="1"/>
          <p:nvPr/>
        </p:nvSpPr>
        <p:spPr bwMode="auto">
          <a:xfrm>
            <a:off x="2697479"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ViewModel</a:t>
            </a:r>
            <a:endParaRPr/>
          </a:p>
        </p:txBody>
      </p:sp>
      <p:cxnSp>
        <p:nvCxnSpPr>
          <p:cNvPr id="1207797475" name="Connector 12"/>
          <p:cNvCxnSpPr/>
          <p:nvPr/>
        </p:nvCxnSpPr>
        <p:spPr bwMode="auto">
          <a:xfrm>
            <a:off x="4370831" y="1929384"/>
            <a:ext cx="182881" cy="0"/>
          </a:xfrm>
          <a:prstGeom prst="line">
            <a:avLst/>
          </a:prstGeom>
          <a:ln w="1905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939232633" name="Rounded Rectangle 13"/>
          <p:cNvSpPr/>
          <p:nvPr/>
        </p:nvSpPr>
        <p:spPr bwMode="auto">
          <a:xfrm>
            <a:off x="4581144" y="1554480"/>
            <a:ext cx="1691640" cy="749808"/>
          </a:xfrm>
          <a:prstGeom prst="roundRect">
            <a:avLst>
              <a:gd name="adj" fmla="val 8000"/>
            </a:avLst>
          </a:prstGeom>
          <a:solidFill>
            <a:srgbClr val="C68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3935863" name="TextBox 14"/>
          <p:cNvSpPr txBox="1"/>
          <p:nvPr/>
        </p:nvSpPr>
        <p:spPr bwMode="auto">
          <a:xfrm>
            <a:off x="4626864"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Repository</a:t>
            </a:r>
            <a:endParaRPr/>
          </a:p>
        </p:txBody>
      </p:sp>
      <p:cxnSp>
        <p:nvCxnSpPr>
          <p:cNvPr id="1652482943" name="Connector 15"/>
          <p:cNvCxnSpPr/>
          <p:nvPr/>
        </p:nvCxnSpPr>
        <p:spPr bwMode="auto">
          <a:xfrm>
            <a:off x="6300216" y="1929384"/>
            <a:ext cx="182880" cy="0"/>
          </a:xfrm>
          <a:prstGeom prst="line">
            <a:avLst/>
          </a:prstGeom>
          <a:ln w="1905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936409122" name="Rounded Rectangle 16"/>
          <p:cNvSpPr/>
          <p:nvPr/>
        </p:nvSpPr>
        <p:spPr bwMode="auto">
          <a:xfrm>
            <a:off x="6510528" y="1554480"/>
            <a:ext cx="1691640" cy="749808"/>
          </a:xfrm>
          <a:prstGeom prst="roundRect">
            <a:avLst>
              <a:gd name="adj" fmla="val 8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5183301" name="TextBox 17"/>
          <p:cNvSpPr txBox="1"/>
          <p:nvPr/>
        </p:nvSpPr>
        <p:spPr bwMode="auto">
          <a:xfrm>
            <a:off x="6556248"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DAO</a:t>
            </a:r>
            <a:endParaRPr/>
          </a:p>
        </p:txBody>
      </p:sp>
      <p:cxnSp>
        <p:nvCxnSpPr>
          <p:cNvPr id="2009865943" name="Connector 18"/>
          <p:cNvCxnSpPr/>
          <p:nvPr/>
        </p:nvCxnSpPr>
        <p:spPr bwMode="auto">
          <a:xfrm>
            <a:off x="8229600" y="1929384"/>
            <a:ext cx="182880" cy="0"/>
          </a:xfrm>
          <a:prstGeom prst="line">
            <a:avLst/>
          </a:prstGeom>
          <a:ln w="1905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132215043" name="Rounded Rectangle 19"/>
          <p:cNvSpPr/>
          <p:nvPr/>
        </p:nvSpPr>
        <p:spPr bwMode="auto">
          <a:xfrm>
            <a:off x="8439912" y="1554480"/>
            <a:ext cx="1691640" cy="749808"/>
          </a:xfrm>
          <a:prstGeom prst="roundRect">
            <a:avLst>
              <a:gd name="adj" fmla="val 8000"/>
            </a:avLst>
          </a:prstGeom>
          <a:solidFill>
            <a:srgbClr val="2C9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5848630" name="TextBox 20"/>
          <p:cNvSpPr txBox="1"/>
          <p:nvPr/>
        </p:nvSpPr>
        <p:spPr bwMode="auto">
          <a:xfrm>
            <a:off x="8485632"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Room</a:t>
            </a:r>
            <a:endParaRPr/>
          </a:p>
        </p:txBody>
      </p:sp>
      <p:cxnSp>
        <p:nvCxnSpPr>
          <p:cNvPr id="260110103" name="Connector 21"/>
          <p:cNvCxnSpPr/>
          <p:nvPr/>
        </p:nvCxnSpPr>
        <p:spPr bwMode="auto">
          <a:xfrm>
            <a:off x="10158984" y="1929384"/>
            <a:ext cx="182880" cy="0"/>
          </a:xfrm>
          <a:prstGeom prst="line">
            <a:avLst/>
          </a:prstGeom>
          <a:ln w="19050">
            <a:solidFill>
              <a:srgbClr val="172A31"/>
            </a:solidFill>
            <a:tailEnd type="triangle"/>
          </a:ln>
        </p:spPr>
        <p:style>
          <a:lnRef idx="2">
            <a:schemeClr val="accent1"/>
          </a:lnRef>
          <a:fillRef idx="0">
            <a:schemeClr val="accent1"/>
          </a:fillRef>
          <a:effectRef idx="1">
            <a:schemeClr val="accent1"/>
          </a:effectRef>
          <a:fontRef idx="minor">
            <a:schemeClr val="tx1"/>
          </a:fontRef>
        </p:style>
      </p:cxnSp>
      <p:sp>
        <p:nvSpPr>
          <p:cNvPr id="361498878" name="Rounded Rectangle 22"/>
          <p:cNvSpPr/>
          <p:nvPr/>
        </p:nvSpPr>
        <p:spPr bwMode="auto">
          <a:xfrm>
            <a:off x="10369296" y="1554480"/>
            <a:ext cx="1691640" cy="749808"/>
          </a:xfrm>
          <a:prstGeom prst="roundRect">
            <a:avLst>
              <a:gd name="adj" fmla="val 8000"/>
            </a:avLst>
          </a:prstGeom>
          <a:solidFill>
            <a:srgbClr val="176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9962471" name="TextBox 23"/>
          <p:cNvSpPr txBox="1"/>
          <p:nvPr/>
        </p:nvSpPr>
        <p:spPr bwMode="auto">
          <a:xfrm>
            <a:off x="10415016" y="1755648"/>
            <a:ext cx="1600200" cy="329184"/>
          </a:xfrm>
          <a:prstGeom prst="rect">
            <a:avLst/>
          </a:prstGeom>
          <a:noFill/>
        </p:spPr>
        <p:txBody>
          <a:bodyPr wrap="square" lIns="18288" tIns="18288" rIns="18288" bIns="18288">
            <a:spAutoFit/>
          </a:bodyPr>
          <a:lstStyle/>
          <a:p>
            <a:pPr algn="ctr">
              <a:spcBef>
                <a:spcPts val="0"/>
              </a:spcBef>
              <a:spcAft>
                <a:spcPts val="0"/>
              </a:spcAft>
              <a:defRPr sz="1800" b="1">
                <a:solidFill>
                  <a:srgbClr val="FFFFFF"/>
                </a:solidFill>
                <a:latin typeface="Aptos"/>
              </a:defRPr>
            </a:pPr>
            <a:r>
              <a:rPr/>
              <a:t>SQLite</a:t>
            </a:r>
            <a:endParaRPr/>
          </a:p>
        </p:txBody>
      </p:sp>
      <p:sp>
        <p:nvSpPr>
          <p:cNvPr id="1590533877" name="Rounded Rectangle 24"/>
          <p:cNvSpPr/>
          <p:nvPr/>
        </p:nvSpPr>
        <p:spPr bwMode="auto">
          <a:xfrm>
            <a:off x="822960" y="2953512"/>
            <a:ext cx="5312664" cy="960120"/>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6143439" name="TextBox 25"/>
          <p:cNvSpPr txBox="1"/>
          <p:nvPr/>
        </p:nvSpPr>
        <p:spPr bwMode="auto">
          <a:xfrm>
            <a:off x="987552" y="3200400"/>
            <a:ext cx="411480" cy="320040"/>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a:t>01</a:t>
            </a:r>
            <a:endParaRPr/>
          </a:p>
        </p:txBody>
      </p:sp>
      <p:sp>
        <p:nvSpPr>
          <p:cNvPr id="876541399" name="TextBox 26"/>
          <p:cNvSpPr txBox="1"/>
          <p:nvPr/>
        </p:nvSpPr>
        <p:spPr bwMode="auto">
          <a:xfrm>
            <a:off x="1545336" y="3090672"/>
            <a:ext cx="4425696" cy="29260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Persister</a:t>
            </a:r>
            <a:endParaRPr/>
          </a:p>
        </p:txBody>
      </p:sp>
      <p:sp>
        <p:nvSpPr>
          <p:cNvPr id="1009041266" name="TextBox 27"/>
          <p:cNvSpPr txBox="1"/>
          <p:nvPr/>
        </p:nvSpPr>
        <p:spPr bwMode="auto">
          <a:xfrm>
            <a:off x="1545336" y="3429000"/>
            <a:ext cx="4443984" cy="347472"/>
          </a:xfrm>
          <a:prstGeom prst="rect">
            <a:avLst/>
          </a:prstGeom>
          <a:noFill/>
        </p:spPr>
        <p:txBody>
          <a:bodyPr wrap="square" lIns="18288" tIns="18288" rIns="18288" bIns="18288">
            <a:spAutoFit/>
          </a:bodyPr>
          <a:lstStyle/>
          <a:p>
            <a:pPr>
              <a:spcBef>
                <a:spcPts val="0"/>
              </a:spcBef>
              <a:spcAft>
                <a:spcPts val="0"/>
              </a:spcAft>
              <a:defRPr sz="1500" b="0">
                <a:solidFill>
                  <a:srgbClr val="53666D"/>
                </a:solidFill>
                <a:latin typeface="Aptos"/>
              </a:defRPr>
            </a:pPr>
            <a:r>
              <a:rPr/>
              <a:t>garder au-delà de l’exécution.</a:t>
            </a:r>
            <a:endParaRPr/>
          </a:p>
        </p:txBody>
      </p:sp>
      <p:sp>
        <p:nvSpPr>
          <p:cNvPr id="1187432420" name="Rounded Rectangle 28"/>
          <p:cNvSpPr/>
          <p:nvPr/>
        </p:nvSpPr>
        <p:spPr bwMode="auto">
          <a:xfrm>
            <a:off x="6400800" y="2953512"/>
            <a:ext cx="5312664" cy="960120"/>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6909799" name="TextBox 29"/>
          <p:cNvSpPr txBox="1"/>
          <p:nvPr/>
        </p:nvSpPr>
        <p:spPr bwMode="auto">
          <a:xfrm>
            <a:off x="6565392" y="3200400"/>
            <a:ext cx="411480" cy="320040"/>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a:t>02</a:t>
            </a:r>
            <a:endParaRPr/>
          </a:p>
        </p:txBody>
      </p:sp>
      <p:sp>
        <p:nvSpPr>
          <p:cNvPr id="1802767807" name="TextBox 30"/>
          <p:cNvSpPr txBox="1"/>
          <p:nvPr/>
        </p:nvSpPr>
        <p:spPr bwMode="auto">
          <a:xfrm>
            <a:off x="7123176" y="3090672"/>
            <a:ext cx="4425696" cy="29260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Choisir</a:t>
            </a:r>
            <a:endParaRPr/>
          </a:p>
        </p:txBody>
      </p:sp>
      <p:sp>
        <p:nvSpPr>
          <p:cNvPr id="68601216" name="TextBox 31"/>
          <p:cNvSpPr txBox="1"/>
          <p:nvPr/>
        </p:nvSpPr>
        <p:spPr bwMode="auto">
          <a:xfrm>
            <a:off x="7123176" y="3429000"/>
            <a:ext cx="4443984" cy="347472"/>
          </a:xfrm>
          <a:prstGeom prst="rect">
            <a:avLst/>
          </a:prstGeom>
          <a:noFill/>
        </p:spPr>
        <p:txBody>
          <a:bodyPr wrap="square" lIns="18288" tIns="18288" rIns="18288" bIns="18288">
            <a:spAutoFit/>
          </a:bodyPr>
          <a:lstStyle/>
          <a:p>
            <a:pPr>
              <a:spcBef>
                <a:spcPts val="0"/>
              </a:spcBef>
              <a:spcAft>
                <a:spcPts val="0"/>
              </a:spcAft>
              <a:defRPr sz="1500" b="0">
                <a:solidFill>
                  <a:srgbClr val="53666D"/>
                </a:solidFill>
                <a:latin typeface="Aptos"/>
              </a:defRPr>
            </a:pPr>
            <a:r>
              <a:rPr/>
              <a:t>selon les données et leur durée de vie.</a:t>
            </a:r>
            <a:endParaRPr/>
          </a:p>
        </p:txBody>
      </p:sp>
      <p:sp>
        <p:nvSpPr>
          <p:cNvPr id="1967620842" name="Rounded Rectangle 32"/>
          <p:cNvSpPr/>
          <p:nvPr/>
        </p:nvSpPr>
        <p:spPr bwMode="auto">
          <a:xfrm>
            <a:off x="822960" y="4169664"/>
            <a:ext cx="5312664" cy="960120"/>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9364264" name="TextBox 33"/>
          <p:cNvSpPr txBox="1"/>
          <p:nvPr/>
        </p:nvSpPr>
        <p:spPr bwMode="auto">
          <a:xfrm>
            <a:off x="987552" y="4416552"/>
            <a:ext cx="411480" cy="320040"/>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a:t>03</a:t>
            </a:r>
            <a:endParaRPr/>
          </a:p>
        </p:txBody>
      </p:sp>
      <p:sp>
        <p:nvSpPr>
          <p:cNvPr id="1340006202" name="TextBox 34"/>
          <p:cNvSpPr txBox="1"/>
          <p:nvPr/>
        </p:nvSpPr>
        <p:spPr bwMode="auto">
          <a:xfrm>
            <a:off x="1545336" y="4306824"/>
            <a:ext cx="4425696" cy="29260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Comprendre Room</a:t>
            </a:r>
            <a:endParaRPr/>
          </a:p>
        </p:txBody>
      </p:sp>
      <p:sp>
        <p:nvSpPr>
          <p:cNvPr id="532168850" name="TextBox 35"/>
          <p:cNvSpPr txBox="1"/>
          <p:nvPr/>
        </p:nvSpPr>
        <p:spPr bwMode="auto">
          <a:xfrm>
            <a:off x="1545336" y="4645152"/>
            <a:ext cx="4443984" cy="347472"/>
          </a:xfrm>
          <a:prstGeom prst="rect">
            <a:avLst/>
          </a:prstGeom>
          <a:noFill/>
        </p:spPr>
        <p:txBody>
          <a:bodyPr wrap="square" lIns="18288" tIns="18288" rIns="18288" bIns="18288">
            <a:spAutoFit/>
          </a:bodyPr>
          <a:lstStyle/>
          <a:p>
            <a:pPr>
              <a:spcBef>
                <a:spcPts val="0"/>
              </a:spcBef>
              <a:spcAft>
                <a:spcPts val="0"/>
              </a:spcAft>
              <a:defRPr sz="1500" b="0">
                <a:solidFill>
                  <a:srgbClr val="53666D"/>
                </a:solidFill>
                <a:latin typeface="Aptos"/>
              </a:defRPr>
            </a:pPr>
            <a:r>
              <a:rPr/>
              <a:t>organise l’accès ; SQLite stocke.</a:t>
            </a:r>
            <a:endParaRPr/>
          </a:p>
        </p:txBody>
      </p:sp>
      <p:sp>
        <p:nvSpPr>
          <p:cNvPr id="930821132" name="Rounded Rectangle 36"/>
          <p:cNvSpPr/>
          <p:nvPr/>
        </p:nvSpPr>
        <p:spPr bwMode="auto">
          <a:xfrm>
            <a:off x="6400800" y="4169664"/>
            <a:ext cx="5312664" cy="960120"/>
          </a:xfrm>
          <a:prstGeom prst="roundRect">
            <a:avLst>
              <a:gd name="adj" fmla="val 6000"/>
            </a:avLst>
          </a:prstGeom>
          <a:solidFill>
            <a:srgbClr val="FFFFFF"/>
          </a:solidFill>
          <a:ln w="12700">
            <a:solidFill>
              <a:srgbClr val="CCD8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7392652" name="TextBox 37"/>
          <p:cNvSpPr txBox="1"/>
          <p:nvPr/>
        </p:nvSpPr>
        <p:spPr bwMode="auto">
          <a:xfrm>
            <a:off x="6565392" y="4416552"/>
            <a:ext cx="411480" cy="320040"/>
          </a:xfrm>
          <a:prstGeom prst="rect">
            <a:avLst/>
          </a:prstGeom>
          <a:noFill/>
        </p:spPr>
        <p:txBody>
          <a:bodyPr wrap="square" lIns="18288" tIns="18288" rIns="18288" bIns="18288">
            <a:spAutoFit/>
          </a:bodyPr>
          <a:lstStyle/>
          <a:p>
            <a:pPr>
              <a:spcBef>
                <a:spcPts val="0"/>
              </a:spcBef>
              <a:spcAft>
                <a:spcPts val="0"/>
              </a:spcAft>
              <a:defRPr sz="1500" b="1">
                <a:solidFill>
                  <a:srgbClr val="176D70"/>
                </a:solidFill>
                <a:latin typeface="Aptos"/>
              </a:defRPr>
            </a:pPr>
            <a:r>
              <a:rPr/>
              <a:t>04</a:t>
            </a:r>
            <a:endParaRPr/>
          </a:p>
        </p:txBody>
      </p:sp>
      <p:sp>
        <p:nvSpPr>
          <p:cNvPr id="1478082426" name="TextBox 38"/>
          <p:cNvSpPr txBox="1"/>
          <p:nvPr/>
        </p:nvSpPr>
        <p:spPr bwMode="auto">
          <a:xfrm>
            <a:off x="7123176" y="4306824"/>
            <a:ext cx="4425696" cy="292608"/>
          </a:xfrm>
          <a:prstGeom prst="rect">
            <a:avLst/>
          </a:prstGeom>
          <a:noFill/>
        </p:spPr>
        <p:txBody>
          <a:bodyPr wrap="square" lIns="18288" tIns="18288" rIns="18288" bIns="18288">
            <a:spAutoFit/>
          </a:bodyPr>
          <a:lstStyle/>
          <a:p>
            <a:pPr>
              <a:spcBef>
                <a:spcPts val="0"/>
              </a:spcBef>
              <a:spcAft>
                <a:spcPts val="0"/>
              </a:spcAft>
              <a:defRPr sz="1800" b="1">
                <a:solidFill>
                  <a:srgbClr val="172A31"/>
                </a:solidFill>
                <a:latin typeface="Aptos"/>
              </a:defRPr>
            </a:pPr>
            <a:r>
              <a:rPr/>
              <a:t>Prévoir</a:t>
            </a:r>
            <a:endParaRPr/>
          </a:p>
        </p:txBody>
      </p:sp>
      <p:sp>
        <p:nvSpPr>
          <p:cNvPr id="1677935099" name="TextBox 39"/>
          <p:cNvSpPr txBox="1"/>
          <p:nvPr/>
        </p:nvSpPr>
        <p:spPr bwMode="auto">
          <a:xfrm>
            <a:off x="7123176" y="4645152"/>
            <a:ext cx="4443984" cy="347472"/>
          </a:xfrm>
          <a:prstGeom prst="rect">
            <a:avLst/>
          </a:prstGeom>
          <a:noFill/>
        </p:spPr>
        <p:txBody>
          <a:bodyPr wrap="square" lIns="18288" tIns="18288" rIns="18288" bIns="18288">
            <a:spAutoFit/>
          </a:bodyPr>
          <a:lstStyle/>
          <a:p>
            <a:pPr>
              <a:spcBef>
                <a:spcPts val="0"/>
              </a:spcBef>
              <a:spcAft>
                <a:spcPts val="0"/>
              </a:spcAft>
              <a:defRPr sz="1500" b="0">
                <a:solidFill>
                  <a:srgbClr val="53666D"/>
                </a:solidFill>
                <a:latin typeface="Aptos"/>
              </a:defRPr>
            </a:pPr>
            <a:r>
              <a:rPr/>
              <a:t>threads, transactions et migrations.</a:t>
            </a:r>
            <a:endParaRPr/>
          </a:p>
        </p:txBody>
      </p:sp>
      <p:sp>
        <p:nvSpPr>
          <p:cNvPr id="2083691180" name="TextBox 40"/>
          <p:cNvSpPr txBox="1"/>
          <p:nvPr/>
        </p:nvSpPr>
        <p:spPr bwMode="auto">
          <a:xfrm>
            <a:off x="722376" y="5897880"/>
            <a:ext cx="10872215" cy="448056"/>
          </a:xfrm>
          <a:prstGeom prst="rect">
            <a:avLst/>
          </a:prstGeom>
          <a:noFill/>
        </p:spPr>
        <p:txBody>
          <a:bodyPr wrap="square" lIns="18288" tIns="18288" rIns="18288" bIns="18288">
            <a:spAutoFit/>
          </a:bodyPr>
          <a:lstStyle/>
          <a:p>
            <a:pPr>
              <a:spcBef>
                <a:spcPts val="0"/>
              </a:spcBef>
              <a:spcAft>
                <a:spcPts val="0"/>
              </a:spcAft>
              <a:defRPr sz="1000" b="0">
                <a:solidFill>
                  <a:srgbClr val="53666D"/>
                </a:solidFill>
                <a:latin typeface="Aptos"/>
              </a:defRPr>
            </a:pPr>
            <a:r>
              <a:rPr/>
              <a:t>Références : developer.android.com/training/data-storage/room/v2 · /topic/libraries/architecture/saving-states · /topic/architecture/data-layer/offline-first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18</Slides>
  <Notes>18</Notes>
  <HiddenSlides>0</HiddenSlides>
  <MMClips>2</MMClips>
  <ScaleCrop>0</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4</cp:revision>
  <dcterms:created xsi:type="dcterms:W3CDTF">2013-01-27T09:14:16Z</dcterms:created>
  <dcterms:modified xsi:type="dcterms:W3CDTF">2026-09-27T22:05:15Z</dcterms:modified>
  <cp:category/>
</cp:coreProperties>
</file>